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35"/>
  </p:notesMasterIdLst>
  <p:sldIdLst>
    <p:sldId id="2146847304" r:id="rId2"/>
    <p:sldId id="818" r:id="rId3"/>
    <p:sldId id="813" r:id="rId4"/>
    <p:sldId id="889" r:id="rId5"/>
    <p:sldId id="397" r:id="rId6"/>
    <p:sldId id="890" r:id="rId7"/>
    <p:sldId id="2146847293" r:id="rId8"/>
    <p:sldId id="931" r:id="rId9"/>
    <p:sldId id="2146847285" r:id="rId10"/>
    <p:sldId id="2146847286" r:id="rId11"/>
    <p:sldId id="893" r:id="rId12"/>
    <p:sldId id="2146847287" r:id="rId13"/>
    <p:sldId id="892" r:id="rId14"/>
    <p:sldId id="935" r:id="rId15"/>
    <p:sldId id="895" r:id="rId16"/>
    <p:sldId id="933" r:id="rId17"/>
    <p:sldId id="2146847284" r:id="rId18"/>
    <p:sldId id="2146847297" r:id="rId19"/>
    <p:sldId id="2146847299" r:id="rId20"/>
    <p:sldId id="2146847300" r:id="rId21"/>
    <p:sldId id="2146847301" r:id="rId22"/>
    <p:sldId id="2146847302" r:id="rId23"/>
    <p:sldId id="2146847296" r:id="rId24"/>
    <p:sldId id="2146847298" r:id="rId25"/>
    <p:sldId id="2146847303" r:id="rId26"/>
    <p:sldId id="894" r:id="rId27"/>
    <p:sldId id="2146847295" r:id="rId28"/>
    <p:sldId id="2146847294" r:id="rId29"/>
    <p:sldId id="2146847290" r:id="rId30"/>
    <p:sldId id="369" r:id="rId31"/>
    <p:sldId id="2146847289" r:id="rId32"/>
    <p:sldId id="781" r:id="rId33"/>
    <p:sldId id="302" r:id="rId34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FFCC"/>
    <a:srgbClr val="005828"/>
    <a:srgbClr val="009900"/>
    <a:srgbClr val="339933"/>
    <a:srgbClr val="0070C0"/>
    <a:srgbClr val="0083E7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3A0515-11DF-4497-8075-FD71DFAD37E5}" v="1" dt="2025-09-30T12:21:31.21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42" d="100"/>
          <a:sy n="42" d="100"/>
        </p:scale>
        <p:origin x="31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223A0515-11DF-4497-8075-FD71DFAD37E5}"/>
    <pc:docChg chg="custSel modSld">
      <pc:chgData name="Alexandre Zanetti de Almeida" userId="129d4ce6-e715-4d33-b4c4-312f1656225b" providerId="ADAL" clId="{223A0515-11DF-4497-8075-FD71DFAD37E5}" dt="2025-09-30T12:21:31.264" v="1" actId="27636"/>
      <pc:docMkLst>
        <pc:docMk/>
      </pc:docMkLst>
      <pc:sldChg chg="modSp mod">
        <pc:chgData name="Alexandre Zanetti de Almeida" userId="129d4ce6-e715-4d33-b4c4-312f1656225b" providerId="ADAL" clId="{223A0515-11DF-4497-8075-FD71DFAD37E5}" dt="2025-09-30T12:21:31.264" v="1" actId="27636"/>
        <pc:sldMkLst>
          <pc:docMk/>
          <pc:sldMk cId="2127059050" sldId="818"/>
        </pc:sldMkLst>
        <pc:spChg chg="mod">
          <ac:chgData name="Alexandre Zanetti de Almeida" userId="129d4ce6-e715-4d33-b4c4-312f1656225b" providerId="ADAL" clId="{223A0515-11DF-4497-8075-FD71DFAD37E5}" dt="2025-09-30T12:21:31.264" v="1" actId="27636"/>
          <ac:spMkLst>
            <pc:docMk/>
            <pc:sldMk cId="2127059050" sldId="818"/>
            <ac:spMk id="8" creationId="{6A95EA71-0F05-36D8-1053-4A8C311250F0}"/>
          </ac:spMkLst>
        </pc:spChg>
      </pc:sldChg>
    </pc:docChg>
  </pc:docChgLst>
  <pc:docChgLst>
    <pc:chgData name="Alexandre Zanetti de Almeida" userId="129d4ce6-e715-4d33-b4c4-312f1656225b" providerId="ADAL" clId="{02F6E2BF-BCB0-4734-BC67-EEF6B95AA8EE}"/>
    <pc:docChg chg="custSel addSld modSld sldOrd">
      <pc:chgData name="Alexandre Zanetti de Almeida" userId="129d4ce6-e715-4d33-b4c4-312f1656225b" providerId="ADAL" clId="{02F6E2BF-BCB0-4734-BC67-EEF6B95AA8EE}" dt="2025-05-15T14:03:00.584" v="60" actId="1076"/>
      <pc:docMkLst>
        <pc:docMk/>
      </pc:docMkLst>
      <pc:sldChg chg="addSp delSp modSp mod delAnim">
        <pc:chgData name="Alexandre Zanetti de Almeida" userId="129d4ce6-e715-4d33-b4c4-312f1656225b" providerId="ADAL" clId="{02F6E2BF-BCB0-4734-BC67-EEF6B95AA8EE}" dt="2025-05-15T13:06:04.753" v="13" actId="207"/>
        <pc:sldMkLst>
          <pc:docMk/>
          <pc:sldMk cId="0" sldId="369"/>
        </pc:sldMkLst>
      </pc:sldChg>
      <pc:sldChg chg="addSp delSp modSp mod delAnim">
        <pc:chgData name="Alexandre Zanetti de Almeida" userId="129d4ce6-e715-4d33-b4c4-312f1656225b" providerId="ADAL" clId="{02F6E2BF-BCB0-4734-BC67-EEF6B95AA8EE}" dt="2025-05-15T13:05:52.553" v="10" actId="478"/>
        <pc:sldMkLst>
          <pc:docMk/>
          <pc:sldMk cId="2127059050" sldId="818"/>
        </pc:sldMkLst>
      </pc:sldChg>
      <pc:sldChg chg="addSp modSp mod">
        <pc:chgData name="Alexandre Zanetti de Almeida" userId="129d4ce6-e715-4d33-b4c4-312f1656225b" providerId="ADAL" clId="{02F6E2BF-BCB0-4734-BC67-EEF6B95AA8EE}" dt="2025-05-15T13:29:15.897" v="34" actId="14100"/>
        <pc:sldMkLst>
          <pc:docMk/>
          <pc:sldMk cId="3456770609" sldId="895"/>
        </pc:sldMkLst>
      </pc:sldChg>
      <pc:sldChg chg="addSp modSp mod">
        <pc:chgData name="Alexandre Zanetti de Almeida" userId="129d4ce6-e715-4d33-b4c4-312f1656225b" providerId="ADAL" clId="{02F6E2BF-BCB0-4734-BC67-EEF6B95AA8EE}" dt="2025-05-15T13:36:14.534" v="51" actId="1076"/>
        <pc:sldMkLst>
          <pc:docMk/>
          <pc:sldMk cId="136574229" sldId="2146847284"/>
        </pc:sldMkLst>
      </pc:sldChg>
      <pc:sldChg chg="addSp delSp modSp new mod ord">
        <pc:chgData name="Alexandre Zanetti de Almeida" userId="129d4ce6-e715-4d33-b4c4-312f1656225b" providerId="ADAL" clId="{02F6E2BF-BCB0-4734-BC67-EEF6B95AA8EE}" dt="2025-05-15T14:03:00.584" v="60" actId="1076"/>
        <pc:sldMkLst>
          <pc:docMk/>
          <pc:sldMk cId="1635449942" sldId="2146847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359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1023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736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118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3336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253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0937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2489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7062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3259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9508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66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366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342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6689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31521" y="4560570"/>
            <a:ext cx="5850467" cy="4318874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copy 11">
    <p:bg>
      <p:bgPr>
        <a:gradFill flip="none" rotWithShape="1">
          <a:gsLst>
            <a:gs pos="0">
              <a:srgbClr val="04B6EB"/>
            </a:gs>
            <a:gs pos="100000">
              <a:srgbClr val="007CA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sldNum" sz="quarter" idx="2"/>
          </p:nvPr>
        </p:nvSpPr>
        <p:spPr>
          <a:xfrm>
            <a:off x="17475200" y="12219305"/>
            <a:ext cx="5689601" cy="256541"/>
          </a:xfrm>
          <a:prstGeom prst="rect">
            <a:avLst/>
          </a:prstGeom>
        </p:spPr>
        <p:txBody>
          <a:bodyPr wrap="square" lIns="45719" tIns="45719" rIns="45719" bIns="45719" anchor="ctr"/>
          <a:lstStyle>
            <a:lvl1pPr algn="r">
              <a:defRPr sz="11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09C37EC-AA62-8452-D0C0-2A63B9741E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635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636" y="1743077"/>
            <a:ext cx="21987933" cy="996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3552827"/>
            <a:ext cx="10164235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9436" y="3552827"/>
            <a:ext cx="10164232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928368" y="13081000"/>
            <a:ext cx="514564" cy="471924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D59C8-F376-4949-A8FF-DD506705902D}" type="slidenum">
              <a:rPr lang="en-US" altLang="pt-BR"/>
              <a:pPr>
                <a:defRPr/>
              </a:pPr>
              <a:t>‹#›</a:t>
            </a:fld>
            <a:endParaRPr lang="en-US" alt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251200" y="13001626"/>
            <a:ext cx="10773835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Confidencial | Sem valor comercial | 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xfrm>
            <a:off x="14549968" y="13001626"/>
            <a:ext cx="4550832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D64F5-C7CB-7046-A916-03AE29CB2FD6}" type="datetime5">
              <a:rPr lang="en-US" altLang="pt-BR"/>
              <a:pPr>
                <a:defRPr/>
              </a:pPr>
              <a:t>30-Sep-25</a:t>
            </a:fld>
            <a:endParaRPr lang="en-US" altLang="pt-BR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3686DA6-0523-E54E-A093-77FAACDDA50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23531937" y="13021826"/>
            <a:ext cx="514564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/>
            </a:pPr>
            <a:fld id="{013D59C8-F376-4949-A8FF-DD506705902D}" type="slidenum">
              <a:rPr lang="en-US" altLang="pt-BR" smtClean="0"/>
              <a:pPr>
                <a:defRPr/>
              </a:pPr>
              <a:t>‹#›</a:t>
            </a:fld>
            <a:endParaRPr lang="en-US" altLang="pt-BR" dirty="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E6D3BB2-F44C-BB77-5A19-1E438A7E4A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7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4" r:id="rId13"/>
    <p:sldLayoutId id="2147483735" r:id="rId14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hyperlink" Target="https://www.ibm.com/cloud/learn/site-reliability-engineering#toc-sre-and-de-Ntrtc6aj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ibm.com/community/user/integration/blogs/rob-convery1/2022/05/11/ibm-app-connect-operators-part-1-what-is-an-operat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community.ibm.com/community/user/integration/blogs/rob-convery1/2022/05/11/ibm-app-connect-operators-part-1-what-is-an-opera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mmunity.ibm.com/community/user/integration/blogs/rob-convery1/2022/05/11/ibm-app-connect-operators-part-1-what-is-an-opera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ibm.com/community/user/integration/blogs/rob-convery1/2022/05/11/ibm-app-connect-operators-part-1-what-is-an-opera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ocs/en/app-connect/containers_cd?topic=resources-integration-runtime-reference" TargetMode="External"/><Relationship Id="rId2" Type="http://schemas.openxmlformats.org/officeDocument/2006/relationships/hyperlink" Target="https://www.ibm.com/docs/en/app-connect/containers_cd?topic=resources-integration-server-refere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shboardname-dash.namespacename:3443/path?token" TargetMode="External"/><Relationship Id="rId4" Type="http://schemas.openxmlformats.org/officeDocument/2006/relationships/hyperlink" Target="https://www.ibm.com/docs/en/app-connect/containers_cd?topic=runtimes-barauth-typ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ocs/en/app-connect/containers_cd?topic=resources-integration-runtime-reference" TargetMode="External"/><Relationship Id="rId7" Type="http://schemas.openxmlformats.org/officeDocument/2006/relationships/image" Target="../media/image25.png"/><Relationship Id="rId2" Type="http://schemas.openxmlformats.org/officeDocument/2006/relationships/hyperlink" Target="https://www.ibm.com/docs/en/app-connect/containers_cd?topic=resources-integration-server-refer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www.ibm.com/docs/en/app-connect/containers_cd?topic=runtimes-barauth-type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www.ibm.com/docs/en/app-connect/containers_cd?topic=resources-integration-runtime-reference" TargetMode="External"/><Relationship Id="rId7" Type="http://schemas.openxmlformats.org/officeDocument/2006/relationships/image" Target="../media/image28.png"/><Relationship Id="rId2" Type="http://schemas.openxmlformats.org/officeDocument/2006/relationships/hyperlink" Target="https://www.ibm.com/docs/en/app-connect/containers_cd?topic=resources-integration-server-refer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hyperlink" Target="https://www.ibm.com/docs/en/app-connect/containers_cd?topic=runtimes-barauth-typ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app-connect-enterprise-data-collector-scrip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ibm.com/support/pages/system/files/inline-files/$FILE/aceDataCollector_2.sh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collecting-service-level-trace-ace-integration-serv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ibm.com/integration/docs/app-connect-enterprise/" TargetMode="External"/><Relationship Id="rId3" Type="http://schemas.openxmlformats.org/officeDocument/2006/relationships/hyperlink" Target="https://www.ibm.com/docs/en/app-connect/12.0" TargetMode="External"/><Relationship Id="rId7" Type="http://schemas.openxmlformats.org/officeDocument/2006/relationships/hyperlink" Target="https://www.ibm.com/docs/en/app-connect/12.0?topic=policies-overview" TargetMode="External"/><Relationship Id="rId2" Type="http://schemas.openxmlformats.org/officeDocument/2006/relationships/hyperlink" Target="https://www.ibm.com/support/knowledgecenter/en/SSTTDS_12.0.0/com.ibm.ace.home.doc/help_home.htm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ibm.com/support/knowledgecenter/SSTTDS_11.0.0/com.ibm.etools.mft.doc/py00106_.html" TargetMode="External"/><Relationship Id="rId5" Type="http://schemas.openxmlformats.org/officeDocument/2006/relationships/hyperlink" Target="https://www.ibm.com/docs/en/app-connect/12.0?topic=administration-app-connect-enterprise-commands" TargetMode="External"/><Relationship Id="rId4" Type="http://schemas.openxmlformats.org/officeDocument/2006/relationships/hyperlink" Target="https://www.ibm.com/support/knowledgecenter/en/SSTTDS_11.0.0/com.ibm.etools.mft.doc/an07060_.html" TargetMode="External"/><Relationship Id="rId9" Type="http://schemas.openxmlformats.org/officeDocument/2006/relationships/hyperlink" Target="https://www.ibm.com/docs/en/app-connect/12.0?topic=mrbuara-updating-https-connector-resource-manager-by-using-administration-rest-api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287E5E-F72C-FE55-46EE-86F038E14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195"/>
            <a:ext cx="24384000" cy="1042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4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Avançado - Passos do </a:t>
            </a:r>
            <a:r>
              <a:rPr lang="pt-BR" sz="9600" dirty="0" err="1">
                <a:solidFill>
                  <a:srgbClr val="FFFFFF"/>
                </a:solidFill>
              </a:rPr>
              <a:t>Ops</a:t>
            </a:r>
            <a:r>
              <a:rPr lang="pt-BR" sz="96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dirty="0">
                <a:solidFill>
                  <a:srgbClr val="FFFFFF"/>
                </a:solidFill>
              </a:rPr>
              <a:t>Setembro/2025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F378D-F7A3-A7FD-AD3E-70C194EAC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17" y="11380365"/>
            <a:ext cx="1673845" cy="1589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5176BF-027D-5731-BF32-77EA519EC6C8}"/>
              </a:ext>
            </a:extLst>
          </p:cNvPr>
          <p:cNvSpPr txBox="1"/>
          <p:nvPr/>
        </p:nvSpPr>
        <p:spPr>
          <a:xfrm>
            <a:off x="3081814" y="11132872"/>
            <a:ext cx="9110186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/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/>
              </a:solidFill>
            </a:endParaRP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55 (11) 98539-4632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  <a:effectLst/>
              </a:rPr>
              <a:t>IBM 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09"/>
            <a:ext cx="6402732" cy="5926337"/>
          </a:xfrm>
        </p:spPr>
        <p:txBody>
          <a:bodyPr anchor="b">
            <a:normAutofit/>
          </a:bodyPr>
          <a:lstStyle/>
          <a:p>
            <a:pPr algn="r"/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Revisão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Ops</a:t>
            </a:r>
            <a:r>
              <a:rPr lang="pt-BR" sz="5400" dirty="0"/>
              <a:t> (Administrador)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Dev</a:t>
            </a:r>
            <a:r>
              <a:rPr lang="pt-BR" sz="5400" dirty="0"/>
              <a:t> (Desenvolvedor de App)</a:t>
            </a:r>
          </a:p>
          <a:p>
            <a:r>
              <a:rPr lang="pt-BR" sz="5400" dirty="0"/>
              <a:t>Ambiente do cliente (Fluxos)</a:t>
            </a:r>
          </a:p>
          <a:p>
            <a:r>
              <a:rPr lang="pt-BR" sz="5400" dirty="0"/>
              <a:t>O que há de novo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Passos do Ops (</a:t>
            </a:r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Operações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2BA63A-1059-6069-CF7A-8C2CDD483E1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68172" y="10330326"/>
            <a:ext cx="9221487" cy="3304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287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4D90D1F-9003-410B-8AB6-AAC9FCACD4BE}"/>
              </a:ext>
            </a:extLst>
          </p:cNvPr>
          <p:cNvSpPr txBox="1"/>
          <p:nvPr/>
        </p:nvSpPr>
        <p:spPr>
          <a:xfrm>
            <a:off x="2057400" y="13069668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dirty="0">
                <a:hlinkClick r:id="rId2"/>
              </a:rPr>
              <a:t>https://www.ibm.com/cloud/learn/site-reliability-engineering#toc-sre-and-de-Ntrtc6aj</a:t>
            </a:r>
            <a:r>
              <a:rPr lang="pt-BR" sz="1100" dirty="0"/>
              <a:t> </a:t>
            </a:r>
          </a:p>
          <a:p>
            <a:pPr algn="l"/>
            <a:r>
              <a:rPr lang="pt-BR" sz="1100" dirty="0">
                <a:hlinkClick r:id="rId3"/>
              </a:rPr>
              <a:t>https://sre.google/</a:t>
            </a:r>
            <a:r>
              <a:rPr lang="pt-BR" sz="1100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56F3F-096A-472A-95B5-BEB64A2FA5F0}"/>
              </a:ext>
            </a:extLst>
          </p:cNvPr>
          <p:cNvSpPr txBox="1"/>
          <p:nvPr/>
        </p:nvSpPr>
        <p:spPr>
          <a:xfrm>
            <a:off x="5126200" y="3574702"/>
            <a:ext cx="139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525252"/>
                </a:solidFill>
                <a:latin typeface="IBM Plex Sans" panose="020B0503050203000203" pitchFamily="34" charset="0"/>
              </a:rPr>
              <a:t>DevOps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um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caminho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moderno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para: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Entregar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App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qualidade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 e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rápido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Automatizando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o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ciclo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vida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da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implantação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Times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Desenvolvimento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compartilhando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responsabilidades</a:t>
            </a:r>
            <a:endParaRPr lang="pt-BR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2052F-874C-4CFC-99FA-67B0D74792E8}"/>
              </a:ext>
            </a:extLst>
          </p:cNvPr>
          <p:cNvSpPr txBox="1"/>
          <p:nvPr/>
        </p:nvSpPr>
        <p:spPr>
          <a:xfrm>
            <a:off x="19257800" y="7276798"/>
            <a:ext cx="4402300" cy="1240968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pt-BR"/>
            </a:defPPr>
            <a:lvl1pPr algn="ctr"/>
          </a:lstStyle>
          <a:p>
            <a:r>
              <a:rPr lang="pt-BR" sz="4400" b="1" dirty="0">
                <a:solidFill>
                  <a:schemeClr val="bg1"/>
                </a:solidFill>
              </a:rPr>
              <a:t>Pipeline / Esteira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DB2E9FE-7FEA-4D1D-B39C-CFC867191A84}"/>
              </a:ext>
            </a:extLst>
          </p:cNvPr>
          <p:cNvSpPr/>
          <p:nvPr/>
        </p:nvSpPr>
        <p:spPr>
          <a:xfrm rot="10800000">
            <a:off x="18724251" y="3259667"/>
            <a:ext cx="580498" cy="92752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3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A9EDEB-89A6-423A-849B-579FF5B68CC2}"/>
              </a:ext>
            </a:extLst>
          </p:cNvPr>
          <p:cNvSpPr/>
          <p:nvPr/>
        </p:nvSpPr>
        <p:spPr>
          <a:xfrm>
            <a:off x="1429830" y="5641307"/>
            <a:ext cx="3447188" cy="28608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</a:t>
            </a:r>
            <a:endParaRPr lang="pt-BR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DB83D6-D74D-D4D9-693B-68F20046D6B3}"/>
              </a:ext>
            </a:extLst>
          </p:cNvPr>
          <p:cNvGrpSpPr/>
          <p:nvPr/>
        </p:nvGrpSpPr>
        <p:grpSpPr>
          <a:xfrm>
            <a:off x="2837001" y="5876400"/>
            <a:ext cx="2357110" cy="2195458"/>
            <a:chOff x="2837001" y="5876400"/>
            <a:chExt cx="2357110" cy="2195458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FC1E08-EC69-49D7-BFC8-953703F28D9A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C8BF5A4-EF18-4EA1-9FE5-DB5B6C0BE765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EE6A4B1-DE8A-4253-B1A2-0E44CE7C99F6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C93E9-3E4A-46CC-B053-317F5CF73819}"/>
              </a:ext>
            </a:extLst>
          </p:cNvPr>
          <p:cNvGrpSpPr/>
          <p:nvPr/>
        </p:nvGrpSpPr>
        <p:grpSpPr>
          <a:xfrm>
            <a:off x="1180021" y="5876396"/>
            <a:ext cx="2357110" cy="2195458"/>
            <a:chOff x="1180021" y="5876396"/>
            <a:chExt cx="2357110" cy="219545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B43A41F-FA6B-49B3-AC9D-04EC3274369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60537B7-978D-499A-8495-9C5000B24808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56528C-F30D-449A-9FEB-30571FA9FB9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FD274B0-1C7B-4C1A-877D-42DD5FC74F40}"/>
              </a:ext>
            </a:extLst>
          </p:cNvPr>
          <p:cNvSpPr txBox="1"/>
          <p:nvPr/>
        </p:nvSpPr>
        <p:spPr>
          <a:xfrm>
            <a:off x="5126200" y="7808196"/>
            <a:ext cx="13733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3200" b="1" u="sng" dirty="0">
                <a:solidFill>
                  <a:srgbClr val="323232"/>
                </a:solidFill>
                <a:latin typeface="IBM Plex Sans" panose="020B0503050203000203" pitchFamily="34" charset="0"/>
              </a:rPr>
              <a:t>Site Reliability Engineering (SRE)</a:t>
            </a:r>
          </a:p>
          <a:p>
            <a:pPr algn="just" fontAlgn="base"/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SRE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usa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conhecimentos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 times 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e 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para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automatizar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tarefas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IT, 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aceletar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entrega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dos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softwares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enquanto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minimiza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riscos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377D7E-17FB-4416-AC1B-A4E9BDB4BB91}"/>
              </a:ext>
            </a:extLst>
          </p:cNvPr>
          <p:cNvSpPr txBox="1"/>
          <p:nvPr/>
        </p:nvSpPr>
        <p:spPr>
          <a:xfrm>
            <a:off x="7741748" y="10212335"/>
            <a:ext cx="1133825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é o que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acontece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quando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pedimos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para um time de software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desenhar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um time de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” </a:t>
            </a:r>
          </a:p>
          <a:p>
            <a:pPr algn="r"/>
            <a:r>
              <a:rPr lang="pt-BR" sz="800" i="1" dirty="0">
                <a:solidFill>
                  <a:srgbClr val="525252"/>
                </a:solidFill>
                <a:latin typeface="IBM Plex Sans" panose="020B0503050203000203" pitchFamily="34" charset="0"/>
              </a:rPr>
              <a:t>Ben Treynor Sloss, VP of engineering at Google</a:t>
            </a:r>
            <a:endParaRPr lang="pt-BR" sz="8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F880-950F-4208-A7FB-3CF0DFA2ED29}"/>
              </a:ext>
            </a:extLst>
          </p:cNvPr>
          <p:cNvSpPr txBox="1"/>
          <p:nvPr/>
        </p:nvSpPr>
        <p:spPr>
          <a:xfrm>
            <a:off x="10614581" y="11883388"/>
            <a:ext cx="82449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is what happens when you ask a software engineer to design an operations team.” </a:t>
            </a:r>
          </a:p>
        </p:txBody>
      </p:sp>
      <p:sp>
        <p:nvSpPr>
          <p:cNvPr id="4" name="Double Bracket 3">
            <a:extLst>
              <a:ext uri="{FF2B5EF4-FFF2-40B4-BE49-F238E27FC236}">
                <a16:creationId xmlns:a16="http://schemas.microsoft.com/office/drawing/2014/main" id="{3C57AED9-ED25-4AAA-2622-37958224E797}"/>
              </a:ext>
            </a:extLst>
          </p:cNvPr>
          <p:cNvSpPr/>
          <p:nvPr/>
        </p:nvSpPr>
        <p:spPr>
          <a:xfrm>
            <a:off x="723900" y="1269562"/>
            <a:ext cx="23371012" cy="12084488"/>
          </a:xfrm>
          <a:prstGeom prst="bracketPair">
            <a:avLst>
              <a:gd name="adj" fmla="val 40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56C44F55-69DF-46D3-A490-B446E4253426}"/>
              </a:ext>
            </a:extLst>
          </p:cNvPr>
          <p:cNvSpPr/>
          <p:nvPr/>
        </p:nvSpPr>
        <p:spPr>
          <a:xfrm rot="20871483">
            <a:off x="907543" y="417683"/>
            <a:ext cx="3146308" cy="2080842"/>
          </a:xfrm>
          <a:prstGeom prst="foldedCorner">
            <a:avLst>
              <a:gd name="adj" fmla="val 276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 dirty="0">
              <a:solidFill>
                <a:srgbClr val="545454"/>
              </a:solidFill>
              <a:latin typeface="RedHatText"/>
            </a:endParaRP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Esteira/Pipeline,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DevOps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 SRE</a:t>
            </a:r>
          </a:p>
        </p:txBody>
      </p:sp>
    </p:spTree>
    <p:extLst>
      <p:ext uri="{BB962C8B-B14F-4D97-AF65-F5344CB8AC3E}">
        <p14:creationId xmlns:p14="http://schemas.microsoft.com/office/powerpoint/2010/main" val="31130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D4C5-67CB-5CD7-19CD-1C3E44765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/>
              <a:t>cd</a:t>
            </a:r>
            <a:r>
              <a:rPr lang="pt-BR" dirty="0"/>
              <a:t> /</a:t>
            </a:r>
            <a:r>
              <a:rPr lang="pt-BR" dirty="0" err="1"/>
              <a:t>opt</a:t>
            </a:r>
            <a:r>
              <a:rPr lang="pt-BR" dirty="0"/>
              <a:t>/IBM/ace-12.0.8.0/</a:t>
            </a:r>
          </a:p>
          <a:p>
            <a:pPr marL="0" indent="0">
              <a:buNone/>
            </a:pPr>
            <a:r>
              <a:rPr lang="pt-BR" dirty="0" err="1"/>
              <a:t>tar</a:t>
            </a:r>
            <a:r>
              <a:rPr lang="pt-BR" dirty="0"/>
              <a:t> -</a:t>
            </a:r>
            <a:r>
              <a:rPr lang="pt-BR" dirty="0" err="1"/>
              <a:t>xzvf</a:t>
            </a:r>
            <a:r>
              <a:rPr lang="pt-BR" dirty="0"/>
              <a:t> /tmp/12.0-ACE-LINUXX64-12.0.8.0.tar.gz</a:t>
            </a:r>
          </a:p>
          <a:p>
            <a:pPr marL="0" indent="0">
              <a:buNone/>
            </a:pPr>
            <a:r>
              <a:rPr lang="en-US" dirty="0"/>
              <a:t>./ace make registry global accept license silently</a:t>
            </a:r>
          </a:p>
          <a:p>
            <a:pPr marL="0" indent="0">
              <a:buNone/>
            </a:pPr>
            <a:r>
              <a:rPr lang="pt-BR" dirty="0"/>
              <a:t>. /</a:t>
            </a:r>
            <a:r>
              <a:rPr lang="pt-BR" dirty="0" err="1"/>
              <a:t>opt</a:t>
            </a:r>
            <a:r>
              <a:rPr lang="pt-BR" dirty="0"/>
              <a:t>/IBM/ace-12.0.8.0/server/bin/</a:t>
            </a:r>
            <a:r>
              <a:rPr lang="pt-BR" dirty="0" err="1"/>
              <a:t>mqsiprofile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026" name="Picture 2" descr="redhat original wordmark&quot; Icon - Download for free – Iconduck">
            <a:extLst>
              <a:ext uri="{FF2B5EF4-FFF2-40B4-BE49-F238E27FC236}">
                <a16:creationId xmlns:a16="http://schemas.microsoft.com/office/drawing/2014/main" id="{A29EF148-B2FD-7D74-0CC2-78B970643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6675" y="4195763"/>
            <a:ext cx="1504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EF8E54B-04D2-D47E-DC1B-6B03C12CE38A}"/>
              </a:ext>
            </a:extLst>
          </p:cNvPr>
          <p:cNvSpPr/>
          <p:nvPr/>
        </p:nvSpPr>
        <p:spPr>
          <a:xfrm>
            <a:off x="17339222" y="3906060"/>
            <a:ext cx="1514475" cy="1514475"/>
          </a:xfrm>
          <a:prstGeom prst="ellipse">
            <a:avLst/>
          </a:prstGeom>
          <a:blipFill rotWithShape="1">
            <a:blip r:embed="rId4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3FCD4B-DA16-940E-B37A-D068E2F4B5B7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574F606-FAB3-5C80-5487-EF325C0D7EEC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D27D34B-699B-5CC7-49BA-62632DB2BC74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CEA9BE-033B-38DE-AE61-D3634C9D1D63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947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Console</a:t>
            </a:r>
          </a:p>
        </p:txBody>
      </p:sp>
      <p:pic>
        <p:nvPicPr>
          <p:cNvPr id="7" name="Picture 6" descr="A computer screen shot of a building&#10;&#10;Description automatically generated">
            <a:extLst>
              <a:ext uri="{FF2B5EF4-FFF2-40B4-BE49-F238E27FC236}">
                <a16:creationId xmlns:a16="http://schemas.microsoft.com/office/drawing/2014/main" id="{F24E3D6C-E89C-A03D-D72E-C6D0FA9665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97"/>
          <a:stretch/>
        </p:blipFill>
        <p:spPr>
          <a:xfrm>
            <a:off x="788894" y="2440076"/>
            <a:ext cx="20215339" cy="371307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A2BEFF-3C89-FBE9-7785-76C691C9611E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DCA846-ADE4-303D-AE91-465D2F6B67E3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4D91E92-FF92-74A3-961D-EE6B87702519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80E70F-2318-9FE4-BD43-46A9DBFBA83B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0495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</a:t>
            </a:r>
            <a:r>
              <a:rPr lang="pt-BR" dirty="0" err="1"/>
              <a:t>Integration</a:t>
            </a:r>
            <a:r>
              <a:rPr lang="pt-BR" dirty="0"/>
              <a:t> Node (IN)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0870BA-9A8C-447F-785F-810D27358E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45533" b="12128"/>
          <a:stretch/>
        </p:blipFill>
        <p:spPr>
          <a:xfrm>
            <a:off x="788893" y="8172605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DFB455B-3928-0D08-3997-432DEF232463}"/>
              </a:ext>
            </a:extLst>
          </p:cNvPr>
          <p:cNvSpPr txBox="1"/>
          <p:nvPr/>
        </p:nvSpPr>
        <p:spPr>
          <a:xfrm>
            <a:off x="788893" y="9186500"/>
            <a:ext cx="19518405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 err="1"/>
              <a:t>mqsicreatebroker</a:t>
            </a:r>
            <a:r>
              <a:rPr lang="en-US" sz="3600" dirty="0"/>
              <a:t> ACE-WORKSHOP-IN</a:t>
            </a:r>
          </a:p>
          <a:p>
            <a:pPr algn="just"/>
            <a:r>
              <a:rPr lang="en-US" sz="3600" dirty="0" err="1"/>
              <a:t>mqsistart</a:t>
            </a:r>
            <a:r>
              <a:rPr lang="en-US" sz="3600" dirty="0"/>
              <a:t> ACE-WORKSHOP-IN</a:t>
            </a:r>
          </a:p>
          <a:p>
            <a:pPr algn="just"/>
            <a:r>
              <a:rPr lang="en-US" sz="3600" dirty="0" err="1"/>
              <a:t>mqsilist</a:t>
            </a:r>
            <a:endParaRPr lang="en-US" sz="3600" dirty="0"/>
          </a:p>
        </p:txBody>
      </p:sp>
      <p:pic>
        <p:nvPicPr>
          <p:cNvPr id="22" name="Picture 21" descr="A screen shot of a computer&#10;&#10;Description automatically generated">
            <a:extLst>
              <a:ext uri="{FF2B5EF4-FFF2-40B4-BE49-F238E27FC236}">
                <a16:creationId xmlns:a16="http://schemas.microsoft.com/office/drawing/2014/main" id="{D5CC826A-DBC7-7D59-DEE3-1164FACC82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02"/>
          <a:stretch/>
        </p:blipFill>
        <p:spPr>
          <a:xfrm>
            <a:off x="788893" y="2440075"/>
            <a:ext cx="22203039" cy="53551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2A7A1F-951A-63CB-A81A-83CA1384B1EF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7BDDAD-581D-576F-A394-93B9C511CC6B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7D554F-8883-2310-2B3E-A4C83072D9A6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056E48-F2FE-F26F-A936-3D74D69E5B32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682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D08658-AFC9-B42F-E076-BC073DA51C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3952" b="53710"/>
          <a:stretch/>
        </p:blipFill>
        <p:spPr>
          <a:xfrm>
            <a:off x="788892" y="8162757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</a:t>
            </a:r>
            <a:r>
              <a:rPr lang="pt-BR" dirty="0" err="1"/>
              <a:t>Integration</a:t>
            </a:r>
            <a:r>
              <a:rPr lang="pt-BR" dirty="0"/>
              <a:t> Server (IS) em um 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FB455B-3928-0D08-3997-432DEF232463}"/>
              </a:ext>
            </a:extLst>
          </p:cNvPr>
          <p:cNvSpPr txBox="1"/>
          <p:nvPr/>
        </p:nvSpPr>
        <p:spPr>
          <a:xfrm>
            <a:off x="788893" y="9186500"/>
            <a:ext cx="19518405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 err="1"/>
              <a:t>mqsicreateexecutiongroup</a:t>
            </a:r>
            <a:r>
              <a:rPr lang="en-US" sz="3600" dirty="0"/>
              <a:t> ACE-WORKSHOP-IN -e ACE-WORKSHOP-IS</a:t>
            </a:r>
          </a:p>
          <a:p>
            <a:pPr algn="just"/>
            <a:r>
              <a:rPr lang="en-US" sz="3600" dirty="0" err="1"/>
              <a:t>mqsilist</a:t>
            </a:r>
            <a:r>
              <a:rPr lang="en-US" sz="3600" dirty="0"/>
              <a:t> ACE-WORKSHOP-IN</a:t>
            </a:r>
          </a:p>
        </p:txBody>
      </p:sp>
      <p:pic>
        <p:nvPicPr>
          <p:cNvPr id="22" name="Picture 21" descr="A screen shot of a computer&#10;&#10;Description automatically generated">
            <a:extLst>
              <a:ext uri="{FF2B5EF4-FFF2-40B4-BE49-F238E27FC236}">
                <a16:creationId xmlns:a16="http://schemas.microsoft.com/office/drawing/2014/main" id="{D5CC826A-DBC7-7D59-DEE3-1164FACC82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02"/>
          <a:stretch/>
        </p:blipFill>
        <p:spPr>
          <a:xfrm>
            <a:off x="788893" y="2440075"/>
            <a:ext cx="22203039" cy="53551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2A7A1F-951A-63CB-A81A-83CA1384B1EF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7BDDAD-581D-576F-A394-93B9C511CC6B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7D554F-8883-2310-2B3E-A4C83072D9A6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056E48-F2FE-F26F-A936-3D74D69E5B32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BE5D72C-B50D-0724-B86F-D198D20F24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45533" b="12128"/>
          <a:stretch/>
        </p:blipFill>
        <p:spPr>
          <a:xfrm>
            <a:off x="9612853" y="8172605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137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349A2F3-28C2-8322-4E56-2365C432AF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85"/>
          <a:stretch/>
        </p:blipFill>
        <p:spPr>
          <a:xfrm>
            <a:off x="788891" y="2440075"/>
            <a:ext cx="22203039" cy="3915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D08658-AFC9-B42F-E076-BC073DA51C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788891" y="731792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</a:t>
            </a:r>
            <a:r>
              <a:rPr lang="pt-BR" dirty="0" err="1"/>
              <a:t>Integration</a:t>
            </a:r>
            <a:r>
              <a:rPr lang="pt-BR" dirty="0"/>
              <a:t> Server (IS) separado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FB455B-3928-0D08-3997-432DEF232463}"/>
              </a:ext>
            </a:extLst>
          </p:cNvPr>
          <p:cNvSpPr txBox="1"/>
          <p:nvPr/>
        </p:nvSpPr>
        <p:spPr>
          <a:xfrm>
            <a:off x="788892" y="8341664"/>
            <a:ext cx="19518405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 err="1"/>
              <a:t>mqsicreateworkdir</a:t>
            </a:r>
            <a:r>
              <a:rPr lang="en-US" sz="3600" dirty="0"/>
              <a:t> </a:t>
            </a:r>
            <a:r>
              <a:rPr lang="nn-NO" sz="3600" dirty="0"/>
              <a:t>C:\ProgramData\IBM\MQSI\servers</a:t>
            </a:r>
            <a:r>
              <a:rPr lang="en-US" sz="3600" dirty="0"/>
              <a:t>\ACE-WORKSHOP-IS-Sem-IN</a:t>
            </a:r>
          </a:p>
          <a:p>
            <a:pPr algn="just"/>
            <a:r>
              <a:rPr lang="en-US" sz="3600" dirty="0" err="1"/>
              <a:t>IntegrationServer</a:t>
            </a:r>
            <a:r>
              <a:rPr lang="en-US" sz="3600" dirty="0"/>
              <a:t> --work-</a:t>
            </a:r>
            <a:r>
              <a:rPr lang="en-US" sz="3600" dirty="0" err="1"/>
              <a:t>dir</a:t>
            </a:r>
            <a:r>
              <a:rPr lang="en-US" sz="3600" dirty="0"/>
              <a:t> </a:t>
            </a:r>
            <a:r>
              <a:rPr lang="nn-NO" sz="3600" dirty="0"/>
              <a:t>C:\ProgramData\IBM\MQSI\servers</a:t>
            </a:r>
            <a:r>
              <a:rPr lang="en-US" sz="3600" dirty="0"/>
              <a:t>\ACE-WORKSHOP-IS-Sem-IN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2A7A1F-951A-63CB-A81A-83CA1384B1EF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7BDDAD-581D-576F-A394-93B9C511CC6B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7D554F-8883-2310-2B3E-A4C83072D9A6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056E48-F2FE-F26F-A936-3D74D69E5B32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936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</a:t>
            </a:r>
            <a:r>
              <a:rPr lang="pt-BR" dirty="0" err="1"/>
              <a:t>WebConsole</a:t>
            </a:r>
            <a:endParaRPr lang="pt-BR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1D1B84F-5708-2A16-3AE9-07150DB35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2440072"/>
            <a:ext cx="20273917" cy="108279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88FA72-4AE8-20DA-1775-CC2585B31F79}"/>
              </a:ext>
            </a:extLst>
          </p:cNvPr>
          <p:cNvSpPr/>
          <p:nvPr/>
        </p:nvSpPr>
        <p:spPr>
          <a:xfrm>
            <a:off x="6947646" y="325020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CAA265-ABE7-5B72-94FD-0046C9025E3D}"/>
              </a:ext>
            </a:extLst>
          </p:cNvPr>
          <p:cNvSpPr/>
          <p:nvPr/>
        </p:nvSpPr>
        <p:spPr>
          <a:xfrm>
            <a:off x="3594846" y="420270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B1E1BE-7C39-8218-1B59-164BA2188A6C}"/>
              </a:ext>
            </a:extLst>
          </p:cNvPr>
          <p:cNvSpPr/>
          <p:nvPr/>
        </p:nvSpPr>
        <p:spPr>
          <a:xfrm>
            <a:off x="2356596" y="6065930"/>
            <a:ext cx="4349004" cy="639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62A73B-6160-54C4-551B-48E03D632EE3}"/>
              </a:ext>
            </a:extLst>
          </p:cNvPr>
          <p:cNvSpPr/>
          <p:nvPr/>
        </p:nvSpPr>
        <p:spPr>
          <a:xfrm>
            <a:off x="2813796" y="9563100"/>
            <a:ext cx="2672604" cy="1962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F0AB5F-BD3D-88CA-D2CB-6B036DB70B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2454219" y="9560998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A74BB8-8F6C-FCA4-7E11-9948ABE84E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12454220" y="585395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872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609AEB47-14C6-AF33-A256-B920BFB7E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2440072"/>
            <a:ext cx="20215348" cy="107966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</a:t>
            </a:r>
            <a:r>
              <a:rPr lang="pt-BR" dirty="0" err="1"/>
              <a:t>WebConsole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8FA72-4AE8-20DA-1775-CC2585B31F79}"/>
              </a:ext>
            </a:extLst>
          </p:cNvPr>
          <p:cNvSpPr/>
          <p:nvPr/>
        </p:nvSpPr>
        <p:spPr>
          <a:xfrm>
            <a:off x="5369298" y="6858000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CAA265-ABE7-5B72-94FD-0046C9025E3D}"/>
              </a:ext>
            </a:extLst>
          </p:cNvPr>
          <p:cNvSpPr/>
          <p:nvPr/>
        </p:nvSpPr>
        <p:spPr>
          <a:xfrm>
            <a:off x="9341189" y="3075079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62A73B-6160-54C4-551B-48E03D632EE3}"/>
              </a:ext>
            </a:extLst>
          </p:cNvPr>
          <p:cNvSpPr/>
          <p:nvPr/>
        </p:nvSpPr>
        <p:spPr>
          <a:xfrm>
            <a:off x="5369298" y="8608413"/>
            <a:ext cx="6129282" cy="9525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F0AB5F-BD3D-88CA-D2CB-6B036DB70B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2192000" y="855695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1938C9-3C77-E927-F98D-3A4686A398B8}"/>
              </a:ext>
            </a:extLst>
          </p:cNvPr>
          <p:cNvSpPr/>
          <p:nvPr/>
        </p:nvSpPr>
        <p:spPr>
          <a:xfrm>
            <a:off x="9081246" y="5211036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23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YAML Configurações IN e IS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42BB3A0-68D4-3A5E-CC90-0CF9ED811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2440074"/>
            <a:ext cx="20273917" cy="108279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2E7CDA-9140-29CE-92B8-A29D3002F08E}"/>
              </a:ext>
            </a:extLst>
          </p:cNvPr>
          <p:cNvSpPr/>
          <p:nvPr/>
        </p:nvSpPr>
        <p:spPr>
          <a:xfrm>
            <a:off x="1327896" y="26215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497E1-AD01-E778-9A1C-5173F65E5AB6}"/>
              </a:ext>
            </a:extLst>
          </p:cNvPr>
          <p:cNvSpPr/>
          <p:nvPr/>
        </p:nvSpPr>
        <p:spPr>
          <a:xfrm>
            <a:off x="11367247" y="26215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00480E-80D9-3372-40D4-A475E0F65B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1882720" y="12521677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F40CFE-21B5-5942-90AD-0F63BE4958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1481420" y="12521677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920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21A39D7-168F-B4FD-9A5D-676C614C4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2440073"/>
            <a:ext cx="20273917" cy="10827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YAML Configurações IN e 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2E7CDA-9140-29CE-92B8-A29D3002F08E}"/>
              </a:ext>
            </a:extLst>
          </p:cNvPr>
          <p:cNvSpPr/>
          <p:nvPr/>
        </p:nvSpPr>
        <p:spPr>
          <a:xfrm>
            <a:off x="1327896" y="26215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497E1-AD01-E778-9A1C-5173F65E5AB6}"/>
              </a:ext>
            </a:extLst>
          </p:cNvPr>
          <p:cNvSpPr/>
          <p:nvPr/>
        </p:nvSpPr>
        <p:spPr>
          <a:xfrm>
            <a:off x="11367247" y="26215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06FE1-7DE6-12C5-8E04-CD190DEA905A}"/>
              </a:ext>
            </a:extLst>
          </p:cNvPr>
          <p:cNvSpPr/>
          <p:nvPr/>
        </p:nvSpPr>
        <p:spPr>
          <a:xfrm>
            <a:off x="15748747" y="86032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1A65C-3769-8B8E-C82F-C02327E4233A}"/>
              </a:ext>
            </a:extLst>
          </p:cNvPr>
          <p:cNvSpPr/>
          <p:nvPr/>
        </p:nvSpPr>
        <p:spPr>
          <a:xfrm>
            <a:off x="11976847" y="9517653"/>
            <a:ext cx="3110754" cy="35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11F23-0647-C0FC-F2F0-62320A533DC9}"/>
              </a:ext>
            </a:extLst>
          </p:cNvPr>
          <p:cNvSpPr txBox="1"/>
          <p:nvPr/>
        </p:nvSpPr>
        <p:spPr>
          <a:xfrm>
            <a:off x="16535400" y="3142977"/>
            <a:ext cx="5943600" cy="4708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/>
              <a:t>Configurações do IN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dirty="0"/>
              <a:t>Debug </a:t>
            </a:r>
            <a:r>
              <a:rPr lang="pt-BR" dirty="0" err="1"/>
              <a:t>Port</a:t>
            </a:r>
            <a:endParaRPr lang="pt-BR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dirty="0"/>
              <a:t>JVM </a:t>
            </a:r>
            <a:r>
              <a:rPr lang="pt-BR" dirty="0" err="1"/>
              <a:t>Size</a:t>
            </a:r>
            <a:endParaRPr lang="pt-BR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dirty="0"/>
              <a:t>HTTP </a:t>
            </a:r>
            <a:r>
              <a:rPr lang="pt-BR" dirty="0" err="1"/>
              <a:t>Port</a:t>
            </a:r>
            <a:endParaRPr lang="pt-BR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dirty="0" err="1"/>
              <a:t>Listener</a:t>
            </a:r>
            <a:endParaRPr lang="pt-BR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dirty="0" err="1"/>
              <a:t>Etc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054E93-4662-E7C6-32CF-E0A0470A33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6499414" y="12445477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7805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8C9E97EE-44C1-CCC3-5639-C8B4B614B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2440070"/>
            <a:ext cx="20273918" cy="10827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REST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293F70-8662-2028-22B1-1F53589C7A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2568520" y="470403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ECB31B-6162-896C-F14F-E79643A707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12568520" y="2241175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29A545-B6B8-75E0-B866-2F9C1F0AAB2A}"/>
              </a:ext>
            </a:extLst>
          </p:cNvPr>
          <p:cNvSpPr txBox="1"/>
          <p:nvPr/>
        </p:nvSpPr>
        <p:spPr>
          <a:xfrm>
            <a:off x="13144500" y="3924944"/>
            <a:ext cx="758952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curl -X GET -k https://ibm-pe08h4gg:4414/apiv2/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1EE43-9632-58CE-F2E9-D8BD05F5AA92}"/>
              </a:ext>
            </a:extLst>
          </p:cNvPr>
          <p:cNvSpPr txBox="1"/>
          <p:nvPr/>
        </p:nvSpPr>
        <p:spPr>
          <a:xfrm>
            <a:off x="10607041" y="12611145"/>
            <a:ext cx="1012697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curl -X GET -k https://ibm-pe08h4gg:4414/apiv2/servers/ZZZ_IS_V13</a:t>
            </a:r>
          </a:p>
        </p:txBody>
      </p:sp>
    </p:spTree>
    <p:extLst>
      <p:ext uri="{BB962C8B-B14F-4D97-AF65-F5344CB8AC3E}">
        <p14:creationId xmlns:p14="http://schemas.microsoft.com/office/powerpoint/2010/main" val="3456770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IN e IS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D36163DD-362A-0055-4E18-380C538B0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6611354"/>
            <a:ext cx="20273917" cy="688476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BE37868-E5DB-4B6C-C32C-870AD6468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62634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0399AF4-0E7F-3189-A525-12BA1B8A4788}"/>
              </a:ext>
            </a:extLst>
          </p:cNvPr>
          <p:cNvSpPr/>
          <p:nvPr/>
        </p:nvSpPr>
        <p:spPr>
          <a:xfrm>
            <a:off x="788893" y="5067300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8CF57-39CE-CC9A-18C7-E4001583C0B3}"/>
              </a:ext>
            </a:extLst>
          </p:cNvPr>
          <p:cNvSpPr/>
          <p:nvPr/>
        </p:nvSpPr>
        <p:spPr>
          <a:xfrm>
            <a:off x="4857750" y="5067300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7DC1DB-912A-11A1-4B86-31EB29790688}"/>
              </a:ext>
            </a:extLst>
          </p:cNvPr>
          <p:cNvSpPr/>
          <p:nvPr/>
        </p:nvSpPr>
        <p:spPr>
          <a:xfrm>
            <a:off x="1017493" y="5986059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11D93-6113-9232-AED8-C16D8AA255FC}"/>
              </a:ext>
            </a:extLst>
          </p:cNvPr>
          <p:cNvSpPr/>
          <p:nvPr/>
        </p:nvSpPr>
        <p:spPr>
          <a:xfrm>
            <a:off x="788893" y="9849854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A9B20-9ED9-3036-0B05-7E2BDB79F7BD}"/>
              </a:ext>
            </a:extLst>
          </p:cNvPr>
          <p:cNvSpPr/>
          <p:nvPr/>
        </p:nvSpPr>
        <p:spPr>
          <a:xfrm>
            <a:off x="4857750" y="9849854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B14CB-0758-0AE8-599A-7AD8A6F72FE3}"/>
              </a:ext>
            </a:extLst>
          </p:cNvPr>
          <p:cNvSpPr/>
          <p:nvPr/>
        </p:nvSpPr>
        <p:spPr>
          <a:xfrm>
            <a:off x="1017493" y="10978163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6E63D1-0494-F8EF-A0BB-103A5A3ECA73}"/>
              </a:ext>
            </a:extLst>
          </p:cNvPr>
          <p:cNvSpPr/>
          <p:nvPr/>
        </p:nvSpPr>
        <p:spPr>
          <a:xfrm>
            <a:off x="381000" y="8642840"/>
            <a:ext cx="22364700" cy="987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8A911D-0821-3885-2D20-AE28F3238B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5387920" y="1097816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1872C5-6C07-C840-A1ED-996E80636D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15387920" y="6109330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0248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de deploy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482B434D-E7F8-41ED-95FD-FB4200678FF6}"/>
              </a:ext>
            </a:extLst>
          </p:cNvPr>
          <p:cNvGrpSpPr>
            <a:grpSpLocks/>
          </p:cNvGrpSpPr>
          <p:nvPr/>
        </p:nvGrpSpPr>
        <p:grpSpPr bwMode="auto">
          <a:xfrm>
            <a:off x="18429522" y="8981820"/>
            <a:ext cx="3145305" cy="2324100"/>
            <a:chOff x="3993" y="2902"/>
            <a:chExt cx="1105" cy="679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78F92FED-B93F-4F5F-86F2-27AAF0CAE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2954"/>
              <a:ext cx="982" cy="627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DAB2156A-1757-48C8-B45F-B721E8E6D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3158"/>
              <a:ext cx="34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4800" b="0" dirty="0">
                  <a:solidFill>
                    <a:schemeClr val="bg1"/>
                  </a:solidFill>
                </a:rPr>
                <a:t>ACE</a:t>
              </a:r>
              <a:endParaRPr lang="en-US" sz="54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A013FC63-1633-492A-B824-A29D23C52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2902"/>
              <a:ext cx="123" cy="679"/>
            </a:xfrm>
            <a:custGeom>
              <a:avLst/>
              <a:gdLst>
                <a:gd name="T0" fmla="*/ 123 w 123"/>
                <a:gd name="T1" fmla="*/ 52 h 679"/>
                <a:gd name="T2" fmla="*/ 0 w 123"/>
                <a:gd name="T3" fmla="*/ 0 h 679"/>
                <a:gd name="T4" fmla="*/ 0 w 123"/>
                <a:gd name="T5" fmla="*/ 627 h 679"/>
                <a:gd name="T6" fmla="*/ 123 w 123"/>
                <a:gd name="T7" fmla="*/ 679 h 679"/>
                <a:gd name="T8" fmla="*/ 123 w 123"/>
                <a:gd name="T9" fmla="*/ 52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679"/>
                <a:gd name="T17" fmla="*/ 123 w 123"/>
                <a:gd name="T18" fmla="*/ 679 h 6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679">
                  <a:moveTo>
                    <a:pt x="123" y="52"/>
                  </a:moveTo>
                  <a:lnTo>
                    <a:pt x="0" y="0"/>
                  </a:lnTo>
                  <a:lnTo>
                    <a:pt x="0" y="627"/>
                  </a:lnTo>
                  <a:lnTo>
                    <a:pt x="123" y="67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D2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BB87ADFE-49F8-48AA-94BC-D5A8FD1A5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02"/>
              <a:ext cx="1104" cy="52"/>
            </a:xfrm>
            <a:custGeom>
              <a:avLst/>
              <a:gdLst>
                <a:gd name="T0" fmla="*/ 1104 w 1104"/>
                <a:gd name="T1" fmla="*/ 52 h 52"/>
                <a:gd name="T2" fmla="*/ 981 w 1104"/>
                <a:gd name="T3" fmla="*/ 0 h 52"/>
                <a:gd name="T4" fmla="*/ 0 w 1104"/>
                <a:gd name="T5" fmla="*/ 0 h 52"/>
                <a:gd name="T6" fmla="*/ 122 w 1104"/>
                <a:gd name="T7" fmla="*/ 52 h 52"/>
                <a:gd name="T8" fmla="*/ 1104 w 1104"/>
                <a:gd name="T9" fmla="*/ 5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2"/>
                <a:gd name="T17" fmla="*/ 1104 w 110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52">
                  <a:moveTo>
                    <a:pt x="1104" y="52"/>
                  </a:moveTo>
                  <a:lnTo>
                    <a:pt x="981" y="0"/>
                  </a:lnTo>
                  <a:lnTo>
                    <a:pt x="0" y="0"/>
                  </a:lnTo>
                  <a:lnTo>
                    <a:pt x="122" y="52"/>
                  </a:lnTo>
                  <a:lnTo>
                    <a:pt x="1104" y="52"/>
                  </a:lnTo>
                  <a:close/>
                </a:path>
              </a:pathLst>
            </a:custGeom>
            <a:solidFill>
              <a:srgbClr val="B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9">
            <a:extLst>
              <a:ext uri="{FF2B5EF4-FFF2-40B4-BE49-F238E27FC236}">
                <a16:creationId xmlns:a16="http://schemas.microsoft.com/office/drawing/2014/main" id="{852A01D4-0601-4C2C-B07F-72A3BA64E0AD}"/>
              </a:ext>
            </a:extLst>
          </p:cNvPr>
          <p:cNvSpPr>
            <a:spLocks noEditPoints="1"/>
          </p:cNvSpPr>
          <p:nvPr/>
        </p:nvSpPr>
        <p:spPr bwMode="auto">
          <a:xfrm>
            <a:off x="10526840" y="8981822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506FD508-567A-4B05-BDC4-AE558FC6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629" y="11305920"/>
            <a:ext cx="3643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 Message Flow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pic>
        <p:nvPicPr>
          <p:cNvPr id="1026" name="Picture 2" descr="Retrying failed back-end system operations with IBM Integration Bus">
            <a:extLst>
              <a:ext uri="{FF2B5EF4-FFF2-40B4-BE49-F238E27FC236}">
                <a16:creationId xmlns:a16="http://schemas.microsoft.com/office/drawing/2014/main" id="{AB3EBDCD-B7AC-43C2-8530-E6EA948E5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54" y="8980446"/>
            <a:ext cx="61341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12">
            <a:extLst>
              <a:ext uri="{FF2B5EF4-FFF2-40B4-BE49-F238E27FC236}">
                <a16:creationId xmlns:a16="http://schemas.microsoft.com/office/drawing/2014/main" id="{8FB4AA1E-D144-40FD-9489-5AC498A0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8064" y="10072751"/>
            <a:ext cx="1300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00FF00"/>
                </a:highlight>
              </a:rPr>
              <a:t>.BAR file</a:t>
            </a:r>
            <a:endParaRPr lang="en-US" sz="3600" b="1" dirty="0">
              <a:solidFill>
                <a:srgbClr val="006600"/>
              </a:solidFill>
              <a:highlight>
                <a:srgbClr val="00FF00"/>
              </a:highlight>
              <a:latin typeface="Times New Roman" pitchFamily="18" charset="0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C194A80-A57E-4F70-831C-EEFD14D65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8516" y="10442083"/>
            <a:ext cx="1843440" cy="382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/>
              <a:t>Deploy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33" name="Freeform 15">
            <a:extLst>
              <a:ext uri="{FF2B5EF4-FFF2-40B4-BE49-F238E27FC236}">
                <a16:creationId xmlns:a16="http://schemas.microsoft.com/office/drawing/2014/main" id="{3B5AAA81-BAF6-454A-8B7A-5DF8C31004DE}"/>
              </a:ext>
            </a:extLst>
          </p:cNvPr>
          <p:cNvSpPr>
            <a:spLocks/>
          </p:cNvSpPr>
          <p:nvPr/>
        </p:nvSpPr>
        <p:spPr bwMode="auto">
          <a:xfrm>
            <a:off x="8409304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8F5B5CAA-ACCA-4CFD-8AF2-39F9EBAC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4095" y="10397677"/>
            <a:ext cx="15951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Build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BC7F7-1EFA-E5E9-6A7A-6045EA068A4D}"/>
              </a:ext>
            </a:extLst>
          </p:cNvPr>
          <p:cNvSpPr/>
          <p:nvPr/>
        </p:nvSpPr>
        <p:spPr>
          <a:xfrm>
            <a:off x="10775577" y="4180155"/>
            <a:ext cx="12550588" cy="4083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Override .bar com </a:t>
            </a:r>
            <a:r>
              <a:rPr lang="en-US" sz="2400" dirty="0" err="1">
                <a:solidFill>
                  <a:schemeClr val="tx1"/>
                </a:solidFill>
              </a:rPr>
              <a:t>arquivo</a:t>
            </a:r>
            <a:r>
              <a:rPr lang="en-US" sz="2400" dirty="0">
                <a:solidFill>
                  <a:schemeClr val="tx1"/>
                </a:solidFill>
              </a:rPr>
              <a:t> de “properties”</a:t>
            </a: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1800" dirty="0" err="1">
                <a:solidFill>
                  <a:schemeClr val="tx1"/>
                </a:solidFill>
              </a:rPr>
              <a:t>mqsireadbar</a:t>
            </a:r>
            <a:r>
              <a:rPr lang="en-US" sz="1800" dirty="0">
                <a:solidFill>
                  <a:schemeClr val="tx1"/>
                </a:solidFill>
              </a:rPr>
              <a:t> -b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-r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BIP1052I: Reading Bar file using runtime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mqsireadbar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...</a:t>
            </a:r>
          </a:p>
          <a:p>
            <a:pPr algn="just"/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ZZZ_SAMPLE_COPYBOOK.appzip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(2/10/21 8:29 PM):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     ZZZ_SAMPLE_COPYBOOK_OPER2#additionalInstances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  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     ZZZ_SAMPLE_COPYBOOK_OPER2#HTTP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Input.URLSpecifier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 = /ZZZ_SAMPLE_COPYBOOK/SVMPW01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…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Policy</a:t>
            </a:r>
          </a:p>
          <a:p>
            <a:pPr algn="just"/>
            <a:endParaRPr lang="en-US" sz="1800" dirty="0">
              <a:solidFill>
                <a:schemeClr val="tx1"/>
              </a:solidFill>
            </a:endParaRPr>
          </a:p>
          <a:p>
            <a:pPr algn="just"/>
            <a:r>
              <a:rPr lang="en-US" sz="1800" dirty="0" err="1">
                <a:solidFill>
                  <a:schemeClr val="tx1"/>
                </a:solidFill>
              </a:rPr>
              <a:t>mqsiapplybaroverride</a:t>
            </a:r>
            <a:r>
              <a:rPr lang="en-US" sz="1800" dirty="0">
                <a:solidFill>
                  <a:schemeClr val="tx1"/>
                </a:solidFill>
              </a:rPr>
              <a:t> -b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–p 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arquivo_properties.txt</a:t>
            </a:r>
            <a:r>
              <a:rPr lang="en-US" sz="1800" dirty="0">
                <a:solidFill>
                  <a:schemeClr val="tx1"/>
                </a:solidFill>
              </a:rPr>
              <a:t> –o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FF"/>
                </a:highlight>
              </a:rPr>
              <a:t>NOVO_ZZZ_SAMPLE_COPYBOOK.bar</a:t>
            </a:r>
            <a:endParaRPr lang="en-US" sz="1800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DA4255-7302-35EE-23E6-650BFCDBC9C4}"/>
              </a:ext>
            </a:extLst>
          </p:cNvPr>
          <p:cNvSpPr/>
          <p:nvPr/>
        </p:nvSpPr>
        <p:spPr>
          <a:xfrm>
            <a:off x="10775577" y="2589161"/>
            <a:ext cx="12550588" cy="1244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Create .bar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mqsipackagebar</a:t>
            </a:r>
            <a:r>
              <a:rPr lang="en-US" sz="1800" dirty="0">
                <a:solidFill>
                  <a:schemeClr val="tx1"/>
                </a:solidFill>
              </a:rPr>
              <a:t> -a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</a:rPr>
              <a:t>ZZZ_SAMPLE_COPYBOOK.bar</a:t>
            </a:r>
            <a:r>
              <a:rPr lang="en-US" sz="1800" dirty="0">
                <a:solidFill>
                  <a:schemeClr val="tx1"/>
                </a:solidFill>
              </a:rPr>
              <a:t> -w &lt;</a:t>
            </a:r>
            <a:r>
              <a:rPr lang="en-US" sz="1800" dirty="0" err="1">
                <a:solidFill>
                  <a:schemeClr val="tx1"/>
                </a:solidFill>
              </a:rPr>
              <a:t>rootLocation</a:t>
            </a:r>
            <a:r>
              <a:rPr lang="en-US" sz="1800" dirty="0">
                <a:solidFill>
                  <a:schemeClr val="tx1"/>
                </a:solidFill>
              </a:rPr>
              <a:t>&gt; -k ZZZ_SAMPLE_COPYBOOK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F8244834-26F1-17BA-2B7C-2E490A5F0EFE}"/>
              </a:ext>
            </a:extLst>
          </p:cNvPr>
          <p:cNvSpPr>
            <a:spLocks noEditPoints="1"/>
          </p:cNvSpPr>
          <p:nvPr/>
        </p:nvSpPr>
        <p:spPr bwMode="auto">
          <a:xfrm>
            <a:off x="14448085" y="8981822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1726564-4A2D-B30C-B304-AC5368932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7360" y="10072751"/>
            <a:ext cx="13007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00FFFF"/>
                </a:highlight>
              </a:rPr>
              <a:t>.BAR file</a:t>
            </a:r>
            <a:endParaRPr lang="en-US" sz="3600" b="1" dirty="0">
              <a:solidFill>
                <a:srgbClr val="006600"/>
              </a:solidFill>
              <a:highlight>
                <a:srgbClr val="00FFFF"/>
              </a:highlight>
              <a:latin typeface="Times New Roman" pitchFamily="18" charset="0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1496511-6988-566E-E1F1-3DEECF83E445}"/>
              </a:ext>
            </a:extLst>
          </p:cNvPr>
          <p:cNvSpPr>
            <a:spLocks noEditPoints="1"/>
          </p:cNvSpPr>
          <p:nvPr/>
        </p:nvSpPr>
        <p:spPr bwMode="auto">
          <a:xfrm>
            <a:off x="12874995" y="10760635"/>
            <a:ext cx="1543166" cy="2324098"/>
          </a:xfrm>
          <a:custGeom>
            <a:avLst/>
            <a:gdLst>
              <a:gd name="T0" fmla="*/ 5951210 w 613"/>
              <a:gd name="T1" fmla="*/ 153836007 h 679"/>
              <a:gd name="T2" fmla="*/ 35707255 w 613"/>
              <a:gd name="T3" fmla="*/ 111880468 h 679"/>
              <a:gd name="T4" fmla="*/ 90756259 w 613"/>
              <a:gd name="T5" fmla="*/ 72256192 h 679"/>
              <a:gd name="T6" fmla="*/ 168123216 w 613"/>
              <a:gd name="T7" fmla="*/ 41955551 h 679"/>
              <a:gd name="T8" fmla="*/ 260367544 w 613"/>
              <a:gd name="T9" fmla="*/ 16315964 h 679"/>
              <a:gd name="T10" fmla="*/ 364514364 w 613"/>
              <a:gd name="T11" fmla="*/ 4661050 h 679"/>
              <a:gd name="T12" fmla="*/ 474612315 w 613"/>
              <a:gd name="T13" fmla="*/ 0 h 679"/>
              <a:gd name="T14" fmla="*/ 583223379 w 613"/>
              <a:gd name="T15" fmla="*/ 6992338 h 679"/>
              <a:gd name="T16" fmla="*/ 684395281 w 613"/>
              <a:gd name="T17" fmla="*/ 25639593 h 679"/>
              <a:gd name="T18" fmla="*/ 772176508 w 613"/>
              <a:gd name="T19" fmla="*/ 51279186 h 679"/>
              <a:gd name="T20" fmla="*/ 842102893 w 613"/>
              <a:gd name="T21" fmla="*/ 86240863 h 679"/>
              <a:gd name="T22" fmla="*/ 889713773 w 613"/>
              <a:gd name="T23" fmla="*/ 123535378 h 679"/>
              <a:gd name="T24" fmla="*/ 910542390 w 613"/>
              <a:gd name="T25" fmla="*/ 167820678 h 679"/>
              <a:gd name="T26" fmla="*/ 907567396 w 613"/>
              <a:gd name="T27" fmla="*/ 212107552 h 679"/>
              <a:gd name="T28" fmla="*/ 876323251 w 613"/>
              <a:gd name="T29" fmla="*/ 254063092 h 679"/>
              <a:gd name="T30" fmla="*/ 821274276 w 613"/>
              <a:gd name="T31" fmla="*/ 291356056 h 679"/>
              <a:gd name="T32" fmla="*/ 745395464 w 613"/>
              <a:gd name="T33" fmla="*/ 323987973 h 679"/>
              <a:gd name="T34" fmla="*/ 651663029 w 613"/>
              <a:gd name="T35" fmla="*/ 347296266 h 679"/>
              <a:gd name="T36" fmla="*/ 547516133 w 613"/>
              <a:gd name="T37" fmla="*/ 361280937 h 679"/>
              <a:gd name="T38" fmla="*/ 437418182 w 613"/>
              <a:gd name="T39" fmla="*/ 363612224 h 679"/>
              <a:gd name="T40" fmla="*/ 328807118 w 613"/>
              <a:gd name="T41" fmla="*/ 356619889 h 679"/>
              <a:gd name="T42" fmla="*/ 227635293 w 613"/>
              <a:gd name="T43" fmla="*/ 340303931 h 679"/>
              <a:gd name="T44" fmla="*/ 139854027 w 613"/>
              <a:gd name="T45" fmla="*/ 314664350 h 679"/>
              <a:gd name="T46" fmla="*/ 69927623 w 613"/>
              <a:gd name="T47" fmla="*/ 279701146 h 679"/>
              <a:gd name="T48" fmla="*/ 22316733 w 613"/>
              <a:gd name="T49" fmla="*/ 240076894 h 679"/>
              <a:gd name="T50" fmla="*/ 1488107 w 613"/>
              <a:gd name="T51" fmla="*/ 198121307 h 679"/>
              <a:gd name="T52" fmla="*/ 0 w 613"/>
              <a:gd name="T53" fmla="*/ 1400839975 h 679"/>
              <a:gd name="T54" fmla="*/ 13390527 w 613"/>
              <a:gd name="T55" fmla="*/ 1442793988 h 679"/>
              <a:gd name="T56" fmla="*/ 52074001 w 613"/>
              <a:gd name="T57" fmla="*/ 1484749527 h 679"/>
              <a:gd name="T58" fmla="*/ 114562310 w 613"/>
              <a:gd name="T59" fmla="*/ 1519712731 h 679"/>
              <a:gd name="T60" fmla="*/ 196391148 w 613"/>
              <a:gd name="T61" fmla="*/ 1550013360 h 679"/>
              <a:gd name="T62" fmla="*/ 294586683 w 613"/>
              <a:gd name="T63" fmla="*/ 1570990366 h 679"/>
              <a:gd name="T64" fmla="*/ 400222829 w 613"/>
              <a:gd name="T65" fmla="*/ 1580313989 h 679"/>
              <a:gd name="T66" fmla="*/ 511807667 w 613"/>
              <a:gd name="T67" fmla="*/ 1580313989 h 679"/>
              <a:gd name="T68" fmla="*/ 617442518 w 613"/>
              <a:gd name="T69" fmla="*/ 1570990366 h 679"/>
              <a:gd name="T70" fmla="*/ 715639426 w 613"/>
              <a:gd name="T71" fmla="*/ 1550013360 h 679"/>
              <a:gd name="T72" fmla="*/ 797469445 w 613"/>
              <a:gd name="T73" fmla="*/ 1519712731 h 679"/>
              <a:gd name="T74" fmla="*/ 859956515 w 613"/>
              <a:gd name="T75" fmla="*/ 1484749527 h 679"/>
              <a:gd name="T76" fmla="*/ 898639975 w 613"/>
              <a:gd name="T77" fmla="*/ 1442793988 h 679"/>
              <a:gd name="T78" fmla="*/ 912030497 w 613"/>
              <a:gd name="T79" fmla="*/ 1400839975 h 679"/>
              <a:gd name="T80" fmla="*/ 907567396 w 613"/>
              <a:gd name="T81" fmla="*/ 212107552 h 679"/>
              <a:gd name="T82" fmla="*/ 876323251 w 613"/>
              <a:gd name="T83" fmla="*/ 254063092 h 679"/>
              <a:gd name="T84" fmla="*/ 821274276 w 613"/>
              <a:gd name="T85" fmla="*/ 291356056 h 679"/>
              <a:gd name="T86" fmla="*/ 745395464 w 613"/>
              <a:gd name="T87" fmla="*/ 323987973 h 679"/>
              <a:gd name="T88" fmla="*/ 651663029 w 613"/>
              <a:gd name="T89" fmla="*/ 347296266 h 679"/>
              <a:gd name="T90" fmla="*/ 547516133 w 613"/>
              <a:gd name="T91" fmla="*/ 361280937 h 679"/>
              <a:gd name="T92" fmla="*/ 437418182 w 613"/>
              <a:gd name="T93" fmla="*/ 363612224 h 679"/>
              <a:gd name="T94" fmla="*/ 328807118 w 613"/>
              <a:gd name="T95" fmla="*/ 356619889 h 679"/>
              <a:gd name="T96" fmla="*/ 227635293 w 613"/>
              <a:gd name="T97" fmla="*/ 340303931 h 679"/>
              <a:gd name="T98" fmla="*/ 139854027 w 613"/>
              <a:gd name="T99" fmla="*/ 314664350 h 679"/>
              <a:gd name="T100" fmla="*/ 69927623 w 613"/>
              <a:gd name="T101" fmla="*/ 279701146 h 679"/>
              <a:gd name="T102" fmla="*/ 22316733 w 613"/>
              <a:gd name="T103" fmla="*/ 240076894 h 679"/>
              <a:gd name="T104" fmla="*/ 1488107 w 613"/>
              <a:gd name="T105" fmla="*/ 198121307 h 67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613"/>
              <a:gd name="T160" fmla="*/ 0 h 679"/>
              <a:gd name="T161" fmla="*/ 613 w 613"/>
              <a:gd name="T162" fmla="*/ 679 h 67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613" h="679">
                <a:moveTo>
                  <a:pt x="0" y="78"/>
                </a:moveTo>
                <a:lnTo>
                  <a:pt x="1" y="72"/>
                </a:lnTo>
                <a:lnTo>
                  <a:pt x="4" y="66"/>
                </a:lnTo>
                <a:lnTo>
                  <a:pt x="9" y="60"/>
                </a:lnTo>
                <a:lnTo>
                  <a:pt x="15" y="53"/>
                </a:lnTo>
                <a:lnTo>
                  <a:pt x="24" y="48"/>
                </a:lnTo>
                <a:lnTo>
                  <a:pt x="35" y="42"/>
                </a:lnTo>
                <a:lnTo>
                  <a:pt x="47" y="37"/>
                </a:lnTo>
                <a:lnTo>
                  <a:pt x="61" y="31"/>
                </a:lnTo>
                <a:lnTo>
                  <a:pt x="77" y="26"/>
                </a:lnTo>
                <a:lnTo>
                  <a:pt x="94" y="22"/>
                </a:lnTo>
                <a:lnTo>
                  <a:pt x="113" y="18"/>
                </a:lnTo>
                <a:lnTo>
                  <a:pt x="132" y="14"/>
                </a:lnTo>
                <a:lnTo>
                  <a:pt x="153" y="11"/>
                </a:lnTo>
                <a:lnTo>
                  <a:pt x="175" y="7"/>
                </a:lnTo>
                <a:lnTo>
                  <a:pt x="198" y="5"/>
                </a:lnTo>
                <a:lnTo>
                  <a:pt x="221" y="3"/>
                </a:lnTo>
                <a:lnTo>
                  <a:pt x="245" y="2"/>
                </a:lnTo>
                <a:lnTo>
                  <a:pt x="269" y="0"/>
                </a:lnTo>
                <a:lnTo>
                  <a:pt x="294" y="0"/>
                </a:lnTo>
                <a:lnTo>
                  <a:pt x="319" y="0"/>
                </a:lnTo>
                <a:lnTo>
                  <a:pt x="344" y="0"/>
                </a:lnTo>
                <a:lnTo>
                  <a:pt x="368" y="2"/>
                </a:lnTo>
                <a:lnTo>
                  <a:pt x="392" y="3"/>
                </a:lnTo>
                <a:lnTo>
                  <a:pt x="415" y="5"/>
                </a:lnTo>
                <a:lnTo>
                  <a:pt x="438" y="7"/>
                </a:lnTo>
                <a:lnTo>
                  <a:pt x="460" y="11"/>
                </a:lnTo>
                <a:lnTo>
                  <a:pt x="481" y="14"/>
                </a:lnTo>
                <a:lnTo>
                  <a:pt x="501" y="18"/>
                </a:lnTo>
                <a:lnTo>
                  <a:pt x="519" y="22"/>
                </a:lnTo>
                <a:lnTo>
                  <a:pt x="536" y="26"/>
                </a:lnTo>
                <a:lnTo>
                  <a:pt x="552" y="31"/>
                </a:lnTo>
                <a:lnTo>
                  <a:pt x="566" y="37"/>
                </a:lnTo>
                <a:lnTo>
                  <a:pt x="578" y="42"/>
                </a:lnTo>
                <a:lnTo>
                  <a:pt x="589" y="48"/>
                </a:lnTo>
                <a:lnTo>
                  <a:pt x="598" y="53"/>
                </a:lnTo>
                <a:lnTo>
                  <a:pt x="604" y="60"/>
                </a:lnTo>
                <a:lnTo>
                  <a:pt x="610" y="66"/>
                </a:lnTo>
                <a:lnTo>
                  <a:pt x="612" y="72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  <a:moveTo>
                  <a:pt x="0" y="78"/>
                </a:moveTo>
                <a:lnTo>
                  <a:pt x="0" y="601"/>
                </a:lnTo>
                <a:lnTo>
                  <a:pt x="1" y="607"/>
                </a:lnTo>
                <a:lnTo>
                  <a:pt x="4" y="613"/>
                </a:lnTo>
                <a:lnTo>
                  <a:pt x="9" y="619"/>
                </a:lnTo>
                <a:lnTo>
                  <a:pt x="15" y="625"/>
                </a:lnTo>
                <a:lnTo>
                  <a:pt x="24" y="631"/>
                </a:lnTo>
                <a:lnTo>
                  <a:pt x="35" y="637"/>
                </a:lnTo>
                <a:lnTo>
                  <a:pt x="47" y="642"/>
                </a:lnTo>
                <a:lnTo>
                  <a:pt x="61" y="648"/>
                </a:lnTo>
                <a:lnTo>
                  <a:pt x="77" y="652"/>
                </a:lnTo>
                <a:lnTo>
                  <a:pt x="94" y="657"/>
                </a:lnTo>
                <a:lnTo>
                  <a:pt x="113" y="661"/>
                </a:lnTo>
                <a:lnTo>
                  <a:pt x="132" y="665"/>
                </a:lnTo>
                <a:lnTo>
                  <a:pt x="153" y="668"/>
                </a:lnTo>
                <a:lnTo>
                  <a:pt x="175" y="671"/>
                </a:lnTo>
                <a:lnTo>
                  <a:pt x="198" y="674"/>
                </a:lnTo>
                <a:lnTo>
                  <a:pt x="221" y="676"/>
                </a:lnTo>
                <a:lnTo>
                  <a:pt x="245" y="677"/>
                </a:lnTo>
                <a:lnTo>
                  <a:pt x="269" y="678"/>
                </a:lnTo>
                <a:lnTo>
                  <a:pt x="294" y="679"/>
                </a:lnTo>
                <a:lnTo>
                  <a:pt x="319" y="679"/>
                </a:lnTo>
                <a:lnTo>
                  <a:pt x="344" y="678"/>
                </a:lnTo>
                <a:lnTo>
                  <a:pt x="368" y="677"/>
                </a:lnTo>
                <a:lnTo>
                  <a:pt x="392" y="676"/>
                </a:lnTo>
                <a:lnTo>
                  <a:pt x="415" y="674"/>
                </a:lnTo>
                <a:lnTo>
                  <a:pt x="438" y="671"/>
                </a:lnTo>
                <a:lnTo>
                  <a:pt x="460" y="668"/>
                </a:lnTo>
                <a:lnTo>
                  <a:pt x="481" y="665"/>
                </a:lnTo>
                <a:lnTo>
                  <a:pt x="501" y="661"/>
                </a:lnTo>
                <a:lnTo>
                  <a:pt x="519" y="657"/>
                </a:lnTo>
                <a:lnTo>
                  <a:pt x="536" y="652"/>
                </a:lnTo>
                <a:lnTo>
                  <a:pt x="552" y="648"/>
                </a:lnTo>
                <a:lnTo>
                  <a:pt x="566" y="642"/>
                </a:lnTo>
                <a:lnTo>
                  <a:pt x="578" y="637"/>
                </a:lnTo>
                <a:lnTo>
                  <a:pt x="589" y="631"/>
                </a:lnTo>
                <a:lnTo>
                  <a:pt x="598" y="625"/>
                </a:lnTo>
                <a:lnTo>
                  <a:pt x="604" y="619"/>
                </a:lnTo>
                <a:lnTo>
                  <a:pt x="610" y="613"/>
                </a:lnTo>
                <a:lnTo>
                  <a:pt x="612" y="607"/>
                </a:lnTo>
                <a:lnTo>
                  <a:pt x="613" y="601"/>
                </a:lnTo>
                <a:lnTo>
                  <a:pt x="613" y="78"/>
                </a:lnTo>
                <a:lnTo>
                  <a:pt x="612" y="85"/>
                </a:lnTo>
                <a:lnTo>
                  <a:pt x="610" y="91"/>
                </a:lnTo>
                <a:lnTo>
                  <a:pt x="604" y="97"/>
                </a:lnTo>
                <a:lnTo>
                  <a:pt x="598" y="103"/>
                </a:lnTo>
                <a:lnTo>
                  <a:pt x="589" y="109"/>
                </a:lnTo>
                <a:lnTo>
                  <a:pt x="578" y="115"/>
                </a:lnTo>
                <a:lnTo>
                  <a:pt x="566" y="120"/>
                </a:lnTo>
                <a:lnTo>
                  <a:pt x="552" y="125"/>
                </a:lnTo>
                <a:lnTo>
                  <a:pt x="536" y="130"/>
                </a:lnTo>
                <a:lnTo>
                  <a:pt x="519" y="135"/>
                </a:lnTo>
                <a:lnTo>
                  <a:pt x="501" y="139"/>
                </a:lnTo>
                <a:lnTo>
                  <a:pt x="481" y="143"/>
                </a:lnTo>
                <a:lnTo>
                  <a:pt x="460" y="146"/>
                </a:lnTo>
                <a:lnTo>
                  <a:pt x="438" y="149"/>
                </a:lnTo>
                <a:lnTo>
                  <a:pt x="415" y="152"/>
                </a:lnTo>
                <a:lnTo>
                  <a:pt x="392" y="153"/>
                </a:lnTo>
                <a:lnTo>
                  <a:pt x="368" y="155"/>
                </a:lnTo>
                <a:lnTo>
                  <a:pt x="344" y="156"/>
                </a:lnTo>
                <a:lnTo>
                  <a:pt x="319" y="156"/>
                </a:lnTo>
                <a:lnTo>
                  <a:pt x="294" y="156"/>
                </a:lnTo>
                <a:lnTo>
                  <a:pt x="269" y="156"/>
                </a:lnTo>
                <a:lnTo>
                  <a:pt x="245" y="155"/>
                </a:lnTo>
                <a:lnTo>
                  <a:pt x="221" y="153"/>
                </a:lnTo>
                <a:lnTo>
                  <a:pt x="198" y="152"/>
                </a:lnTo>
                <a:lnTo>
                  <a:pt x="175" y="149"/>
                </a:lnTo>
                <a:lnTo>
                  <a:pt x="153" y="146"/>
                </a:lnTo>
                <a:lnTo>
                  <a:pt x="132" y="143"/>
                </a:lnTo>
                <a:lnTo>
                  <a:pt x="113" y="139"/>
                </a:lnTo>
                <a:lnTo>
                  <a:pt x="94" y="135"/>
                </a:lnTo>
                <a:lnTo>
                  <a:pt x="77" y="130"/>
                </a:lnTo>
                <a:lnTo>
                  <a:pt x="61" y="125"/>
                </a:lnTo>
                <a:lnTo>
                  <a:pt x="47" y="120"/>
                </a:lnTo>
                <a:lnTo>
                  <a:pt x="35" y="115"/>
                </a:lnTo>
                <a:lnTo>
                  <a:pt x="24" y="109"/>
                </a:lnTo>
                <a:lnTo>
                  <a:pt x="15" y="103"/>
                </a:lnTo>
                <a:lnTo>
                  <a:pt x="9" y="97"/>
                </a:lnTo>
                <a:lnTo>
                  <a:pt x="4" y="91"/>
                </a:lnTo>
                <a:lnTo>
                  <a:pt x="1" y="85"/>
                </a:lnTo>
                <a:lnTo>
                  <a:pt x="0" y="78"/>
                </a:lnTo>
                <a:close/>
              </a:path>
            </a:pathLst>
          </a:custGeom>
          <a:solidFill>
            <a:srgbClr val="CCFFCC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F0DEB-9B6E-FAFD-5CFD-C9D5F22B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6182" y="11702160"/>
            <a:ext cx="14061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</a:rPr>
              <a:t>Arquivo</a:t>
            </a:r>
            <a:endParaRPr lang="en-US" sz="24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</a:rPr>
              <a:t>Properties</a:t>
            </a:r>
            <a:endParaRPr lang="en-US" sz="3600" b="1" dirty="0">
              <a:solidFill>
                <a:srgbClr val="006600"/>
              </a:solidFill>
              <a:highlight>
                <a:srgbClr val="FFFF00"/>
              </a:highlight>
              <a:latin typeface="Times New Roman" pitchFamily="18" charset="0"/>
            </a:endParaRP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AD58EAD-B812-C6FF-4A7F-DFE09210C6E5}"/>
              </a:ext>
            </a:extLst>
          </p:cNvPr>
          <p:cNvSpPr>
            <a:spLocks/>
          </p:cNvSpPr>
          <p:nvPr/>
        </p:nvSpPr>
        <p:spPr bwMode="auto">
          <a:xfrm>
            <a:off x="16131568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A7D805A8-3B4D-798A-E868-B6A4E83EF1D2}"/>
              </a:ext>
            </a:extLst>
          </p:cNvPr>
          <p:cNvSpPr>
            <a:spLocks/>
          </p:cNvSpPr>
          <p:nvPr/>
        </p:nvSpPr>
        <p:spPr bwMode="auto">
          <a:xfrm>
            <a:off x="12176858" y="9953200"/>
            <a:ext cx="2117535" cy="382861"/>
          </a:xfrm>
          <a:custGeom>
            <a:avLst/>
            <a:gdLst>
              <a:gd name="T0" fmla="*/ 0 w 982"/>
              <a:gd name="T1" fmla="*/ 58320439 h 125"/>
              <a:gd name="T2" fmla="*/ 0 w 982"/>
              <a:gd name="T3" fmla="*/ 176840388 h 125"/>
              <a:gd name="T4" fmla="*/ 2147483647 w 982"/>
              <a:gd name="T5" fmla="*/ 176840388 h 125"/>
              <a:gd name="T6" fmla="*/ 2147483647 w 982"/>
              <a:gd name="T7" fmla="*/ 235160848 h 125"/>
              <a:gd name="T8" fmla="*/ 2147483647 w 982"/>
              <a:gd name="T9" fmla="*/ 116639507 h 125"/>
              <a:gd name="T10" fmla="*/ 2147483647 w 982"/>
              <a:gd name="T11" fmla="*/ 0 h 125"/>
              <a:gd name="T12" fmla="*/ 2147483647 w 982"/>
              <a:gd name="T13" fmla="*/ 58320439 h 125"/>
              <a:gd name="T14" fmla="*/ 0 w 982"/>
              <a:gd name="T15" fmla="*/ 58320439 h 1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82"/>
              <a:gd name="T25" fmla="*/ 0 h 125"/>
              <a:gd name="T26" fmla="*/ 982 w 982"/>
              <a:gd name="T27" fmla="*/ 125 h 12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82" h="125">
                <a:moveTo>
                  <a:pt x="0" y="31"/>
                </a:moveTo>
                <a:lnTo>
                  <a:pt x="0" y="94"/>
                </a:lnTo>
                <a:lnTo>
                  <a:pt x="945" y="94"/>
                </a:lnTo>
                <a:lnTo>
                  <a:pt x="945" y="125"/>
                </a:lnTo>
                <a:lnTo>
                  <a:pt x="982" y="62"/>
                </a:lnTo>
                <a:lnTo>
                  <a:pt x="945" y="0"/>
                </a:lnTo>
                <a:lnTo>
                  <a:pt x="945" y="31"/>
                </a:lnTo>
                <a:lnTo>
                  <a:pt x="0" y="31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34063A4-CA40-BBD8-E07B-660BF3F98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0327" y="10397677"/>
            <a:ext cx="15951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28688">
              <a:spcBef>
                <a:spcPct val="50000"/>
              </a:spcBef>
              <a:buClrTx/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Override</a:t>
            </a:r>
            <a:endParaRPr lang="en-US" sz="36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7D690-68EF-0875-BF12-89FFB4E9ED41}"/>
              </a:ext>
            </a:extLst>
          </p:cNvPr>
          <p:cNvSpPr txBox="1"/>
          <p:nvPr/>
        </p:nvSpPr>
        <p:spPr>
          <a:xfrm>
            <a:off x="15828077" y="4653067"/>
            <a:ext cx="8745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mqsireadbar</a:t>
            </a:r>
            <a:r>
              <a:rPr lang="en-US" sz="2000" dirty="0"/>
              <a:t> -b ACE_HTTP_500_Renew_Certfproject.generated.bar -r</a:t>
            </a:r>
          </a:p>
        </p:txBody>
      </p:sp>
    </p:spTree>
    <p:extLst>
      <p:ext uri="{BB962C8B-B14F-4D97-AF65-F5344CB8AC3E}">
        <p14:creationId xmlns:p14="http://schemas.microsoft.com/office/powerpoint/2010/main" val="136574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de </a:t>
            </a:r>
            <a:r>
              <a:rPr lang="pt-BR" dirty="0" err="1"/>
              <a:t>deploy</a:t>
            </a:r>
            <a:r>
              <a:rPr lang="pt-BR" dirty="0"/>
              <a:t> CI/CD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EE1AA0-9386-0EE2-DDA1-E1C988C2F16B}"/>
              </a:ext>
            </a:extLst>
          </p:cNvPr>
          <p:cNvSpPr/>
          <p:nvPr/>
        </p:nvSpPr>
        <p:spPr>
          <a:xfrm>
            <a:off x="2209800" y="2888502"/>
            <a:ext cx="5753100" cy="22049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Build </a:t>
            </a:r>
            <a:r>
              <a:rPr lang="pt-BR" dirty="0" err="1">
                <a:solidFill>
                  <a:schemeClr val="tx1"/>
                </a:solidFill>
              </a:rPr>
              <a:t>Environment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019A83-E2E3-107A-C2D7-4CEDE40DC5E7}"/>
              </a:ext>
            </a:extLst>
          </p:cNvPr>
          <p:cNvSpPr/>
          <p:nvPr/>
        </p:nvSpPr>
        <p:spPr>
          <a:xfrm>
            <a:off x="2209800" y="9982200"/>
            <a:ext cx="5753100" cy="22049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Dev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425694-09F4-E9F6-0D20-F131692F4638}"/>
              </a:ext>
            </a:extLst>
          </p:cNvPr>
          <p:cNvSpPr/>
          <p:nvPr/>
        </p:nvSpPr>
        <p:spPr>
          <a:xfrm>
            <a:off x="2209800" y="6400239"/>
            <a:ext cx="5753100" cy="22049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SCM/SVN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</a:t>
            </a:r>
            <a:r>
              <a:rPr lang="pt-BR" dirty="0" err="1">
                <a:solidFill>
                  <a:schemeClr val="tx1"/>
                </a:solidFill>
              </a:rPr>
              <a:t>GitLab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0AFCE-E41D-739E-3058-21D5A288B271}"/>
              </a:ext>
            </a:extLst>
          </p:cNvPr>
          <p:cNvSpPr/>
          <p:nvPr/>
        </p:nvSpPr>
        <p:spPr>
          <a:xfrm>
            <a:off x="9648825" y="2888502"/>
            <a:ext cx="5753100" cy="220494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Build Data </a:t>
            </a:r>
            <a:r>
              <a:rPr lang="pt-BR" dirty="0" err="1">
                <a:solidFill>
                  <a:schemeClr val="tx1"/>
                </a:solidFill>
              </a:rPr>
              <a:t>Repository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9246A1-A1DB-6F01-8878-43DFA60CC165}"/>
              </a:ext>
            </a:extLst>
          </p:cNvPr>
          <p:cNvSpPr/>
          <p:nvPr/>
        </p:nvSpPr>
        <p:spPr>
          <a:xfrm>
            <a:off x="9648825" y="9982200"/>
            <a:ext cx="5753100" cy="220494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Test </a:t>
            </a:r>
            <a:r>
              <a:rPr lang="pt-BR" dirty="0" err="1">
                <a:solidFill>
                  <a:schemeClr val="tx1"/>
                </a:solidFill>
              </a:rPr>
              <a:t>Runtime</a:t>
            </a:r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</a:t>
            </a:r>
            <a:r>
              <a:rPr lang="pt-BR" dirty="0" err="1">
                <a:solidFill>
                  <a:schemeClr val="tx1"/>
                </a:solidFill>
              </a:rPr>
              <a:t>JUnit</a:t>
            </a:r>
            <a:r>
              <a:rPr lang="pt-BR" dirty="0">
                <a:solidFill>
                  <a:schemeClr val="tx1"/>
                </a:solidFill>
              </a:rPr>
              <a:t>, </a:t>
            </a:r>
            <a:r>
              <a:rPr lang="pt-BR" dirty="0" err="1">
                <a:solidFill>
                  <a:schemeClr val="tx1"/>
                </a:solidFill>
              </a:rPr>
              <a:t>Sonarqube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452FD5-80C1-945E-3E17-9F39E853D8EB}"/>
              </a:ext>
            </a:extLst>
          </p:cNvPr>
          <p:cNvSpPr/>
          <p:nvPr/>
        </p:nvSpPr>
        <p:spPr>
          <a:xfrm>
            <a:off x="9648825" y="6400239"/>
            <a:ext cx="5753100" cy="220494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CI/CD </a:t>
            </a:r>
            <a:r>
              <a:rPr lang="pt-BR" dirty="0" err="1">
                <a:solidFill>
                  <a:schemeClr val="tx1"/>
                </a:solidFill>
              </a:rPr>
              <a:t>Process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739040-DDAF-D2AB-F6EA-F9F9DC7D7AC9}"/>
              </a:ext>
            </a:extLst>
          </p:cNvPr>
          <p:cNvCxnSpPr>
            <a:cxnSpLocks/>
          </p:cNvCxnSpPr>
          <p:nvPr/>
        </p:nvCxnSpPr>
        <p:spPr>
          <a:xfrm flipV="1">
            <a:off x="10887075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E4983F-3231-8DEC-6EFA-B31A62D85FD9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5086350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0550E2-790E-C20C-E610-FD097D0E961D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V="1">
            <a:off x="5086350" y="8605185"/>
            <a:ext cx="0" cy="137701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6BBD6F-10CF-DA4A-9C48-7C458877878D}"/>
              </a:ext>
            </a:extLst>
          </p:cNvPr>
          <p:cNvCxnSpPr>
            <a:cxnSpLocks/>
          </p:cNvCxnSpPr>
          <p:nvPr/>
        </p:nvCxnSpPr>
        <p:spPr>
          <a:xfrm flipV="1">
            <a:off x="14249400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858E91-A00D-815E-201B-27DAEEA5947E}"/>
              </a:ext>
            </a:extLst>
          </p:cNvPr>
          <p:cNvCxnSpPr>
            <a:cxnSpLocks/>
          </p:cNvCxnSpPr>
          <p:nvPr/>
        </p:nvCxnSpPr>
        <p:spPr>
          <a:xfrm flipV="1">
            <a:off x="11696700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E018F9-E639-3A03-F2D3-A4376FBDB8F9}"/>
              </a:ext>
            </a:extLst>
          </p:cNvPr>
          <p:cNvCxnSpPr>
            <a:cxnSpLocks/>
          </p:cNvCxnSpPr>
          <p:nvPr/>
        </p:nvCxnSpPr>
        <p:spPr>
          <a:xfrm flipV="1">
            <a:off x="13342844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7CB87B-8F90-F434-BA0A-AEAC87E8B8C7}"/>
              </a:ext>
            </a:extLst>
          </p:cNvPr>
          <p:cNvCxnSpPr>
            <a:cxnSpLocks/>
          </p:cNvCxnSpPr>
          <p:nvPr/>
        </p:nvCxnSpPr>
        <p:spPr>
          <a:xfrm flipV="1">
            <a:off x="12504644" y="5093448"/>
            <a:ext cx="0" cy="130679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E36BE92-330B-C00B-D549-8773D5A7EC66}"/>
              </a:ext>
            </a:extLst>
          </p:cNvPr>
          <p:cNvSpPr/>
          <p:nvPr/>
        </p:nvSpPr>
        <p:spPr>
          <a:xfrm>
            <a:off x="16853856" y="4586191"/>
            <a:ext cx="5753100" cy="2204946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dirty="0" err="1">
                <a:solidFill>
                  <a:schemeClr val="tx1"/>
                </a:solidFill>
              </a:rPr>
              <a:t>Artifact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Repository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Nexus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FCC77BE-5987-604A-1750-F35C216EAE0D}"/>
              </a:ext>
            </a:extLst>
          </p:cNvPr>
          <p:cNvSpPr/>
          <p:nvPr/>
        </p:nvSpPr>
        <p:spPr>
          <a:xfrm>
            <a:off x="16853856" y="8191219"/>
            <a:ext cx="5753100" cy="2204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Prod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Runtime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F729E5A-6380-8395-3A7B-384738D719FC}"/>
              </a:ext>
            </a:extLst>
          </p:cNvPr>
          <p:cNvSpPr/>
          <p:nvPr/>
        </p:nvSpPr>
        <p:spPr>
          <a:xfrm>
            <a:off x="8078043" y="2743199"/>
            <a:ext cx="1303242" cy="958215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DA5D82BF-2F96-1490-3842-DF714A13B486}"/>
              </a:ext>
            </a:extLst>
          </p:cNvPr>
          <p:cNvSpPr/>
          <p:nvPr/>
        </p:nvSpPr>
        <p:spPr>
          <a:xfrm>
            <a:off x="15488072" y="2743199"/>
            <a:ext cx="1303242" cy="958215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688EB9-68DC-8889-2650-4DB448E6F389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12525375" y="8605185"/>
            <a:ext cx="0" cy="137701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30E507-533C-B4D2-B7CE-B5A0BEFD212D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19730406" y="6791137"/>
            <a:ext cx="0" cy="140008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8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OCP/CP4I -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Complexity</a:t>
            </a:r>
            <a:endParaRPr lang="pt-B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382F736-1B67-7B7D-0D21-83407189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94" y="1916346"/>
            <a:ext cx="13049250" cy="87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6262B1-3DA1-CC5F-1321-1AFA17814F5E}"/>
              </a:ext>
            </a:extLst>
          </p:cNvPr>
          <p:cNvSpPr txBox="1"/>
          <p:nvPr/>
        </p:nvSpPr>
        <p:spPr>
          <a:xfrm>
            <a:off x="179294" y="13172518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3"/>
              </a:rPr>
              <a:t>https://community.ibm.com/community/user/integration/blogs/rob-convery1/2022/05/11/ibm-app-connect-operators-part-1-what-is-an-operat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478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OCP/CP4I -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Complexity</a:t>
            </a:r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262B1-3DA1-CC5F-1321-1AFA17814F5E}"/>
              </a:ext>
            </a:extLst>
          </p:cNvPr>
          <p:cNvSpPr txBox="1"/>
          <p:nvPr/>
        </p:nvSpPr>
        <p:spPr>
          <a:xfrm>
            <a:off x="179294" y="13172518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https://community.ibm.com/community/user/integration/blogs/rob-convery1/2022/05/11/ibm-app-connect-operators-part-1-what-is-an-operat</a:t>
            </a:r>
            <a:r>
              <a:rPr lang="en-US" sz="1100" dirty="0"/>
              <a:t>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760DDC-4F32-D76C-B467-B178AB895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4" y="3095624"/>
            <a:ext cx="19631025" cy="935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169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OCP/CP4I -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Complexity</a:t>
            </a:r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262B1-3DA1-CC5F-1321-1AFA17814F5E}"/>
              </a:ext>
            </a:extLst>
          </p:cNvPr>
          <p:cNvSpPr txBox="1"/>
          <p:nvPr/>
        </p:nvSpPr>
        <p:spPr>
          <a:xfrm>
            <a:off x="179294" y="13172518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https://community.ibm.com/community/user/integration/blogs/rob-convery1/2022/05/11/ibm-app-connect-operators-part-1-what-is-an-operat</a:t>
            </a:r>
            <a:r>
              <a:rPr lang="en-US" sz="1100" dirty="0"/>
              <a:t>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AA049CB-A6A9-8021-E7FE-827166AA5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637" y="3036567"/>
            <a:ext cx="18807045" cy="942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156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OCP/CP4I - IBM App Connect </a:t>
            </a:r>
            <a:r>
              <a:rPr lang="pt-BR" dirty="0" err="1"/>
              <a:t>Operator</a:t>
            </a:r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262B1-3DA1-CC5F-1321-1AFA17814F5E}"/>
              </a:ext>
            </a:extLst>
          </p:cNvPr>
          <p:cNvSpPr txBox="1"/>
          <p:nvPr/>
        </p:nvSpPr>
        <p:spPr>
          <a:xfrm>
            <a:off x="179294" y="13172518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https://community.ibm.com/community/user/integration/blogs/rob-convery1/2022/05/11/ibm-app-connect-operators-part-1-what-is-an-operat</a:t>
            </a:r>
            <a:r>
              <a:rPr lang="en-US" sz="1100" dirty="0"/>
              <a:t> 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5E35367-8ED4-6D9A-75E0-37B5752FFA04}"/>
              </a:ext>
            </a:extLst>
          </p:cNvPr>
          <p:cNvSpPr/>
          <p:nvPr/>
        </p:nvSpPr>
        <p:spPr>
          <a:xfrm>
            <a:off x="5162550" y="2805291"/>
            <a:ext cx="2933700" cy="47579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</a:t>
            </a:r>
            <a:r>
              <a:rPr lang="pt-BR" sz="2000" dirty="0" err="1"/>
              <a:t>Integration</a:t>
            </a:r>
            <a:r>
              <a:rPr lang="pt-BR" sz="2000" dirty="0"/>
              <a:t> Server”</a:t>
            </a:r>
            <a:endParaRPr lang="en-US" sz="2000" dirty="0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59250AAE-F36B-75EC-FB20-96404DE7D697}"/>
              </a:ext>
            </a:extLst>
          </p:cNvPr>
          <p:cNvSpPr/>
          <p:nvPr/>
        </p:nvSpPr>
        <p:spPr>
          <a:xfrm>
            <a:off x="5162550" y="4243101"/>
            <a:ext cx="2933700" cy="58372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</a:t>
            </a:r>
            <a:r>
              <a:rPr lang="pt-BR" sz="2000" dirty="0" err="1"/>
              <a:t>Configuration</a:t>
            </a:r>
            <a:r>
              <a:rPr lang="pt-BR" sz="2000" dirty="0"/>
              <a:t>”</a:t>
            </a:r>
            <a:endParaRPr lang="en-US" sz="2000" dirty="0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395BD8E7-1B65-E2E1-E88D-173C5C239BB9}"/>
              </a:ext>
            </a:extLst>
          </p:cNvPr>
          <p:cNvSpPr/>
          <p:nvPr/>
        </p:nvSpPr>
        <p:spPr>
          <a:xfrm>
            <a:off x="5162550" y="8027274"/>
            <a:ext cx="2933700" cy="58372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“Dashboard”</a:t>
            </a:r>
            <a:endParaRPr lang="en-US" sz="2000" dirty="0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245FAC79-81B5-9D96-B4C9-635CE9B3EC27}"/>
              </a:ext>
            </a:extLst>
          </p:cNvPr>
          <p:cNvSpPr/>
          <p:nvPr/>
        </p:nvSpPr>
        <p:spPr>
          <a:xfrm>
            <a:off x="5162550" y="10227350"/>
            <a:ext cx="2933700" cy="58372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“Design </a:t>
            </a:r>
            <a:r>
              <a:rPr lang="pt-BR" sz="2000" dirty="0" err="1"/>
              <a:t>Authoring</a:t>
            </a:r>
            <a:r>
              <a:rPr lang="pt-BR" sz="2000" dirty="0"/>
              <a:t>”</a:t>
            </a:r>
            <a:endParaRPr lang="en-US" sz="2000" dirty="0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8AF2C068-411C-1006-B158-DBA8F8F33349}"/>
              </a:ext>
            </a:extLst>
          </p:cNvPr>
          <p:cNvSpPr/>
          <p:nvPr/>
        </p:nvSpPr>
        <p:spPr>
          <a:xfrm>
            <a:off x="5162550" y="12147396"/>
            <a:ext cx="2933700" cy="58372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“Switch Server”</a:t>
            </a:r>
            <a:endParaRPr lang="en-US" sz="2000" dirty="0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6B471F8-B9ED-9B1B-0457-4B80940E1CEC}"/>
              </a:ext>
            </a:extLst>
          </p:cNvPr>
          <p:cNvSpPr/>
          <p:nvPr/>
        </p:nvSpPr>
        <p:spPr>
          <a:xfrm>
            <a:off x="5162550" y="5756458"/>
            <a:ext cx="2933700" cy="583721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“</a:t>
            </a:r>
            <a:r>
              <a:rPr lang="pt-BR" sz="2000" dirty="0" err="1"/>
              <a:t>Integration</a:t>
            </a:r>
            <a:r>
              <a:rPr lang="pt-BR" sz="2000" dirty="0"/>
              <a:t> </a:t>
            </a:r>
            <a:r>
              <a:rPr lang="pt-BR" sz="2000" dirty="0" err="1"/>
              <a:t>Runtime</a:t>
            </a:r>
            <a:r>
              <a:rPr lang="pt-BR" sz="2000" dirty="0"/>
              <a:t>”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BE14E-9328-2837-5AA0-72F2F5518F27}"/>
              </a:ext>
            </a:extLst>
          </p:cNvPr>
          <p:cNvSpPr/>
          <p:nvPr/>
        </p:nvSpPr>
        <p:spPr>
          <a:xfrm>
            <a:off x="11145369" y="11944350"/>
            <a:ext cx="4087311" cy="10668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8B22F2-54D9-8C4D-F2AD-9F432E4468B4}"/>
              </a:ext>
            </a:extLst>
          </p:cNvPr>
          <p:cNvSpPr/>
          <p:nvPr/>
        </p:nvSpPr>
        <p:spPr>
          <a:xfrm>
            <a:off x="11620500" y="12109296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355798-1FDE-1917-D465-7221C48944F8}"/>
              </a:ext>
            </a:extLst>
          </p:cNvPr>
          <p:cNvSpPr/>
          <p:nvPr/>
        </p:nvSpPr>
        <p:spPr>
          <a:xfrm>
            <a:off x="11145369" y="9516783"/>
            <a:ext cx="4087311" cy="20566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70B14C-3844-8A42-83A9-7A671D70CE88}"/>
              </a:ext>
            </a:extLst>
          </p:cNvPr>
          <p:cNvSpPr/>
          <p:nvPr/>
        </p:nvSpPr>
        <p:spPr>
          <a:xfrm>
            <a:off x="11334750" y="9681729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7C2605-B967-F62F-F86B-8F6784128ADB}"/>
              </a:ext>
            </a:extLst>
          </p:cNvPr>
          <p:cNvSpPr/>
          <p:nvPr/>
        </p:nvSpPr>
        <p:spPr>
          <a:xfrm>
            <a:off x="12586447" y="9681729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726069-9429-5992-EB37-CB8001F864A4}"/>
              </a:ext>
            </a:extLst>
          </p:cNvPr>
          <p:cNvSpPr/>
          <p:nvPr/>
        </p:nvSpPr>
        <p:spPr>
          <a:xfrm>
            <a:off x="13687424" y="9681729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8F043A-5F7F-1F40-0D17-DFAEB4B9672A}"/>
              </a:ext>
            </a:extLst>
          </p:cNvPr>
          <p:cNvSpPr/>
          <p:nvPr/>
        </p:nvSpPr>
        <p:spPr>
          <a:xfrm>
            <a:off x="11465298" y="10849171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1D05A9-98C9-1585-93E0-85A212D31DEF}"/>
              </a:ext>
            </a:extLst>
          </p:cNvPr>
          <p:cNvSpPr/>
          <p:nvPr/>
        </p:nvSpPr>
        <p:spPr>
          <a:xfrm>
            <a:off x="12522573" y="10636369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0B2F1D-7643-F0B9-AF2C-A89DF3B125D3}"/>
              </a:ext>
            </a:extLst>
          </p:cNvPr>
          <p:cNvSpPr/>
          <p:nvPr/>
        </p:nvSpPr>
        <p:spPr>
          <a:xfrm>
            <a:off x="13401674" y="10572037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90E59E-D4E5-209B-C1CB-13C0586EF550}"/>
              </a:ext>
            </a:extLst>
          </p:cNvPr>
          <p:cNvSpPr/>
          <p:nvPr/>
        </p:nvSpPr>
        <p:spPr>
          <a:xfrm>
            <a:off x="14280775" y="10678764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FE1BAF-1631-266E-7460-AD7FBDA615A4}"/>
              </a:ext>
            </a:extLst>
          </p:cNvPr>
          <p:cNvSpPr/>
          <p:nvPr/>
        </p:nvSpPr>
        <p:spPr>
          <a:xfrm>
            <a:off x="11145370" y="7488479"/>
            <a:ext cx="3949548" cy="16854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492AE6-FD51-3B2D-1641-196CA687464A}"/>
              </a:ext>
            </a:extLst>
          </p:cNvPr>
          <p:cNvSpPr/>
          <p:nvPr/>
        </p:nvSpPr>
        <p:spPr>
          <a:xfrm>
            <a:off x="11367247" y="7625081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F529FB-77A5-0292-4AF1-7B111156C61E}"/>
              </a:ext>
            </a:extLst>
          </p:cNvPr>
          <p:cNvSpPr/>
          <p:nvPr/>
        </p:nvSpPr>
        <p:spPr>
          <a:xfrm>
            <a:off x="11729197" y="8455742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176CFA-4B19-87CB-5350-963709867538}"/>
              </a:ext>
            </a:extLst>
          </p:cNvPr>
          <p:cNvSpPr/>
          <p:nvPr/>
        </p:nvSpPr>
        <p:spPr>
          <a:xfrm>
            <a:off x="12344400" y="7790027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2EF430-E564-9CC7-1D1E-1BA9F02324A5}"/>
              </a:ext>
            </a:extLst>
          </p:cNvPr>
          <p:cNvSpPr/>
          <p:nvPr/>
        </p:nvSpPr>
        <p:spPr>
          <a:xfrm>
            <a:off x="13088471" y="8281034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8B71B2-DE7C-4FBE-D794-088BEBE77060}"/>
              </a:ext>
            </a:extLst>
          </p:cNvPr>
          <p:cNvSpPr/>
          <p:nvPr/>
        </p:nvSpPr>
        <p:spPr>
          <a:xfrm>
            <a:off x="13687424" y="7634727"/>
            <a:ext cx="571500" cy="5837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llout: Left Arrow 28">
            <a:extLst>
              <a:ext uri="{FF2B5EF4-FFF2-40B4-BE49-F238E27FC236}">
                <a16:creationId xmlns:a16="http://schemas.microsoft.com/office/drawing/2014/main" id="{08B9251A-131B-93F3-4C97-4FD95C06E80A}"/>
              </a:ext>
            </a:extLst>
          </p:cNvPr>
          <p:cNvSpPr/>
          <p:nvPr/>
        </p:nvSpPr>
        <p:spPr>
          <a:xfrm>
            <a:off x="15163799" y="3273117"/>
            <a:ext cx="5219700" cy="1918334"/>
          </a:xfrm>
          <a:prstGeom prst="leftArrowCallout">
            <a:avLst>
              <a:gd name="adj1" fmla="val 11466"/>
              <a:gd name="adj2" fmla="val 25000"/>
              <a:gd name="adj3" fmla="val 17481"/>
              <a:gd name="adj4" fmla="val 8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/>
              <a:t>Deploy</a:t>
            </a:r>
            <a:r>
              <a:rPr lang="pt-BR" sz="2400" dirty="0"/>
              <a:t> </a:t>
            </a:r>
            <a:r>
              <a:rPr lang="pt-BR" sz="2400" dirty="0" err="1"/>
              <a:t>containerised</a:t>
            </a:r>
            <a:r>
              <a:rPr lang="pt-BR" sz="2400" dirty="0"/>
              <a:t> App Connect Enterprise </a:t>
            </a:r>
            <a:r>
              <a:rPr lang="pt-BR" sz="2400" dirty="0" err="1"/>
              <a:t>integrations</a:t>
            </a:r>
            <a:r>
              <a:rPr lang="pt-BR" sz="2400" dirty="0"/>
              <a:t> for </a:t>
            </a:r>
            <a:r>
              <a:rPr lang="pt-BR" sz="2400" dirty="0" err="1"/>
              <a:t>an</a:t>
            </a:r>
            <a:r>
              <a:rPr lang="pt-BR" sz="2400" dirty="0"/>
              <a:t> </a:t>
            </a:r>
            <a:r>
              <a:rPr lang="pt-BR" sz="2400" dirty="0" err="1"/>
              <a:t>environment</a:t>
            </a:r>
            <a:endParaRPr lang="en-US" sz="2400" dirty="0"/>
          </a:p>
        </p:txBody>
      </p:sp>
      <p:sp>
        <p:nvSpPr>
          <p:cNvPr id="30" name="Callout: Left Arrow 29">
            <a:extLst>
              <a:ext uri="{FF2B5EF4-FFF2-40B4-BE49-F238E27FC236}">
                <a16:creationId xmlns:a16="http://schemas.microsoft.com/office/drawing/2014/main" id="{45DFD90E-38AD-0C4E-808B-E29FECBA7171}"/>
              </a:ext>
            </a:extLst>
          </p:cNvPr>
          <p:cNvSpPr/>
          <p:nvPr/>
        </p:nvSpPr>
        <p:spPr>
          <a:xfrm>
            <a:off x="15163799" y="7662283"/>
            <a:ext cx="5219700" cy="1159085"/>
          </a:xfrm>
          <a:prstGeom prst="leftArrowCallout">
            <a:avLst>
              <a:gd name="adj1" fmla="val 11466"/>
              <a:gd name="adj2" fmla="val 25000"/>
              <a:gd name="adj3" fmla="val 17481"/>
              <a:gd name="adj4" fmla="val 8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/>
              <a:t>Deploy</a:t>
            </a:r>
            <a:r>
              <a:rPr lang="pt-BR" sz="2400" dirty="0"/>
              <a:t> App Connect Dashboard </a:t>
            </a:r>
            <a:r>
              <a:rPr lang="pt-BR" sz="2400" dirty="0" err="1"/>
              <a:t>componentry</a:t>
            </a:r>
            <a:endParaRPr lang="en-US" sz="2400" dirty="0"/>
          </a:p>
        </p:txBody>
      </p:sp>
      <p:sp>
        <p:nvSpPr>
          <p:cNvPr id="31" name="Callout: Left Arrow 30">
            <a:extLst>
              <a:ext uri="{FF2B5EF4-FFF2-40B4-BE49-F238E27FC236}">
                <a16:creationId xmlns:a16="http://schemas.microsoft.com/office/drawing/2014/main" id="{38339290-81FB-7405-0E23-9CDE011C0509}"/>
              </a:ext>
            </a:extLst>
          </p:cNvPr>
          <p:cNvSpPr/>
          <p:nvPr/>
        </p:nvSpPr>
        <p:spPr>
          <a:xfrm>
            <a:off x="15203019" y="9981946"/>
            <a:ext cx="5219700" cy="1159085"/>
          </a:xfrm>
          <a:prstGeom prst="leftArrowCallout">
            <a:avLst>
              <a:gd name="adj1" fmla="val 11466"/>
              <a:gd name="adj2" fmla="val 25000"/>
              <a:gd name="adj3" fmla="val 17481"/>
              <a:gd name="adj4" fmla="val 8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/>
              <a:t>Deploy</a:t>
            </a:r>
            <a:r>
              <a:rPr lang="pt-BR" sz="2400" dirty="0"/>
              <a:t> App Connect Designer </a:t>
            </a:r>
            <a:r>
              <a:rPr lang="pt-BR" sz="2400" dirty="0" err="1"/>
              <a:t>Authoring</a:t>
            </a:r>
            <a:r>
              <a:rPr lang="pt-BR" sz="2400" dirty="0"/>
              <a:t> </a:t>
            </a:r>
            <a:r>
              <a:rPr lang="pt-BR" sz="2400" dirty="0" err="1"/>
              <a:t>componentry</a:t>
            </a:r>
            <a:endParaRPr lang="en-US" sz="2400" dirty="0"/>
          </a:p>
        </p:txBody>
      </p:sp>
      <p:sp>
        <p:nvSpPr>
          <p:cNvPr id="32" name="Callout: Left Arrow 31">
            <a:extLst>
              <a:ext uri="{FF2B5EF4-FFF2-40B4-BE49-F238E27FC236}">
                <a16:creationId xmlns:a16="http://schemas.microsoft.com/office/drawing/2014/main" id="{86A4594B-48FF-0027-E8C0-837DF2EDA963}"/>
              </a:ext>
            </a:extLst>
          </p:cNvPr>
          <p:cNvSpPr/>
          <p:nvPr/>
        </p:nvSpPr>
        <p:spPr>
          <a:xfrm>
            <a:off x="15232680" y="11976875"/>
            <a:ext cx="5219700" cy="939937"/>
          </a:xfrm>
          <a:prstGeom prst="leftArrowCallout">
            <a:avLst>
              <a:gd name="adj1" fmla="val 11466"/>
              <a:gd name="adj2" fmla="val 25000"/>
              <a:gd name="adj3" fmla="val 17481"/>
              <a:gd name="adj4" fmla="val 8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/>
              <a:t>Deploy</a:t>
            </a:r>
            <a:r>
              <a:rPr lang="pt-BR" sz="2400" dirty="0"/>
              <a:t> App Connect Switch Server</a:t>
            </a:r>
            <a:endParaRPr lang="en-US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602C9E-44CE-D3BA-1911-84EA5F60D80E}"/>
              </a:ext>
            </a:extLst>
          </p:cNvPr>
          <p:cNvSpPr/>
          <p:nvPr/>
        </p:nvSpPr>
        <p:spPr>
          <a:xfrm>
            <a:off x="11145369" y="2076450"/>
            <a:ext cx="4018429" cy="24665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D3B72C-6059-8ABE-CEF1-7B864EA5F9C8}"/>
              </a:ext>
            </a:extLst>
          </p:cNvPr>
          <p:cNvSpPr/>
          <p:nvPr/>
        </p:nvSpPr>
        <p:spPr>
          <a:xfrm>
            <a:off x="11220450" y="2163621"/>
            <a:ext cx="3695700" cy="1846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dirty="0" err="1"/>
              <a:t>Certified</a:t>
            </a:r>
            <a:r>
              <a:rPr lang="pt-BR" sz="2000" dirty="0"/>
              <a:t> Container</a:t>
            </a:r>
            <a:endParaRPr lang="en-US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005335-763B-E149-C2EC-EB2DDF71D89A}"/>
              </a:ext>
            </a:extLst>
          </p:cNvPr>
          <p:cNvSpPr/>
          <p:nvPr/>
        </p:nvSpPr>
        <p:spPr>
          <a:xfrm>
            <a:off x="12291174" y="2668282"/>
            <a:ext cx="1857373" cy="122568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dirty="0" err="1"/>
              <a:t>Integration</a:t>
            </a:r>
            <a:r>
              <a:rPr lang="pt-BR" sz="2000" dirty="0"/>
              <a:t> Server</a:t>
            </a:r>
            <a:endParaRPr lang="en-US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7F6794-8A61-C866-FA21-4B4E52C4B38D}"/>
              </a:ext>
            </a:extLst>
          </p:cNvPr>
          <p:cNvSpPr/>
          <p:nvPr/>
        </p:nvSpPr>
        <p:spPr>
          <a:xfrm>
            <a:off x="12541834" y="3322047"/>
            <a:ext cx="1364048" cy="411297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Integration</a:t>
            </a:r>
            <a:endParaRPr lang="en-US" sz="2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5F3C95-0B4E-CA21-F278-A526C5CD8910}"/>
              </a:ext>
            </a:extLst>
          </p:cNvPr>
          <p:cNvSpPr/>
          <p:nvPr/>
        </p:nvSpPr>
        <p:spPr>
          <a:xfrm>
            <a:off x="11729197" y="4066600"/>
            <a:ext cx="2306450" cy="4216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Custom </a:t>
            </a:r>
            <a:r>
              <a:rPr lang="pt-BR" sz="2000" dirty="0" err="1"/>
              <a:t>Resource</a:t>
            </a:r>
            <a:endParaRPr lang="en-US" sz="20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648D73-3638-7432-532E-AD37B72E935B}"/>
              </a:ext>
            </a:extLst>
          </p:cNvPr>
          <p:cNvCxnSpPr>
            <a:cxnSpLocks/>
            <a:stCxn id="6" idx="0"/>
            <a:endCxn id="34" idx="1"/>
          </p:cNvCxnSpPr>
          <p:nvPr/>
        </p:nvCxnSpPr>
        <p:spPr>
          <a:xfrm>
            <a:off x="8096250" y="3043187"/>
            <a:ext cx="3124200" cy="43853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392BDDE-6D36-BF6A-223C-9E7CF86F7B76}"/>
              </a:ext>
            </a:extLst>
          </p:cNvPr>
          <p:cNvCxnSpPr>
            <a:cxnSpLocks/>
            <a:stCxn id="7" idx="0"/>
            <a:endCxn id="37" idx="1"/>
          </p:cNvCxnSpPr>
          <p:nvPr/>
        </p:nvCxnSpPr>
        <p:spPr>
          <a:xfrm flipV="1">
            <a:off x="8096250" y="4277418"/>
            <a:ext cx="3632947" cy="257544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A5C7E54-57F3-689E-F30E-182A396B5D96}"/>
              </a:ext>
            </a:extLst>
          </p:cNvPr>
          <p:cNvCxnSpPr>
            <a:cxnSpLocks/>
            <a:stCxn id="11" idx="0"/>
            <a:endCxn id="7172" idx="1"/>
          </p:cNvCxnSpPr>
          <p:nvPr/>
        </p:nvCxnSpPr>
        <p:spPr>
          <a:xfrm>
            <a:off x="8096250" y="6048319"/>
            <a:ext cx="3124200" cy="52239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4E500C-5B1B-2838-52CF-BA0681745DE2}"/>
              </a:ext>
            </a:extLst>
          </p:cNvPr>
          <p:cNvCxnSpPr>
            <a:cxnSpLocks/>
            <a:stCxn id="8" idx="0"/>
            <a:endCxn id="23" idx="1"/>
          </p:cNvCxnSpPr>
          <p:nvPr/>
        </p:nvCxnSpPr>
        <p:spPr>
          <a:xfrm>
            <a:off x="8096250" y="8319135"/>
            <a:ext cx="3049120" cy="12047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4C28870-6EDF-6077-0030-AE4F2E820400}"/>
              </a:ext>
            </a:extLst>
          </p:cNvPr>
          <p:cNvCxnSpPr>
            <a:cxnSpLocks/>
            <a:stCxn id="9" idx="0"/>
            <a:endCxn id="15" idx="1"/>
          </p:cNvCxnSpPr>
          <p:nvPr/>
        </p:nvCxnSpPr>
        <p:spPr>
          <a:xfrm>
            <a:off x="8096250" y="10519211"/>
            <a:ext cx="3049119" cy="25896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A0FE19-5A91-87A9-EED7-12C1E7B830F9}"/>
              </a:ext>
            </a:extLst>
          </p:cNvPr>
          <p:cNvCxnSpPr>
            <a:cxnSpLocks/>
            <a:stCxn id="10" idx="0"/>
            <a:endCxn id="13" idx="1"/>
          </p:cNvCxnSpPr>
          <p:nvPr/>
        </p:nvCxnSpPr>
        <p:spPr>
          <a:xfrm>
            <a:off x="8096250" y="12439257"/>
            <a:ext cx="3049119" cy="38493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Rectangle 7171">
            <a:extLst>
              <a:ext uri="{FF2B5EF4-FFF2-40B4-BE49-F238E27FC236}">
                <a16:creationId xmlns:a16="http://schemas.microsoft.com/office/drawing/2014/main" id="{4C583F53-7F62-2D21-DA7D-7D1C540FC670}"/>
              </a:ext>
            </a:extLst>
          </p:cNvPr>
          <p:cNvSpPr/>
          <p:nvPr/>
        </p:nvSpPr>
        <p:spPr>
          <a:xfrm>
            <a:off x="11220450" y="5177139"/>
            <a:ext cx="2095500" cy="1846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Certified</a:t>
            </a:r>
            <a:r>
              <a:rPr lang="pt-BR" sz="2000" dirty="0"/>
              <a:t> Container</a:t>
            </a:r>
            <a:endParaRPr lang="en-US" sz="2000" dirty="0"/>
          </a:p>
        </p:txBody>
      </p:sp>
      <p:sp>
        <p:nvSpPr>
          <p:cNvPr id="7173" name="Rectangle 7172">
            <a:extLst>
              <a:ext uri="{FF2B5EF4-FFF2-40B4-BE49-F238E27FC236}">
                <a16:creationId xmlns:a16="http://schemas.microsoft.com/office/drawing/2014/main" id="{1876DC1E-9906-490E-27DC-357FE6CB29CE}"/>
              </a:ext>
            </a:extLst>
          </p:cNvPr>
          <p:cNvSpPr/>
          <p:nvPr/>
        </p:nvSpPr>
        <p:spPr>
          <a:xfrm>
            <a:off x="11359124" y="5291861"/>
            <a:ext cx="1857374" cy="1329877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Integration</a:t>
            </a:r>
            <a:r>
              <a:rPr lang="pt-BR" sz="2000" dirty="0"/>
              <a:t> </a:t>
            </a:r>
            <a:r>
              <a:rPr lang="pt-BR" sz="2000" dirty="0" err="1"/>
              <a:t>Runtime</a:t>
            </a:r>
            <a:endParaRPr lang="en-US" sz="2000" dirty="0"/>
          </a:p>
        </p:txBody>
      </p:sp>
      <p:cxnSp>
        <p:nvCxnSpPr>
          <p:cNvPr id="7177" name="Connector: Elbow 7176">
            <a:extLst>
              <a:ext uri="{FF2B5EF4-FFF2-40B4-BE49-F238E27FC236}">
                <a16:creationId xmlns:a16="http://schemas.microsoft.com/office/drawing/2014/main" id="{8DE7B657-374B-48F0-86E4-7871A2BF9169}"/>
              </a:ext>
            </a:extLst>
          </p:cNvPr>
          <p:cNvCxnSpPr>
            <a:cxnSpLocks/>
            <a:stCxn id="34" idx="3"/>
            <a:endCxn id="37" idx="3"/>
          </p:cNvCxnSpPr>
          <p:nvPr/>
        </p:nvCxnSpPr>
        <p:spPr>
          <a:xfrm flipH="1">
            <a:off x="14035647" y="3087040"/>
            <a:ext cx="880503" cy="1190378"/>
          </a:xfrm>
          <a:prstGeom prst="bentConnector3">
            <a:avLst>
              <a:gd name="adj1" fmla="val -25962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Rectangle 7177">
            <a:extLst>
              <a:ext uri="{FF2B5EF4-FFF2-40B4-BE49-F238E27FC236}">
                <a16:creationId xmlns:a16="http://schemas.microsoft.com/office/drawing/2014/main" id="{3D2E6C61-5938-7990-9F6E-962049132C79}"/>
              </a:ext>
            </a:extLst>
          </p:cNvPr>
          <p:cNvSpPr/>
          <p:nvPr/>
        </p:nvSpPr>
        <p:spPr>
          <a:xfrm>
            <a:off x="11145369" y="4630822"/>
            <a:ext cx="4018429" cy="277857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79" name="Connector: Elbow 7178">
            <a:extLst>
              <a:ext uri="{FF2B5EF4-FFF2-40B4-BE49-F238E27FC236}">
                <a16:creationId xmlns:a16="http://schemas.microsoft.com/office/drawing/2014/main" id="{301F6CE0-A4BD-E7A5-DED0-683F86F4FC0A}"/>
              </a:ext>
            </a:extLst>
          </p:cNvPr>
          <p:cNvCxnSpPr>
            <a:cxnSpLocks/>
            <a:stCxn id="7213" idx="3"/>
            <a:endCxn id="7229" idx="3"/>
          </p:cNvCxnSpPr>
          <p:nvPr/>
        </p:nvCxnSpPr>
        <p:spPr>
          <a:xfrm flipH="1" flipV="1">
            <a:off x="14035647" y="4901343"/>
            <a:ext cx="797894" cy="1378975"/>
          </a:xfrm>
          <a:prstGeom prst="bentConnector3">
            <a:avLst>
              <a:gd name="adj1" fmla="val -2865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2" name="Callout: Left Arrow 7181">
            <a:extLst>
              <a:ext uri="{FF2B5EF4-FFF2-40B4-BE49-F238E27FC236}">
                <a16:creationId xmlns:a16="http://schemas.microsoft.com/office/drawing/2014/main" id="{FD42CC1C-D8B7-1B98-4029-4A62F8568EE0}"/>
              </a:ext>
            </a:extLst>
          </p:cNvPr>
          <p:cNvSpPr/>
          <p:nvPr/>
        </p:nvSpPr>
        <p:spPr>
          <a:xfrm>
            <a:off x="15163799" y="5278909"/>
            <a:ext cx="5219700" cy="1918334"/>
          </a:xfrm>
          <a:prstGeom prst="leftArrowCallout">
            <a:avLst>
              <a:gd name="adj1" fmla="val 11466"/>
              <a:gd name="adj2" fmla="val 25000"/>
              <a:gd name="adj3" fmla="val 17481"/>
              <a:gd name="adj4" fmla="val 8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/>
              <a:t>Deploy</a:t>
            </a:r>
            <a:r>
              <a:rPr lang="pt-BR" sz="2400" dirty="0"/>
              <a:t> </a:t>
            </a:r>
            <a:r>
              <a:rPr lang="pt-BR" sz="2400" dirty="0" err="1"/>
              <a:t>containerised</a:t>
            </a:r>
            <a:r>
              <a:rPr lang="pt-BR" sz="2400" dirty="0"/>
              <a:t> App Connect Enterprise </a:t>
            </a:r>
            <a:r>
              <a:rPr lang="pt-BR" sz="2400" dirty="0" err="1"/>
              <a:t>integrations</a:t>
            </a:r>
            <a:r>
              <a:rPr lang="pt-BR" sz="2400" dirty="0"/>
              <a:t> for </a:t>
            </a:r>
            <a:r>
              <a:rPr lang="pt-BR" sz="2400" dirty="0" err="1"/>
              <a:t>each</a:t>
            </a:r>
            <a:r>
              <a:rPr lang="pt-BR" sz="2400" dirty="0"/>
              <a:t> business </a:t>
            </a:r>
            <a:r>
              <a:rPr lang="pt-BR" sz="2400" dirty="0" err="1"/>
              <a:t>necessity</a:t>
            </a:r>
            <a:endParaRPr lang="en-US" sz="2400" dirty="0"/>
          </a:p>
        </p:txBody>
      </p:sp>
      <p:sp>
        <p:nvSpPr>
          <p:cNvPr id="7198" name="Rectangle 7197">
            <a:extLst>
              <a:ext uri="{FF2B5EF4-FFF2-40B4-BE49-F238E27FC236}">
                <a16:creationId xmlns:a16="http://schemas.microsoft.com/office/drawing/2014/main" id="{FB9F7B86-24E1-4E07-167A-384856C97EED}"/>
              </a:ext>
            </a:extLst>
          </p:cNvPr>
          <p:cNvSpPr/>
          <p:nvPr/>
        </p:nvSpPr>
        <p:spPr>
          <a:xfrm>
            <a:off x="11609784" y="5439551"/>
            <a:ext cx="1364048" cy="411297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Integration</a:t>
            </a:r>
            <a:endParaRPr lang="en-US" sz="2000" dirty="0"/>
          </a:p>
        </p:txBody>
      </p:sp>
      <p:sp>
        <p:nvSpPr>
          <p:cNvPr id="7208" name="Rectangle 7207">
            <a:extLst>
              <a:ext uri="{FF2B5EF4-FFF2-40B4-BE49-F238E27FC236}">
                <a16:creationId xmlns:a16="http://schemas.microsoft.com/office/drawing/2014/main" id="{A2F800E2-408E-1AA5-5015-A0CB090A7E89}"/>
              </a:ext>
            </a:extLst>
          </p:cNvPr>
          <p:cNvSpPr/>
          <p:nvPr/>
        </p:nvSpPr>
        <p:spPr>
          <a:xfrm>
            <a:off x="11942797" y="5329539"/>
            <a:ext cx="2095500" cy="1846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Certified</a:t>
            </a:r>
            <a:r>
              <a:rPr lang="pt-BR" sz="2000" dirty="0"/>
              <a:t> Container</a:t>
            </a:r>
            <a:endParaRPr lang="en-US" sz="2000" dirty="0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36C3E96C-0EFE-90D3-B653-D01EA1B23382}"/>
              </a:ext>
            </a:extLst>
          </p:cNvPr>
          <p:cNvSpPr/>
          <p:nvPr/>
        </p:nvSpPr>
        <p:spPr>
          <a:xfrm>
            <a:off x="12081471" y="5444261"/>
            <a:ext cx="1857374" cy="1329877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Integration</a:t>
            </a:r>
            <a:r>
              <a:rPr lang="pt-BR" sz="2000" dirty="0"/>
              <a:t> </a:t>
            </a:r>
            <a:r>
              <a:rPr lang="pt-BR" sz="2000" dirty="0" err="1"/>
              <a:t>Runtime</a:t>
            </a:r>
            <a:endParaRPr lang="en-US" sz="2000" dirty="0"/>
          </a:p>
        </p:txBody>
      </p:sp>
      <p:sp>
        <p:nvSpPr>
          <p:cNvPr id="7210" name="Rectangle 7209">
            <a:extLst>
              <a:ext uri="{FF2B5EF4-FFF2-40B4-BE49-F238E27FC236}">
                <a16:creationId xmlns:a16="http://schemas.microsoft.com/office/drawing/2014/main" id="{C75D2896-8BE5-2E5E-34B0-FCE90CC4D595}"/>
              </a:ext>
            </a:extLst>
          </p:cNvPr>
          <p:cNvSpPr/>
          <p:nvPr/>
        </p:nvSpPr>
        <p:spPr>
          <a:xfrm>
            <a:off x="12332131" y="5591951"/>
            <a:ext cx="1364048" cy="411297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Integration</a:t>
            </a:r>
            <a:endParaRPr lang="en-US" sz="2000" dirty="0"/>
          </a:p>
        </p:txBody>
      </p:sp>
      <p:sp>
        <p:nvSpPr>
          <p:cNvPr id="7212" name="Rectangle 7211">
            <a:extLst>
              <a:ext uri="{FF2B5EF4-FFF2-40B4-BE49-F238E27FC236}">
                <a16:creationId xmlns:a16="http://schemas.microsoft.com/office/drawing/2014/main" id="{7F143F7C-C895-95A5-4CB4-BC2B7008AE8D}"/>
              </a:ext>
            </a:extLst>
          </p:cNvPr>
          <p:cNvSpPr/>
          <p:nvPr/>
        </p:nvSpPr>
        <p:spPr>
          <a:xfrm>
            <a:off x="12837493" y="5500657"/>
            <a:ext cx="2095500" cy="1846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Certified</a:t>
            </a:r>
            <a:r>
              <a:rPr lang="pt-BR" sz="2000" dirty="0"/>
              <a:t> Container</a:t>
            </a:r>
            <a:endParaRPr lang="en-US" sz="2000" dirty="0"/>
          </a:p>
        </p:txBody>
      </p:sp>
      <p:sp>
        <p:nvSpPr>
          <p:cNvPr id="7213" name="Rectangle 7212">
            <a:extLst>
              <a:ext uri="{FF2B5EF4-FFF2-40B4-BE49-F238E27FC236}">
                <a16:creationId xmlns:a16="http://schemas.microsoft.com/office/drawing/2014/main" id="{ED166E99-361D-78A5-3E7D-85C0BB02D20B}"/>
              </a:ext>
            </a:extLst>
          </p:cNvPr>
          <p:cNvSpPr/>
          <p:nvPr/>
        </p:nvSpPr>
        <p:spPr>
          <a:xfrm>
            <a:off x="12976167" y="5615379"/>
            <a:ext cx="1857374" cy="1329877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pt-BR" sz="2000" dirty="0" err="1"/>
              <a:t>Integration</a:t>
            </a:r>
            <a:r>
              <a:rPr lang="pt-BR" sz="2000" dirty="0"/>
              <a:t> </a:t>
            </a:r>
            <a:r>
              <a:rPr lang="pt-BR" sz="2000" dirty="0" err="1"/>
              <a:t>Runtime</a:t>
            </a:r>
            <a:endParaRPr lang="en-US" sz="2000" dirty="0"/>
          </a:p>
        </p:txBody>
      </p:sp>
      <p:sp>
        <p:nvSpPr>
          <p:cNvPr id="7214" name="Rectangle 7213">
            <a:extLst>
              <a:ext uri="{FF2B5EF4-FFF2-40B4-BE49-F238E27FC236}">
                <a16:creationId xmlns:a16="http://schemas.microsoft.com/office/drawing/2014/main" id="{30E927F0-0BF8-A84A-67F4-2ED83DF68E08}"/>
              </a:ext>
            </a:extLst>
          </p:cNvPr>
          <p:cNvSpPr/>
          <p:nvPr/>
        </p:nvSpPr>
        <p:spPr>
          <a:xfrm>
            <a:off x="13226827" y="5763069"/>
            <a:ext cx="1364048" cy="411297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Integration</a:t>
            </a:r>
            <a:endParaRPr lang="en-US" sz="2000" dirty="0"/>
          </a:p>
        </p:txBody>
      </p:sp>
      <p:sp>
        <p:nvSpPr>
          <p:cNvPr id="7229" name="Rectangle 7228">
            <a:extLst>
              <a:ext uri="{FF2B5EF4-FFF2-40B4-BE49-F238E27FC236}">
                <a16:creationId xmlns:a16="http://schemas.microsoft.com/office/drawing/2014/main" id="{2C645DD2-D7BE-ACD3-BE48-A03908BAC2E3}"/>
              </a:ext>
            </a:extLst>
          </p:cNvPr>
          <p:cNvSpPr/>
          <p:nvPr/>
        </p:nvSpPr>
        <p:spPr>
          <a:xfrm>
            <a:off x="11729197" y="4690525"/>
            <a:ext cx="2306450" cy="4216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Custom </a:t>
            </a:r>
            <a:r>
              <a:rPr lang="pt-BR" sz="2000" dirty="0" err="1"/>
              <a:t>Resource</a:t>
            </a:r>
            <a:endParaRPr lang="en-US" sz="2000" dirty="0"/>
          </a:p>
        </p:txBody>
      </p:sp>
      <p:cxnSp>
        <p:nvCxnSpPr>
          <p:cNvPr id="7230" name="Straight Arrow Connector 7229">
            <a:extLst>
              <a:ext uri="{FF2B5EF4-FFF2-40B4-BE49-F238E27FC236}">
                <a16:creationId xmlns:a16="http://schemas.microsoft.com/office/drawing/2014/main" id="{E52D70E0-401F-5355-D6B1-677B3FA01FB9}"/>
              </a:ext>
            </a:extLst>
          </p:cNvPr>
          <p:cNvCxnSpPr>
            <a:cxnSpLocks/>
            <a:stCxn id="7" idx="0"/>
            <a:endCxn id="7229" idx="1"/>
          </p:cNvCxnSpPr>
          <p:nvPr/>
        </p:nvCxnSpPr>
        <p:spPr>
          <a:xfrm>
            <a:off x="8096250" y="4534962"/>
            <a:ext cx="3632947" cy="366381"/>
          </a:xfrm>
          <a:prstGeom prst="straightConnector1">
            <a:avLst/>
          </a:prstGeom>
          <a:ln w="762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7B5AB7-65F9-31C4-E5CB-DD9BE5DB163B}"/>
              </a:ext>
            </a:extLst>
          </p:cNvPr>
          <p:cNvSpPr/>
          <p:nvPr/>
        </p:nvSpPr>
        <p:spPr>
          <a:xfrm>
            <a:off x="8553450" y="2381251"/>
            <a:ext cx="1847850" cy="1055575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dirty="0"/>
              <a:t>App Connect </a:t>
            </a:r>
            <a:r>
              <a:rPr lang="pt-BR" sz="2000" dirty="0" err="1"/>
              <a:t>Operator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9809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>
            <a:extLst>
              <a:ext uri="{FF2B5EF4-FFF2-40B4-BE49-F238E27FC236}">
                <a16:creationId xmlns:a16="http://schemas.microsoft.com/office/drawing/2014/main" id="{8AFCFF79-42AC-E77C-2015-72C0593A337B}"/>
              </a:ext>
            </a:extLst>
          </p:cNvPr>
          <p:cNvGrpSpPr>
            <a:grpSpLocks/>
          </p:cNvGrpSpPr>
          <p:nvPr/>
        </p:nvGrpSpPr>
        <p:grpSpPr bwMode="auto">
          <a:xfrm>
            <a:off x="15755824" y="3439095"/>
            <a:ext cx="6088977" cy="4986525"/>
            <a:chOff x="4051" y="2902"/>
            <a:chExt cx="1047" cy="67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56B38787-6009-3DC9-DB0C-748AA8141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2954"/>
              <a:ext cx="982" cy="627"/>
            </a:xfrm>
            <a:prstGeom prst="rect">
              <a:avLst/>
            </a:prstGeom>
            <a:grpFill/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r"/>
              <a:r>
                <a:rPr lang="pt-BR" dirty="0">
                  <a:solidFill>
                    <a:schemeClr val="tx1"/>
                  </a:solidFill>
                </a:rPr>
                <a:t>ACE / CP4I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99058B8D-22F9-AAB9-84AB-C55D26228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902"/>
              <a:ext cx="65" cy="679"/>
            </a:xfrm>
            <a:custGeom>
              <a:avLst/>
              <a:gdLst>
                <a:gd name="T0" fmla="*/ 123 w 123"/>
                <a:gd name="T1" fmla="*/ 52 h 679"/>
                <a:gd name="T2" fmla="*/ 0 w 123"/>
                <a:gd name="T3" fmla="*/ 0 h 679"/>
                <a:gd name="T4" fmla="*/ 0 w 123"/>
                <a:gd name="T5" fmla="*/ 627 h 679"/>
                <a:gd name="T6" fmla="*/ 123 w 123"/>
                <a:gd name="T7" fmla="*/ 679 h 679"/>
                <a:gd name="T8" fmla="*/ 123 w 123"/>
                <a:gd name="T9" fmla="*/ 52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679"/>
                <a:gd name="T17" fmla="*/ 123 w 123"/>
                <a:gd name="T18" fmla="*/ 679 h 6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679">
                  <a:moveTo>
                    <a:pt x="123" y="52"/>
                  </a:moveTo>
                  <a:lnTo>
                    <a:pt x="0" y="0"/>
                  </a:lnTo>
                  <a:lnTo>
                    <a:pt x="0" y="627"/>
                  </a:lnTo>
                  <a:lnTo>
                    <a:pt x="123" y="67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4CC09E5-1017-1ED8-E135-16BBB740D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902"/>
              <a:ext cx="1047" cy="54"/>
            </a:xfrm>
            <a:custGeom>
              <a:avLst/>
              <a:gdLst>
                <a:gd name="T0" fmla="*/ 1104 w 1104"/>
                <a:gd name="T1" fmla="*/ 52 h 52"/>
                <a:gd name="T2" fmla="*/ 981 w 1104"/>
                <a:gd name="T3" fmla="*/ 0 h 52"/>
                <a:gd name="T4" fmla="*/ 0 w 1104"/>
                <a:gd name="T5" fmla="*/ 0 h 52"/>
                <a:gd name="T6" fmla="*/ 122 w 1104"/>
                <a:gd name="T7" fmla="*/ 52 h 52"/>
                <a:gd name="T8" fmla="*/ 1104 w 1104"/>
                <a:gd name="T9" fmla="*/ 5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52"/>
                <a:gd name="T17" fmla="*/ 1104 w 1104"/>
                <a:gd name="T18" fmla="*/ 52 h 52"/>
                <a:gd name="connsiteX0" fmla="*/ 10000 w 10000"/>
                <a:gd name="connsiteY0" fmla="*/ 10000 h 10332"/>
                <a:gd name="connsiteX1" fmla="*/ 8886 w 10000"/>
                <a:gd name="connsiteY1" fmla="*/ 0 h 10332"/>
                <a:gd name="connsiteX2" fmla="*/ 0 w 10000"/>
                <a:gd name="connsiteY2" fmla="*/ 0 h 10332"/>
                <a:gd name="connsiteX3" fmla="*/ 628 w 10000"/>
                <a:gd name="connsiteY3" fmla="*/ 10332 h 10332"/>
                <a:gd name="connsiteX4" fmla="*/ 10000 w 10000"/>
                <a:gd name="connsiteY4" fmla="*/ 10000 h 1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332">
                  <a:moveTo>
                    <a:pt x="10000" y="10000"/>
                  </a:moveTo>
                  <a:lnTo>
                    <a:pt x="8886" y="0"/>
                  </a:lnTo>
                  <a:lnTo>
                    <a:pt x="0" y="0"/>
                  </a:lnTo>
                  <a:cubicBezTo>
                    <a:pt x="209" y="3444"/>
                    <a:pt x="419" y="6888"/>
                    <a:pt x="628" y="10332"/>
                  </a:cubicBezTo>
                  <a:lnTo>
                    <a:pt x="10000" y="1000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1546249"/>
          </a:xfrm>
        </p:spPr>
        <p:txBody>
          <a:bodyPr/>
          <a:lstStyle/>
          <a:p>
            <a:r>
              <a:rPr lang="pt-BR" dirty="0"/>
              <a:t>OCP/CP4I - Procedimento de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44FA1-8397-2064-B457-0F27D9C69CAF}"/>
              </a:ext>
            </a:extLst>
          </p:cNvPr>
          <p:cNvSpPr/>
          <p:nvPr/>
        </p:nvSpPr>
        <p:spPr>
          <a:xfrm>
            <a:off x="16625209" y="6477770"/>
            <a:ext cx="4635522" cy="14600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800" dirty="0" err="1">
                <a:solidFill>
                  <a:schemeClr val="tx1"/>
                </a:solidFill>
              </a:rPr>
              <a:t>Integration</a:t>
            </a:r>
            <a:r>
              <a:rPr lang="pt-BR" sz="2800" dirty="0">
                <a:solidFill>
                  <a:schemeClr val="tx1"/>
                </a:solidFill>
              </a:rPr>
              <a:t> </a:t>
            </a:r>
            <a:r>
              <a:rPr lang="pt-BR" sz="2800" dirty="0" err="1">
                <a:solidFill>
                  <a:schemeClr val="tx1"/>
                </a:solidFill>
              </a:rPr>
              <a:t>Runtime</a:t>
            </a:r>
            <a:r>
              <a:rPr lang="pt-BR" sz="2800" dirty="0">
                <a:solidFill>
                  <a:schemeClr val="tx1"/>
                </a:solidFill>
              </a:rPr>
              <a:t>  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</a:rPr>
              <a:t>(“servidor para cada </a:t>
            </a:r>
            <a:r>
              <a:rPr lang="pt-BR" sz="2800" dirty="0" err="1">
                <a:solidFill>
                  <a:schemeClr val="tx1"/>
                </a:solidFill>
              </a:rPr>
              <a:t>deploy</a:t>
            </a:r>
            <a:r>
              <a:rPr lang="pt-BR" sz="2800" dirty="0">
                <a:solidFill>
                  <a:schemeClr val="tx1"/>
                </a:solidFill>
              </a:rPr>
              <a:t>”)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55B6E-5B7B-4B48-E189-EA2A9E408F2A}"/>
              </a:ext>
            </a:extLst>
          </p:cNvPr>
          <p:cNvSpPr/>
          <p:nvPr/>
        </p:nvSpPr>
        <p:spPr>
          <a:xfrm>
            <a:off x="16625209" y="4707357"/>
            <a:ext cx="4635522" cy="14600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just"/>
            <a:r>
              <a:rPr lang="pt-BR" sz="2800" dirty="0" err="1">
                <a:solidFill>
                  <a:schemeClr val="tx1"/>
                </a:solidFill>
              </a:rPr>
              <a:t>Integration</a:t>
            </a:r>
            <a:r>
              <a:rPr lang="pt-BR" sz="2800" dirty="0">
                <a:solidFill>
                  <a:schemeClr val="tx1"/>
                </a:solidFill>
              </a:rPr>
              <a:t> Server 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</a:rPr>
              <a:t>(“servidor fixo”)</a:t>
            </a:r>
          </a:p>
          <a:p>
            <a:pPr algn="just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16A6B9-4A74-AD31-F743-DCDD535A8429}"/>
              </a:ext>
            </a:extLst>
          </p:cNvPr>
          <p:cNvSpPr txBox="1"/>
          <p:nvPr/>
        </p:nvSpPr>
        <p:spPr>
          <a:xfrm>
            <a:off x="179294" y="13172518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https://www.ibm.com/docs/en/app-connect/containers_cd?topic=resources-integration-server-reference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3"/>
              </a:rPr>
              <a:t>https://www.ibm.com/docs/en/app-connect/containers_cd?topic=resources-integration-runtime-reference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4"/>
              </a:rPr>
              <a:t>https://www.ibm.com/docs/en/app-connect/containers_cd?topic=runtimes-barauth-type</a:t>
            </a:r>
            <a:r>
              <a:rPr lang="en-US" sz="1100" dirty="0"/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A75BB6-92FB-4965-0E2F-4DCA900F7A6C}"/>
              </a:ext>
            </a:extLst>
          </p:cNvPr>
          <p:cNvSpPr/>
          <p:nvPr/>
        </p:nvSpPr>
        <p:spPr>
          <a:xfrm>
            <a:off x="2003715" y="7567982"/>
            <a:ext cx="3541402" cy="1049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App Toolkit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0703D0-D40D-9E4C-FA34-F297C5C08535}"/>
              </a:ext>
            </a:extLst>
          </p:cNvPr>
          <p:cNvSpPr/>
          <p:nvPr/>
        </p:nvSpPr>
        <p:spPr>
          <a:xfrm>
            <a:off x="2003715" y="8845300"/>
            <a:ext cx="3541402" cy="1049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App Connect Designer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BC7A89-AB61-E614-AC96-0E18C7317F1E}"/>
              </a:ext>
            </a:extLst>
          </p:cNvPr>
          <p:cNvSpPr/>
          <p:nvPr/>
        </p:nvSpPr>
        <p:spPr>
          <a:xfrm>
            <a:off x="2003715" y="10122141"/>
            <a:ext cx="3541402" cy="1049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App Connect </a:t>
            </a:r>
            <a:r>
              <a:rPr lang="pt-BR" sz="3200" dirty="0" err="1">
                <a:solidFill>
                  <a:schemeClr val="tx1"/>
                </a:solidFill>
              </a:rPr>
              <a:t>on</a:t>
            </a:r>
            <a:r>
              <a:rPr lang="pt-BR" sz="3200" dirty="0">
                <a:solidFill>
                  <a:schemeClr val="tx1"/>
                </a:solidFill>
              </a:rPr>
              <a:t> IBM Cloud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5467C96C-8E20-5006-AF86-5466F8A40771}"/>
              </a:ext>
            </a:extLst>
          </p:cNvPr>
          <p:cNvSpPr/>
          <p:nvPr/>
        </p:nvSpPr>
        <p:spPr>
          <a:xfrm>
            <a:off x="5454379" y="7374138"/>
            <a:ext cx="513903" cy="39657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1075297E-4605-E85F-DBA7-05AE417EDEF5}"/>
              </a:ext>
            </a:extLst>
          </p:cNvPr>
          <p:cNvSpPr/>
          <p:nvPr/>
        </p:nvSpPr>
        <p:spPr>
          <a:xfrm>
            <a:off x="11653634" y="6062430"/>
            <a:ext cx="4971575" cy="594062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 dirty="0"/>
              <a:t>Deploy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07ACFF6F-906F-2F55-20AB-CA411264F03E}"/>
              </a:ext>
            </a:extLst>
          </p:cNvPr>
          <p:cNvSpPr/>
          <p:nvPr/>
        </p:nvSpPr>
        <p:spPr>
          <a:xfrm>
            <a:off x="7989503" y="5289184"/>
            <a:ext cx="513903" cy="277905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0850A64-C742-2C94-2D65-FBDC637998A8}"/>
              </a:ext>
            </a:extLst>
          </p:cNvPr>
          <p:cNvSpPr/>
          <p:nvPr/>
        </p:nvSpPr>
        <p:spPr>
          <a:xfrm>
            <a:off x="8830037" y="1916220"/>
            <a:ext cx="2713734" cy="462748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400" dirty="0" err="1">
                <a:solidFill>
                  <a:schemeClr val="tx1"/>
                </a:solidFill>
              </a:rPr>
              <a:t>Content</a:t>
            </a:r>
            <a:r>
              <a:rPr lang="pt-BR" sz="2400" dirty="0">
                <a:solidFill>
                  <a:schemeClr val="tx1"/>
                </a:solidFill>
              </a:rPr>
              <a:t> Server (URL)</a:t>
            </a:r>
          </a:p>
          <a:p>
            <a:pPr algn="just"/>
            <a:endParaRPr lang="sv-SE" sz="1400" b="1" dirty="0">
              <a:solidFill>
                <a:schemeClr val="tx1"/>
              </a:solidFill>
            </a:endParaRPr>
          </a:p>
          <a:p>
            <a:pPr algn="just"/>
            <a:r>
              <a:rPr lang="sv-SE" sz="1200" b="1" dirty="0">
                <a:solidFill>
                  <a:schemeClr val="tx1"/>
                </a:solidFill>
              </a:rPr>
              <a:t>Integration server:</a:t>
            </a:r>
          </a:p>
          <a:p>
            <a:pPr algn="just"/>
            <a:r>
              <a:rPr lang="sv-SE" sz="1200" dirty="0">
                <a:solidFill>
                  <a:schemeClr val="tx1"/>
                </a:solidFill>
              </a:rPr>
              <a:t>https://dashboardName-dash:3443/path?token</a:t>
            </a:r>
          </a:p>
          <a:p>
            <a:pPr algn="just"/>
            <a:endParaRPr lang="sv-SE" sz="1200" dirty="0">
              <a:solidFill>
                <a:schemeClr val="tx1"/>
              </a:solidFill>
            </a:endParaRPr>
          </a:p>
          <a:p>
            <a:pPr algn="just"/>
            <a:r>
              <a:rPr lang="sv-SE" sz="1200" b="1" dirty="0">
                <a:solidFill>
                  <a:schemeClr val="tx1"/>
                </a:solidFill>
              </a:rPr>
              <a:t>Integration runtime:</a:t>
            </a:r>
          </a:p>
          <a:p>
            <a:pPr algn="just"/>
            <a:r>
              <a:rPr lang="sv-SE" sz="1200" dirty="0">
                <a:solidFill>
                  <a:schemeClr val="tx1"/>
                </a:solidFill>
                <a:hlinkClick r:id="rId5"/>
              </a:rPr>
              <a:t>https://dashboardName-dash.namespaceName:3443/path?token</a:t>
            </a:r>
            <a:endParaRPr lang="sv-SE" sz="1200" dirty="0">
              <a:solidFill>
                <a:schemeClr val="tx1"/>
              </a:solidFill>
            </a:endParaRPr>
          </a:p>
          <a:p>
            <a:pPr algn="just"/>
            <a:endParaRPr lang="sv-SE" sz="1200" dirty="0">
              <a:solidFill>
                <a:schemeClr val="tx1"/>
              </a:solidFill>
            </a:endParaRPr>
          </a:p>
          <a:p>
            <a:pPr algn="just"/>
            <a:endParaRPr lang="sv-SE" sz="1200" dirty="0">
              <a:solidFill>
                <a:schemeClr val="tx1"/>
              </a:solidFill>
            </a:endParaRPr>
          </a:p>
          <a:p>
            <a:pPr algn="just"/>
            <a:endParaRPr lang="sv-SE" sz="1200" dirty="0">
              <a:solidFill>
                <a:schemeClr val="tx1"/>
              </a:solidFill>
            </a:endParaRPr>
          </a:p>
          <a:p>
            <a:pPr algn="just"/>
            <a:r>
              <a:rPr lang="sv-SE" sz="1600" dirty="0">
                <a:solidFill>
                  <a:schemeClr val="tx1"/>
                </a:solidFill>
              </a:rPr>
              <a:t>Obs: Parte do </a:t>
            </a:r>
            <a:r>
              <a:rPr lang="pt-BR" sz="1600" dirty="0">
                <a:solidFill>
                  <a:schemeClr val="tx1"/>
                </a:solidFill>
              </a:rPr>
              <a:t>App Connect Dashboard</a:t>
            </a:r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C9F66B-FC58-E30D-08E5-1888D0947641}"/>
              </a:ext>
            </a:extLst>
          </p:cNvPr>
          <p:cNvSpPr/>
          <p:nvPr/>
        </p:nvSpPr>
        <p:spPr>
          <a:xfrm>
            <a:off x="8826157" y="6833474"/>
            <a:ext cx="2713734" cy="511200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tx1"/>
                </a:solidFill>
              </a:rPr>
              <a:t>External repository (URL)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pt-BR" sz="2400" dirty="0">
                <a:solidFill>
                  <a:schemeClr val="tx1"/>
                </a:solidFill>
              </a:rPr>
              <a:t>Build </a:t>
            </a:r>
            <a:r>
              <a:rPr lang="pt-BR" sz="2400" dirty="0" err="1">
                <a:solidFill>
                  <a:schemeClr val="tx1"/>
                </a:solidFill>
              </a:rPr>
              <a:t>Artfacts</a:t>
            </a:r>
            <a:r>
              <a:rPr lang="pt-BR" sz="2400" dirty="0">
                <a:solidFill>
                  <a:schemeClr val="tx1"/>
                </a:solidFill>
              </a:rPr>
              <a:t> </a:t>
            </a:r>
            <a:r>
              <a:rPr lang="pt-BR" sz="2400" dirty="0" err="1">
                <a:solidFill>
                  <a:schemeClr val="tx1"/>
                </a:solidFill>
              </a:rPr>
              <a:t>Repository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B5B5F759-347B-2E4E-68F8-89006614FB34}"/>
              </a:ext>
            </a:extLst>
          </p:cNvPr>
          <p:cNvGrpSpPr/>
          <p:nvPr/>
        </p:nvGrpSpPr>
        <p:grpSpPr>
          <a:xfrm>
            <a:off x="6049809" y="5433390"/>
            <a:ext cx="1939694" cy="1276381"/>
            <a:chOff x="6049809" y="5489134"/>
            <a:chExt cx="1982188" cy="2744631"/>
          </a:xfrm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9B0DE1E2-81F9-4AC2-E767-B508DDD7E8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9809" y="5489134"/>
              <a:ext cx="1543166" cy="2324098"/>
            </a:xfrm>
            <a:custGeom>
              <a:avLst/>
              <a:gdLst>
                <a:gd name="T0" fmla="*/ 5951210 w 613"/>
                <a:gd name="T1" fmla="*/ 153836007 h 679"/>
                <a:gd name="T2" fmla="*/ 35707255 w 613"/>
                <a:gd name="T3" fmla="*/ 111880468 h 679"/>
                <a:gd name="T4" fmla="*/ 90756259 w 613"/>
                <a:gd name="T5" fmla="*/ 72256192 h 679"/>
                <a:gd name="T6" fmla="*/ 168123216 w 613"/>
                <a:gd name="T7" fmla="*/ 41955551 h 679"/>
                <a:gd name="T8" fmla="*/ 260367544 w 613"/>
                <a:gd name="T9" fmla="*/ 16315964 h 679"/>
                <a:gd name="T10" fmla="*/ 364514364 w 613"/>
                <a:gd name="T11" fmla="*/ 4661050 h 679"/>
                <a:gd name="T12" fmla="*/ 474612315 w 613"/>
                <a:gd name="T13" fmla="*/ 0 h 679"/>
                <a:gd name="T14" fmla="*/ 583223379 w 613"/>
                <a:gd name="T15" fmla="*/ 6992338 h 679"/>
                <a:gd name="T16" fmla="*/ 684395281 w 613"/>
                <a:gd name="T17" fmla="*/ 25639593 h 679"/>
                <a:gd name="T18" fmla="*/ 772176508 w 613"/>
                <a:gd name="T19" fmla="*/ 51279186 h 679"/>
                <a:gd name="T20" fmla="*/ 842102893 w 613"/>
                <a:gd name="T21" fmla="*/ 86240863 h 679"/>
                <a:gd name="T22" fmla="*/ 889713773 w 613"/>
                <a:gd name="T23" fmla="*/ 123535378 h 679"/>
                <a:gd name="T24" fmla="*/ 910542390 w 613"/>
                <a:gd name="T25" fmla="*/ 167820678 h 679"/>
                <a:gd name="T26" fmla="*/ 907567396 w 613"/>
                <a:gd name="T27" fmla="*/ 212107552 h 679"/>
                <a:gd name="T28" fmla="*/ 876323251 w 613"/>
                <a:gd name="T29" fmla="*/ 254063092 h 679"/>
                <a:gd name="T30" fmla="*/ 821274276 w 613"/>
                <a:gd name="T31" fmla="*/ 291356056 h 679"/>
                <a:gd name="T32" fmla="*/ 745395464 w 613"/>
                <a:gd name="T33" fmla="*/ 323987973 h 679"/>
                <a:gd name="T34" fmla="*/ 651663029 w 613"/>
                <a:gd name="T35" fmla="*/ 347296266 h 679"/>
                <a:gd name="T36" fmla="*/ 547516133 w 613"/>
                <a:gd name="T37" fmla="*/ 361280937 h 679"/>
                <a:gd name="T38" fmla="*/ 437418182 w 613"/>
                <a:gd name="T39" fmla="*/ 363612224 h 679"/>
                <a:gd name="T40" fmla="*/ 328807118 w 613"/>
                <a:gd name="T41" fmla="*/ 356619889 h 679"/>
                <a:gd name="T42" fmla="*/ 227635293 w 613"/>
                <a:gd name="T43" fmla="*/ 340303931 h 679"/>
                <a:gd name="T44" fmla="*/ 139854027 w 613"/>
                <a:gd name="T45" fmla="*/ 314664350 h 679"/>
                <a:gd name="T46" fmla="*/ 69927623 w 613"/>
                <a:gd name="T47" fmla="*/ 279701146 h 679"/>
                <a:gd name="T48" fmla="*/ 22316733 w 613"/>
                <a:gd name="T49" fmla="*/ 240076894 h 679"/>
                <a:gd name="T50" fmla="*/ 1488107 w 613"/>
                <a:gd name="T51" fmla="*/ 198121307 h 679"/>
                <a:gd name="T52" fmla="*/ 0 w 613"/>
                <a:gd name="T53" fmla="*/ 1400839975 h 679"/>
                <a:gd name="T54" fmla="*/ 13390527 w 613"/>
                <a:gd name="T55" fmla="*/ 1442793988 h 679"/>
                <a:gd name="T56" fmla="*/ 52074001 w 613"/>
                <a:gd name="T57" fmla="*/ 1484749527 h 679"/>
                <a:gd name="T58" fmla="*/ 114562310 w 613"/>
                <a:gd name="T59" fmla="*/ 1519712731 h 679"/>
                <a:gd name="T60" fmla="*/ 196391148 w 613"/>
                <a:gd name="T61" fmla="*/ 1550013360 h 679"/>
                <a:gd name="T62" fmla="*/ 294586683 w 613"/>
                <a:gd name="T63" fmla="*/ 1570990366 h 679"/>
                <a:gd name="T64" fmla="*/ 400222829 w 613"/>
                <a:gd name="T65" fmla="*/ 1580313989 h 679"/>
                <a:gd name="T66" fmla="*/ 511807667 w 613"/>
                <a:gd name="T67" fmla="*/ 1580313989 h 679"/>
                <a:gd name="T68" fmla="*/ 617442518 w 613"/>
                <a:gd name="T69" fmla="*/ 1570990366 h 679"/>
                <a:gd name="T70" fmla="*/ 715639426 w 613"/>
                <a:gd name="T71" fmla="*/ 1550013360 h 679"/>
                <a:gd name="T72" fmla="*/ 797469445 w 613"/>
                <a:gd name="T73" fmla="*/ 1519712731 h 679"/>
                <a:gd name="T74" fmla="*/ 859956515 w 613"/>
                <a:gd name="T75" fmla="*/ 1484749527 h 679"/>
                <a:gd name="T76" fmla="*/ 898639975 w 613"/>
                <a:gd name="T77" fmla="*/ 1442793988 h 679"/>
                <a:gd name="T78" fmla="*/ 912030497 w 613"/>
                <a:gd name="T79" fmla="*/ 1400839975 h 679"/>
                <a:gd name="T80" fmla="*/ 907567396 w 613"/>
                <a:gd name="T81" fmla="*/ 212107552 h 679"/>
                <a:gd name="T82" fmla="*/ 876323251 w 613"/>
                <a:gd name="T83" fmla="*/ 254063092 h 679"/>
                <a:gd name="T84" fmla="*/ 821274276 w 613"/>
                <a:gd name="T85" fmla="*/ 291356056 h 679"/>
                <a:gd name="T86" fmla="*/ 745395464 w 613"/>
                <a:gd name="T87" fmla="*/ 323987973 h 679"/>
                <a:gd name="T88" fmla="*/ 651663029 w 613"/>
                <a:gd name="T89" fmla="*/ 347296266 h 679"/>
                <a:gd name="T90" fmla="*/ 547516133 w 613"/>
                <a:gd name="T91" fmla="*/ 361280937 h 679"/>
                <a:gd name="T92" fmla="*/ 437418182 w 613"/>
                <a:gd name="T93" fmla="*/ 363612224 h 679"/>
                <a:gd name="T94" fmla="*/ 328807118 w 613"/>
                <a:gd name="T95" fmla="*/ 356619889 h 679"/>
                <a:gd name="T96" fmla="*/ 227635293 w 613"/>
                <a:gd name="T97" fmla="*/ 340303931 h 679"/>
                <a:gd name="T98" fmla="*/ 139854027 w 613"/>
                <a:gd name="T99" fmla="*/ 314664350 h 679"/>
                <a:gd name="T100" fmla="*/ 69927623 w 613"/>
                <a:gd name="T101" fmla="*/ 279701146 h 679"/>
                <a:gd name="T102" fmla="*/ 22316733 w 613"/>
                <a:gd name="T103" fmla="*/ 240076894 h 679"/>
                <a:gd name="T104" fmla="*/ 1488107 w 613"/>
                <a:gd name="T105" fmla="*/ 198121307 h 67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613"/>
                <a:gd name="T160" fmla="*/ 0 h 679"/>
                <a:gd name="T161" fmla="*/ 613 w 613"/>
                <a:gd name="T162" fmla="*/ 679 h 67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613" h="679">
                  <a:moveTo>
                    <a:pt x="0" y="78"/>
                  </a:moveTo>
                  <a:lnTo>
                    <a:pt x="1" y="72"/>
                  </a:lnTo>
                  <a:lnTo>
                    <a:pt x="4" y="66"/>
                  </a:lnTo>
                  <a:lnTo>
                    <a:pt x="9" y="60"/>
                  </a:lnTo>
                  <a:lnTo>
                    <a:pt x="15" y="53"/>
                  </a:lnTo>
                  <a:lnTo>
                    <a:pt x="24" y="48"/>
                  </a:lnTo>
                  <a:lnTo>
                    <a:pt x="35" y="42"/>
                  </a:lnTo>
                  <a:lnTo>
                    <a:pt x="47" y="37"/>
                  </a:lnTo>
                  <a:lnTo>
                    <a:pt x="61" y="31"/>
                  </a:lnTo>
                  <a:lnTo>
                    <a:pt x="77" y="26"/>
                  </a:lnTo>
                  <a:lnTo>
                    <a:pt x="94" y="22"/>
                  </a:lnTo>
                  <a:lnTo>
                    <a:pt x="113" y="18"/>
                  </a:lnTo>
                  <a:lnTo>
                    <a:pt x="132" y="14"/>
                  </a:lnTo>
                  <a:lnTo>
                    <a:pt x="153" y="11"/>
                  </a:lnTo>
                  <a:lnTo>
                    <a:pt x="175" y="7"/>
                  </a:lnTo>
                  <a:lnTo>
                    <a:pt x="198" y="5"/>
                  </a:lnTo>
                  <a:lnTo>
                    <a:pt x="221" y="3"/>
                  </a:lnTo>
                  <a:lnTo>
                    <a:pt x="245" y="2"/>
                  </a:lnTo>
                  <a:lnTo>
                    <a:pt x="269" y="0"/>
                  </a:lnTo>
                  <a:lnTo>
                    <a:pt x="294" y="0"/>
                  </a:lnTo>
                  <a:lnTo>
                    <a:pt x="319" y="0"/>
                  </a:lnTo>
                  <a:lnTo>
                    <a:pt x="344" y="0"/>
                  </a:lnTo>
                  <a:lnTo>
                    <a:pt x="368" y="2"/>
                  </a:lnTo>
                  <a:lnTo>
                    <a:pt x="392" y="3"/>
                  </a:lnTo>
                  <a:lnTo>
                    <a:pt x="415" y="5"/>
                  </a:lnTo>
                  <a:lnTo>
                    <a:pt x="438" y="7"/>
                  </a:lnTo>
                  <a:lnTo>
                    <a:pt x="460" y="11"/>
                  </a:lnTo>
                  <a:lnTo>
                    <a:pt x="481" y="14"/>
                  </a:lnTo>
                  <a:lnTo>
                    <a:pt x="501" y="18"/>
                  </a:lnTo>
                  <a:lnTo>
                    <a:pt x="519" y="22"/>
                  </a:lnTo>
                  <a:lnTo>
                    <a:pt x="536" y="26"/>
                  </a:lnTo>
                  <a:lnTo>
                    <a:pt x="552" y="31"/>
                  </a:lnTo>
                  <a:lnTo>
                    <a:pt x="566" y="37"/>
                  </a:lnTo>
                  <a:lnTo>
                    <a:pt x="578" y="42"/>
                  </a:lnTo>
                  <a:lnTo>
                    <a:pt x="589" y="48"/>
                  </a:lnTo>
                  <a:lnTo>
                    <a:pt x="598" y="53"/>
                  </a:lnTo>
                  <a:lnTo>
                    <a:pt x="604" y="60"/>
                  </a:lnTo>
                  <a:lnTo>
                    <a:pt x="610" y="66"/>
                  </a:lnTo>
                  <a:lnTo>
                    <a:pt x="612" y="72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  <a:moveTo>
                    <a:pt x="0" y="78"/>
                  </a:moveTo>
                  <a:lnTo>
                    <a:pt x="0" y="601"/>
                  </a:lnTo>
                  <a:lnTo>
                    <a:pt x="1" y="607"/>
                  </a:lnTo>
                  <a:lnTo>
                    <a:pt x="4" y="613"/>
                  </a:lnTo>
                  <a:lnTo>
                    <a:pt x="9" y="619"/>
                  </a:lnTo>
                  <a:lnTo>
                    <a:pt x="15" y="625"/>
                  </a:lnTo>
                  <a:lnTo>
                    <a:pt x="24" y="631"/>
                  </a:lnTo>
                  <a:lnTo>
                    <a:pt x="35" y="637"/>
                  </a:lnTo>
                  <a:lnTo>
                    <a:pt x="47" y="642"/>
                  </a:lnTo>
                  <a:lnTo>
                    <a:pt x="61" y="648"/>
                  </a:lnTo>
                  <a:lnTo>
                    <a:pt x="77" y="652"/>
                  </a:lnTo>
                  <a:lnTo>
                    <a:pt x="94" y="657"/>
                  </a:lnTo>
                  <a:lnTo>
                    <a:pt x="113" y="661"/>
                  </a:lnTo>
                  <a:lnTo>
                    <a:pt x="132" y="665"/>
                  </a:lnTo>
                  <a:lnTo>
                    <a:pt x="153" y="668"/>
                  </a:lnTo>
                  <a:lnTo>
                    <a:pt x="175" y="671"/>
                  </a:lnTo>
                  <a:lnTo>
                    <a:pt x="198" y="674"/>
                  </a:lnTo>
                  <a:lnTo>
                    <a:pt x="221" y="676"/>
                  </a:lnTo>
                  <a:lnTo>
                    <a:pt x="245" y="677"/>
                  </a:lnTo>
                  <a:lnTo>
                    <a:pt x="269" y="678"/>
                  </a:lnTo>
                  <a:lnTo>
                    <a:pt x="294" y="679"/>
                  </a:lnTo>
                  <a:lnTo>
                    <a:pt x="319" y="679"/>
                  </a:lnTo>
                  <a:lnTo>
                    <a:pt x="344" y="678"/>
                  </a:lnTo>
                  <a:lnTo>
                    <a:pt x="368" y="677"/>
                  </a:lnTo>
                  <a:lnTo>
                    <a:pt x="392" y="676"/>
                  </a:lnTo>
                  <a:lnTo>
                    <a:pt x="415" y="674"/>
                  </a:lnTo>
                  <a:lnTo>
                    <a:pt x="438" y="671"/>
                  </a:lnTo>
                  <a:lnTo>
                    <a:pt x="460" y="668"/>
                  </a:lnTo>
                  <a:lnTo>
                    <a:pt x="481" y="665"/>
                  </a:lnTo>
                  <a:lnTo>
                    <a:pt x="501" y="661"/>
                  </a:lnTo>
                  <a:lnTo>
                    <a:pt x="519" y="657"/>
                  </a:lnTo>
                  <a:lnTo>
                    <a:pt x="536" y="652"/>
                  </a:lnTo>
                  <a:lnTo>
                    <a:pt x="552" y="648"/>
                  </a:lnTo>
                  <a:lnTo>
                    <a:pt x="566" y="642"/>
                  </a:lnTo>
                  <a:lnTo>
                    <a:pt x="578" y="637"/>
                  </a:lnTo>
                  <a:lnTo>
                    <a:pt x="589" y="631"/>
                  </a:lnTo>
                  <a:lnTo>
                    <a:pt x="598" y="625"/>
                  </a:lnTo>
                  <a:lnTo>
                    <a:pt x="604" y="619"/>
                  </a:lnTo>
                  <a:lnTo>
                    <a:pt x="610" y="613"/>
                  </a:lnTo>
                  <a:lnTo>
                    <a:pt x="612" y="607"/>
                  </a:lnTo>
                  <a:lnTo>
                    <a:pt x="613" y="601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2400" b="1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.BAR file</a:t>
              </a:r>
              <a:endParaRPr lang="en-US" sz="3600" b="1" dirty="0">
                <a:solidFill>
                  <a:srgbClr val="006600"/>
                </a:solidFill>
                <a:highlight>
                  <a:srgbClr val="00FFFF"/>
                </a:highlight>
                <a:latin typeface="Times New Roman" pitchFamily="18" charset="0"/>
              </a:endParaRPr>
            </a:p>
          </p:txBody>
        </p:sp>
        <p:sp>
          <p:nvSpPr>
            <p:cNvPr id="60" name="Freeform 9">
              <a:extLst>
                <a:ext uri="{FF2B5EF4-FFF2-40B4-BE49-F238E27FC236}">
                  <a16:creationId xmlns:a16="http://schemas.microsoft.com/office/drawing/2014/main" id="{932C699C-61ED-B963-A275-0FAD096D71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4666" y="5665059"/>
              <a:ext cx="1543166" cy="2324098"/>
            </a:xfrm>
            <a:custGeom>
              <a:avLst/>
              <a:gdLst>
                <a:gd name="T0" fmla="*/ 5951210 w 613"/>
                <a:gd name="T1" fmla="*/ 153836007 h 679"/>
                <a:gd name="T2" fmla="*/ 35707255 w 613"/>
                <a:gd name="T3" fmla="*/ 111880468 h 679"/>
                <a:gd name="T4" fmla="*/ 90756259 w 613"/>
                <a:gd name="T5" fmla="*/ 72256192 h 679"/>
                <a:gd name="T6" fmla="*/ 168123216 w 613"/>
                <a:gd name="T7" fmla="*/ 41955551 h 679"/>
                <a:gd name="T8" fmla="*/ 260367544 w 613"/>
                <a:gd name="T9" fmla="*/ 16315964 h 679"/>
                <a:gd name="T10" fmla="*/ 364514364 w 613"/>
                <a:gd name="T11" fmla="*/ 4661050 h 679"/>
                <a:gd name="T12" fmla="*/ 474612315 w 613"/>
                <a:gd name="T13" fmla="*/ 0 h 679"/>
                <a:gd name="T14" fmla="*/ 583223379 w 613"/>
                <a:gd name="T15" fmla="*/ 6992338 h 679"/>
                <a:gd name="T16" fmla="*/ 684395281 w 613"/>
                <a:gd name="T17" fmla="*/ 25639593 h 679"/>
                <a:gd name="T18" fmla="*/ 772176508 w 613"/>
                <a:gd name="T19" fmla="*/ 51279186 h 679"/>
                <a:gd name="T20" fmla="*/ 842102893 w 613"/>
                <a:gd name="T21" fmla="*/ 86240863 h 679"/>
                <a:gd name="T22" fmla="*/ 889713773 w 613"/>
                <a:gd name="T23" fmla="*/ 123535378 h 679"/>
                <a:gd name="T24" fmla="*/ 910542390 w 613"/>
                <a:gd name="T25" fmla="*/ 167820678 h 679"/>
                <a:gd name="T26" fmla="*/ 907567396 w 613"/>
                <a:gd name="T27" fmla="*/ 212107552 h 679"/>
                <a:gd name="T28" fmla="*/ 876323251 w 613"/>
                <a:gd name="T29" fmla="*/ 254063092 h 679"/>
                <a:gd name="T30" fmla="*/ 821274276 w 613"/>
                <a:gd name="T31" fmla="*/ 291356056 h 679"/>
                <a:gd name="T32" fmla="*/ 745395464 w 613"/>
                <a:gd name="T33" fmla="*/ 323987973 h 679"/>
                <a:gd name="T34" fmla="*/ 651663029 w 613"/>
                <a:gd name="T35" fmla="*/ 347296266 h 679"/>
                <a:gd name="T36" fmla="*/ 547516133 w 613"/>
                <a:gd name="T37" fmla="*/ 361280937 h 679"/>
                <a:gd name="T38" fmla="*/ 437418182 w 613"/>
                <a:gd name="T39" fmla="*/ 363612224 h 679"/>
                <a:gd name="T40" fmla="*/ 328807118 w 613"/>
                <a:gd name="T41" fmla="*/ 356619889 h 679"/>
                <a:gd name="T42" fmla="*/ 227635293 w 613"/>
                <a:gd name="T43" fmla="*/ 340303931 h 679"/>
                <a:gd name="T44" fmla="*/ 139854027 w 613"/>
                <a:gd name="T45" fmla="*/ 314664350 h 679"/>
                <a:gd name="T46" fmla="*/ 69927623 w 613"/>
                <a:gd name="T47" fmla="*/ 279701146 h 679"/>
                <a:gd name="T48" fmla="*/ 22316733 w 613"/>
                <a:gd name="T49" fmla="*/ 240076894 h 679"/>
                <a:gd name="T50" fmla="*/ 1488107 w 613"/>
                <a:gd name="T51" fmla="*/ 198121307 h 679"/>
                <a:gd name="T52" fmla="*/ 0 w 613"/>
                <a:gd name="T53" fmla="*/ 1400839975 h 679"/>
                <a:gd name="T54" fmla="*/ 13390527 w 613"/>
                <a:gd name="T55" fmla="*/ 1442793988 h 679"/>
                <a:gd name="T56" fmla="*/ 52074001 w 613"/>
                <a:gd name="T57" fmla="*/ 1484749527 h 679"/>
                <a:gd name="T58" fmla="*/ 114562310 w 613"/>
                <a:gd name="T59" fmla="*/ 1519712731 h 679"/>
                <a:gd name="T60" fmla="*/ 196391148 w 613"/>
                <a:gd name="T61" fmla="*/ 1550013360 h 679"/>
                <a:gd name="T62" fmla="*/ 294586683 w 613"/>
                <a:gd name="T63" fmla="*/ 1570990366 h 679"/>
                <a:gd name="T64" fmla="*/ 400222829 w 613"/>
                <a:gd name="T65" fmla="*/ 1580313989 h 679"/>
                <a:gd name="T66" fmla="*/ 511807667 w 613"/>
                <a:gd name="T67" fmla="*/ 1580313989 h 679"/>
                <a:gd name="T68" fmla="*/ 617442518 w 613"/>
                <a:gd name="T69" fmla="*/ 1570990366 h 679"/>
                <a:gd name="T70" fmla="*/ 715639426 w 613"/>
                <a:gd name="T71" fmla="*/ 1550013360 h 679"/>
                <a:gd name="T72" fmla="*/ 797469445 w 613"/>
                <a:gd name="T73" fmla="*/ 1519712731 h 679"/>
                <a:gd name="T74" fmla="*/ 859956515 w 613"/>
                <a:gd name="T75" fmla="*/ 1484749527 h 679"/>
                <a:gd name="T76" fmla="*/ 898639975 w 613"/>
                <a:gd name="T77" fmla="*/ 1442793988 h 679"/>
                <a:gd name="T78" fmla="*/ 912030497 w 613"/>
                <a:gd name="T79" fmla="*/ 1400839975 h 679"/>
                <a:gd name="T80" fmla="*/ 907567396 w 613"/>
                <a:gd name="T81" fmla="*/ 212107552 h 679"/>
                <a:gd name="T82" fmla="*/ 876323251 w 613"/>
                <a:gd name="T83" fmla="*/ 254063092 h 679"/>
                <a:gd name="T84" fmla="*/ 821274276 w 613"/>
                <a:gd name="T85" fmla="*/ 291356056 h 679"/>
                <a:gd name="T86" fmla="*/ 745395464 w 613"/>
                <a:gd name="T87" fmla="*/ 323987973 h 679"/>
                <a:gd name="T88" fmla="*/ 651663029 w 613"/>
                <a:gd name="T89" fmla="*/ 347296266 h 679"/>
                <a:gd name="T90" fmla="*/ 547516133 w 613"/>
                <a:gd name="T91" fmla="*/ 361280937 h 679"/>
                <a:gd name="T92" fmla="*/ 437418182 w 613"/>
                <a:gd name="T93" fmla="*/ 363612224 h 679"/>
                <a:gd name="T94" fmla="*/ 328807118 w 613"/>
                <a:gd name="T95" fmla="*/ 356619889 h 679"/>
                <a:gd name="T96" fmla="*/ 227635293 w 613"/>
                <a:gd name="T97" fmla="*/ 340303931 h 679"/>
                <a:gd name="T98" fmla="*/ 139854027 w 613"/>
                <a:gd name="T99" fmla="*/ 314664350 h 679"/>
                <a:gd name="T100" fmla="*/ 69927623 w 613"/>
                <a:gd name="T101" fmla="*/ 279701146 h 679"/>
                <a:gd name="T102" fmla="*/ 22316733 w 613"/>
                <a:gd name="T103" fmla="*/ 240076894 h 679"/>
                <a:gd name="T104" fmla="*/ 1488107 w 613"/>
                <a:gd name="T105" fmla="*/ 198121307 h 67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613"/>
                <a:gd name="T160" fmla="*/ 0 h 679"/>
                <a:gd name="T161" fmla="*/ 613 w 613"/>
                <a:gd name="T162" fmla="*/ 679 h 67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613" h="679">
                  <a:moveTo>
                    <a:pt x="0" y="78"/>
                  </a:moveTo>
                  <a:lnTo>
                    <a:pt x="1" y="72"/>
                  </a:lnTo>
                  <a:lnTo>
                    <a:pt x="4" y="66"/>
                  </a:lnTo>
                  <a:lnTo>
                    <a:pt x="9" y="60"/>
                  </a:lnTo>
                  <a:lnTo>
                    <a:pt x="15" y="53"/>
                  </a:lnTo>
                  <a:lnTo>
                    <a:pt x="24" y="48"/>
                  </a:lnTo>
                  <a:lnTo>
                    <a:pt x="35" y="42"/>
                  </a:lnTo>
                  <a:lnTo>
                    <a:pt x="47" y="37"/>
                  </a:lnTo>
                  <a:lnTo>
                    <a:pt x="61" y="31"/>
                  </a:lnTo>
                  <a:lnTo>
                    <a:pt x="77" y="26"/>
                  </a:lnTo>
                  <a:lnTo>
                    <a:pt x="94" y="22"/>
                  </a:lnTo>
                  <a:lnTo>
                    <a:pt x="113" y="18"/>
                  </a:lnTo>
                  <a:lnTo>
                    <a:pt x="132" y="14"/>
                  </a:lnTo>
                  <a:lnTo>
                    <a:pt x="153" y="11"/>
                  </a:lnTo>
                  <a:lnTo>
                    <a:pt x="175" y="7"/>
                  </a:lnTo>
                  <a:lnTo>
                    <a:pt x="198" y="5"/>
                  </a:lnTo>
                  <a:lnTo>
                    <a:pt x="221" y="3"/>
                  </a:lnTo>
                  <a:lnTo>
                    <a:pt x="245" y="2"/>
                  </a:lnTo>
                  <a:lnTo>
                    <a:pt x="269" y="0"/>
                  </a:lnTo>
                  <a:lnTo>
                    <a:pt x="294" y="0"/>
                  </a:lnTo>
                  <a:lnTo>
                    <a:pt x="319" y="0"/>
                  </a:lnTo>
                  <a:lnTo>
                    <a:pt x="344" y="0"/>
                  </a:lnTo>
                  <a:lnTo>
                    <a:pt x="368" y="2"/>
                  </a:lnTo>
                  <a:lnTo>
                    <a:pt x="392" y="3"/>
                  </a:lnTo>
                  <a:lnTo>
                    <a:pt x="415" y="5"/>
                  </a:lnTo>
                  <a:lnTo>
                    <a:pt x="438" y="7"/>
                  </a:lnTo>
                  <a:lnTo>
                    <a:pt x="460" y="11"/>
                  </a:lnTo>
                  <a:lnTo>
                    <a:pt x="481" y="14"/>
                  </a:lnTo>
                  <a:lnTo>
                    <a:pt x="501" y="18"/>
                  </a:lnTo>
                  <a:lnTo>
                    <a:pt x="519" y="22"/>
                  </a:lnTo>
                  <a:lnTo>
                    <a:pt x="536" y="26"/>
                  </a:lnTo>
                  <a:lnTo>
                    <a:pt x="552" y="31"/>
                  </a:lnTo>
                  <a:lnTo>
                    <a:pt x="566" y="37"/>
                  </a:lnTo>
                  <a:lnTo>
                    <a:pt x="578" y="42"/>
                  </a:lnTo>
                  <a:lnTo>
                    <a:pt x="589" y="48"/>
                  </a:lnTo>
                  <a:lnTo>
                    <a:pt x="598" y="53"/>
                  </a:lnTo>
                  <a:lnTo>
                    <a:pt x="604" y="60"/>
                  </a:lnTo>
                  <a:lnTo>
                    <a:pt x="610" y="66"/>
                  </a:lnTo>
                  <a:lnTo>
                    <a:pt x="612" y="72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  <a:moveTo>
                    <a:pt x="0" y="78"/>
                  </a:moveTo>
                  <a:lnTo>
                    <a:pt x="0" y="601"/>
                  </a:lnTo>
                  <a:lnTo>
                    <a:pt x="1" y="607"/>
                  </a:lnTo>
                  <a:lnTo>
                    <a:pt x="4" y="613"/>
                  </a:lnTo>
                  <a:lnTo>
                    <a:pt x="9" y="619"/>
                  </a:lnTo>
                  <a:lnTo>
                    <a:pt x="15" y="625"/>
                  </a:lnTo>
                  <a:lnTo>
                    <a:pt x="24" y="631"/>
                  </a:lnTo>
                  <a:lnTo>
                    <a:pt x="35" y="637"/>
                  </a:lnTo>
                  <a:lnTo>
                    <a:pt x="47" y="642"/>
                  </a:lnTo>
                  <a:lnTo>
                    <a:pt x="61" y="648"/>
                  </a:lnTo>
                  <a:lnTo>
                    <a:pt x="77" y="652"/>
                  </a:lnTo>
                  <a:lnTo>
                    <a:pt x="94" y="657"/>
                  </a:lnTo>
                  <a:lnTo>
                    <a:pt x="113" y="661"/>
                  </a:lnTo>
                  <a:lnTo>
                    <a:pt x="132" y="665"/>
                  </a:lnTo>
                  <a:lnTo>
                    <a:pt x="153" y="668"/>
                  </a:lnTo>
                  <a:lnTo>
                    <a:pt x="175" y="671"/>
                  </a:lnTo>
                  <a:lnTo>
                    <a:pt x="198" y="674"/>
                  </a:lnTo>
                  <a:lnTo>
                    <a:pt x="221" y="676"/>
                  </a:lnTo>
                  <a:lnTo>
                    <a:pt x="245" y="677"/>
                  </a:lnTo>
                  <a:lnTo>
                    <a:pt x="269" y="678"/>
                  </a:lnTo>
                  <a:lnTo>
                    <a:pt x="294" y="679"/>
                  </a:lnTo>
                  <a:lnTo>
                    <a:pt x="319" y="679"/>
                  </a:lnTo>
                  <a:lnTo>
                    <a:pt x="344" y="678"/>
                  </a:lnTo>
                  <a:lnTo>
                    <a:pt x="368" y="677"/>
                  </a:lnTo>
                  <a:lnTo>
                    <a:pt x="392" y="676"/>
                  </a:lnTo>
                  <a:lnTo>
                    <a:pt x="415" y="674"/>
                  </a:lnTo>
                  <a:lnTo>
                    <a:pt x="438" y="671"/>
                  </a:lnTo>
                  <a:lnTo>
                    <a:pt x="460" y="668"/>
                  </a:lnTo>
                  <a:lnTo>
                    <a:pt x="481" y="665"/>
                  </a:lnTo>
                  <a:lnTo>
                    <a:pt x="501" y="661"/>
                  </a:lnTo>
                  <a:lnTo>
                    <a:pt x="519" y="657"/>
                  </a:lnTo>
                  <a:lnTo>
                    <a:pt x="536" y="652"/>
                  </a:lnTo>
                  <a:lnTo>
                    <a:pt x="552" y="648"/>
                  </a:lnTo>
                  <a:lnTo>
                    <a:pt x="566" y="642"/>
                  </a:lnTo>
                  <a:lnTo>
                    <a:pt x="578" y="637"/>
                  </a:lnTo>
                  <a:lnTo>
                    <a:pt x="589" y="631"/>
                  </a:lnTo>
                  <a:lnTo>
                    <a:pt x="598" y="625"/>
                  </a:lnTo>
                  <a:lnTo>
                    <a:pt x="604" y="619"/>
                  </a:lnTo>
                  <a:lnTo>
                    <a:pt x="610" y="613"/>
                  </a:lnTo>
                  <a:lnTo>
                    <a:pt x="612" y="607"/>
                  </a:lnTo>
                  <a:lnTo>
                    <a:pt x="613" y="601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2400" b="1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.BAR file</a:t>
              </a:r>
              <a:endParaRPr lang="en-US" sz="3600" b="1" dirty="0">
                <a:solidFill>
                  <a:srgbClr val="006600"/>
                </a:solidFill>
                <a:highlight>
                  <a:srgbClr val="00FFFF"/>
                </a:highlight>
                <a:latin typeface="Times New Roman" pitchFamily="18" charset="0"/>
              </a:endParaRPr>
            </a:p>
          </p:txBody>
        </p:sp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59213317-52C6-AF7D-A3F6-7BEAAC0B72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8831" y="5909667"/>
              <a:ext cx="1543166" cy="2324098"/>
            </a:xfrm>
            <a:custGeom>
              <a:avLst/>
              <a:gdLst>
                <a:gd name="T0" fmla="*/ 5951210 w 613"/>
                <a:gd name="T1" fmla="*/ 153836007 h 679"/>
                <a:gd name="T2" fmla="*/ 35707255 w 613"/>
                <a:gd name="T3" fmla="*/ 111880468 h 679"/>
                <a:gd name="T4" fmla="*/ 90756259 w 613"/>
                <a:gd name="T5" fmla="*/ 72256192 h 679"/>
                <a:gd name="T6" fmla="*/ 168123216 w 613"/>
                <a:gd name="T7" fmla="*/ 41955551 h 679"/>
                <a:gd name="T8" fmla="*/ 260367544 w 613"/>
                <a:gd name="T9" fmla="*/ 16315964 h 679"/>
                <a:gd name="T10" fmla="*/ 364514364 w 613"/>
                <a:gd name="T11" fmla="*/ 4661050 h 679"/>
                <a:gd name="T12" fmla="*/ 474612315 w 613"/>
                <a:gd name="T13" fmla="*/ 0 h 679"/>
                <a:gd name="T14" fmla="*/ 583223379 w 613"/>
                <a:gd name="T15" fmla="*/ 6992338 h 679"/>
                <a:gd name="T16" fmla="*/ 684395281 w 613"/>
                <a:gd name="T17" fmla="*/ 25639593 h 679"/>
                <a:gd name="T18" fmla="*/ 772176508 w 613"/>
                <a:gd name="T19" fmla="*/ 51279186 h 679"/>
                <a:gd name="T20" fmla="*/ 842102893 w 613"/>
                <a:gd name="T21" fmla="*/ 86240863 h 679"/>
                <a:gd name="T22" fmla="*/ 889713773 w 613"/>
                <a:gd name="T23" fmla="*/ 123535378 h 679"/>
                <a:gd name="T24" fmla="*/ 910542390 w 613"/>
                <a:gd name="T25" fmla="*/ 167820678 h 679"/>
                <a:gd name="T26" fmla="*/ 907567396 w 613"/>
                <a:gd name="T27" fmla="*/ 212107552 h 679"/>
                <a:gd name="T28" fmla="*/ 876323251 w 613"/>
                <a:gd name="T29" fmla="*/ 254063092 h 679"/>
                <a:gd name="T30" fmla="*/ 821274276 w 613"/>
                <a:gd name="T31" fmla="*/ 291356056 h 679"/>
                <a:gd name="T32" fmla="*/ 745395464 w 613"/>
                <a:gd name="T33" fmla="*/ 323987973 h 679"/>
                <a:gd name="T34" fmla="*/ 651663029 w 613"/>
                <a:gd name="T35" fmla="*/ 347296266 h 679"/>
                <a:gd name="T36" fmla="*/ 547516133 w 613"/>
                <a:gd name="T37" fmla="*/ 361280937 h 679"/>
                <a:gd name="T38" fmla="*/ 437418182 w 613"/>
                <a:gd name="T39" fmla="*/ 363612224 h 679"/>
                <a:gd name="T40" fmla="*/ 328807118 w 613"/>
                <a:gd name="T41" fmla="*/ 356619889 h 679"/>
                <a:gd name="T42" fmla="*/ 227635293 w 613"/>
                <a:gd name="T43" fmla="*/ 340303931 h 679"/>
                <a:gd name="T44" fmla="*/ 139854027 w 613"/>
                <a:gd name="T45" fmla="*/ 314664350 h 679"/>
                <a:gd name="T46" fmla="*/ 69927623 w 613"/>
                <a:gd name="T47" fmla="*/ 279701146 h 679"/>
                <a:gd name="T48" fmla="*/ 22316733 w 613"/>
                <a:gd name="T49" fmla="*/ 240076894 h 679"/>
                <a:gd name="T50" fmla="*/ 1488107 w 613"/>
                <a:gd name="T51" fmla="*/ 198121307 h 679"/>
                <a:gd name="T52" fmla="*/ 0 w 613"/>
                <a:gd name="T53" fmla="*/ 1400839975 h 679"/>
                <a:gd name="T54" fmla="*/ 13390527 w 613"/>
                <a:gd name="T55" fmla="*/ 1442793988 h 679"/>
                <a:gd name="T56" fmla="*/ 52074001 w 613"/>
                <a:gd name="T57" fmla="*/ 1484749527 h 679"/>
                <a:gd name="T58" fmla="*/ 114562310 w 613"/>
                <a:gd name="T59" fmla="*/ 1519712731 h 679"/>
                <a:gd name="T60" fmla="*/ 196391148 w 613"/>
                <a:gd name="T61" fmla="*/ 1550013360 h 679"/>
                <a:gd name="T62" fmla="*/ 294586683 w 613"/>
                <a:gd name="T63" fmla="*/ 1570990366 h 679"/>
                <a:gd name="T64" fmla="*/ 400222829 w 613"/>
                <a:gd name="T65" fmla="*/ 1580313989 h 679"/>
                <a:gd name="T66" fmla="*/ 511807667 w 613"/>
                <a:gd name="T67" fmla="*/ 1580313989 h 679"/>
                <a:gd name="T68" fmla="*/ 617442518 w 613"/>
                <a:gd name="T69" fmla="*/ 1570990366 h 679"/>
                <a:gd name="T70" fmla="*/ 715639426 w 613"/>
                <a:gd name="T71" fmla="*/ 1550013360 h 679"/>
                <a:gd name="T72" fmla="*/ 797469445 w 613"/>
                <a:gd name="T73" fmla="*/ 1519712731 h 679"/>
                <a:gd name="T74" fmla="*/ 859956515 w 613"/>
                <a:gd name="T75" fmla="*/ 1484749527 h 679"/>
                <a:gd name="T76" fmla="*/ 898639975 w 613"/>
                <a:gd name="T77" fmla="*/ 1442793988 h 679"/>
                <a:gd name="T78" fmla="*/ 912030497 w 613"/>
                <a:gd name="T79" fmla="*/ 1400839975 h 679"/>
                <a:gd name="T80" fmla="*/ 907567396 w 613"/>
                <a:gd name="T81" fmla="*/ 212107552 h 679"/>
                <a:gd name="T82" fmla="*/ 876323251 w 613"/>
                <a:gd name="T83" fmla="*/ 254063092 h 679"/>
                <a:gd name="T84" fmla="*/ 821274276 w 613"/>
                <a:gd name="T85" fmla="*/ 291356056 h 679"/>
                <a:gd name="T86" fmla="*/ 745395464 w 613"/>
                <a:gd name="T87" fmla="*/ 323987973 h 679"/>
                <a:gd name="T88" fmla="*/ 651663029 w 613"/>
                <a:gd name="T89" fmla="*/ 347296266 h 679"/>
                <a:gd name="T90" fmla="*/ 547516133 w 613"/>
                <a:gd name="T91" fmla="*/ 361280937 h 679"/>
                <a:gd name="T92" fmla="*/ 437418182 w 613"/>
                <a:gd name="T93" fmla="*/ 363612224 h 679"/>
                <a:gd name="T94" fmla="*/ 328807118 w 613"/>
                <a:gd name="T95" fmla="*/ 356619889 h 679"/>
                <a:gd name="T96" fmla="*/ 227635293 w 613"/>
                <a:gd name="T97" fmla="*/ 340303931 h 679"/>
                <a:gd name="T98" fmla="*/ 139854027 w 613"/>
                <a:gd name="T99" fmla="*/ 314664350 h 679"/>
                <a:gd name="T100" fmla="*/ 69927623 w 613"/>
                <a:gd name="T101" fmla="*/ 279701146 h 679"/>
                <a:gd name="T102" fmla="*/ 22316733 w 613"/>
                <a:gd name="T103" fmla="*/ 240076894 h 679"/>
                <a:gd name="T104" fmla="*/ 1488107 w 613"/>
                <a:gd name="T105" fmla="*/ 198121307 h 67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613"/>
                <a:gd name="T160" fmla="*/ 0 h 679"/>
                <a:gd name="T161" fmla="*/ 613 w 613"/>
                <a:gd name="T162" fmla="*/ 679 h 67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613" h="679">
                  <a:moveTo>
                    <a:pt x="0" y="78"/>
                  </a:moveTo>
                  <a:lnTo>
                    <a:pt x="1" y="72"/>
                  </a:lnTo>
                  <a:lnTo>
                    <a:pt x="4" y="66"/>
                  </a:lnTo>
                  <a:lnTo>
                    <a:pt x="9" y="60"/>
                  </a:lnTo>
                  <a:lnTo>
                    <a:pt x="15" y="53"/>
                  </a:lnTo>
                  <a:lnTo>
                    <a:pt x="24" y="48"/>
                  </a:lnTo>
                  <a:lnTo>
                    <a:pt x="35" y="42"/>
                  </a:lnTo>
                  <a:lnTo>
                    <a:pt x="47" y="37"/>
                  </a:lnTo>
                  <a:lnTo>
                    <a:pt x="61" y="31"/>
                  </a:lnTo>
                  <a:lnTo>
                    <a:pt x="77" y="26"/>
                  </a:lnTo>
                  <a:lnTo>
                    <a:pt x="94" y="22"/>
                  </a:lnTo>
                  <a:lnTo>
                    <a:pt x="113" y="18"/>
                  </a:lnTo>
                  <a:lnTo>
                    <a:pt x="132" y="14"/>
                  </a:lnTo>
                  <a:lnTo>
                    <a:pt x="153" y="11"/>
                  </a:lnTo>
                  <a:lnTo>
                    <a:pt x="175" y="7"/>
                  </a:lnTo>
                  <a:lnTo>
                    <a:pt x="198" y="5"/>
                  </a:lnTo>
                  <a:lnTo>
                    <a:pt x="221" y="3"/>
                  </a:lnTo>
                  <a:lnTo>
                    <a:pt x="245" y="2"/>
                  </a:lnTo>
                  <a:lnTo>
                    <a:pt x="269" y="0"/>
                  </a:lnTo>
                  <a:lnTo>
                    <a:pt x="294" y="0"/>
                  </a:lnTo>
                  <a:lnTo>
                    <a:pt x="319" y="0"/>
                  </a:lnTo>
                  <a:lnTo>
                    <a:pt x="344" y="0"/>
                  </a:lnTo>
                  <a:lnTo>
                    <a:pt x="368" y="2"/>
                  </a:lnTo>
                  <a:lnTo>
                    <a:pt x="392" y="3"/>
                  </a:lnTo>
                  <a:lnTo>
                    <a:pt x="415" y="5"/>
                  </a:lnTo>
                  <a:lnTo>
                    <a:pt x="438" y="7"/>
                  </a:lnTo>
                  <a:lnTo>
                    <a:pt x="460" y="11"/>
                  </a:lnTo>
                  <a:lnTo>
                    <a:pt x="481" y="14"/>
                  </a:lnTo>
                  <a:lnTo>
                    <a:pt x="501" y="18"/>
                  </a:lnTo>
                  <a:lnTo>
                    <a:pt x="519" y="22"/>
                  </a:lnTo>
                  <a:lnTo>
                    <a:pt x="536" y="26"/>
                  </a:lnTo>
                  <a:lnTo>
                    <a:pt x="552" y="31"/>
                  </a:lnTo>
                  <a:lnTo>
                    <a:pt x="566" y="37"/>
                  </a:lnTo>
                  <a:lnTo>
                    <a:pt x="578" y="42"/>
                  </a:lnTo>
                  <a:lnTo>
                    <a:pt x="589" y="48"/>
                  </a:lnTo>
                  <a:lnTo>
                    <a:pt x="598" y="53"/>
                  </a:lnTo>
                  <a:lnTo>
                    <a:pt x="604" y="60"/>
                  </a:lnTo>
                  <a:lnTo>
                    <a:pt x="610" y="66"/>
                  </a:lnTo>
                  <a:lnTo>
                    <a:pt x="612" y="72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  <a:moveTo>
                    <a:pt x="0" y="78"/>
                  </a:moveTo>
                  <a:lnTo>
                    <a:pt x="0" y="601"/>
                  </a:lnTo>
                  <a:lnTo>
                    <a:pt x="1" y="607"/>
                  </a:lnTo>
                  <a:lnTo>
                    <a:pt x="4" y="613"/>
                  </a:lnTo>
                  <a:lnTo>
                    <a:pt x="9" y="619"/>
                  </a:lnTo>
                  <a:lnTo>
                    <a:pt x="15" y="625"/>
                  </a:lnTo>
                  <a:lnTo>
                    <a:pt x="24" y="631"/>
                  </a:lnTo>
                  <a:lnTo>
                    <a:pt x="35" y="637"/>
                  </a:lnTo>
                  <a:lnTo>
                    <a:pt x="47" y="642"/>
                  </a:lnTo>
                  <a:lnTo>
                    <a:pt x="61" y="648"/>
                  </a:lnTo>
                  <a:lnTo>
                    <a:pt x="77" y="652"/>
                  </a:lnTo>
                  <a:lnTo>
                    <a:pt x="94" y="657"/>
                  </a:lnTo>
                  <a:lnTo>
                    <a:pt x="113" y="661"/>
                  </a:lnTo>
                  <a:lnTo>
                    <a:pt x="132" y="665"/>
                  </a:lnTo>
                  <a:lnTo>
                    <a:pt x="153" y="668"/>
                  </a:lnTo>
                  <a:lnTo>
                    <a:pt x="175" y="671"/>
                  </a:lnTo>
                  <a:lnTo>
                    <a:pt x="198" y="674"/>
                  </a:lnTo>
                  <a:lnTo>
                    <a:pt x="221" y="676"/>
                  </a:lnTo>
                  <a:lnTo>
                    <a:pt x="245" y="677"/>
                  </a:lnTo>
                  <a:lnTo>
                    <a:pt x="269" y="678"/>
                  </a:lnTo>
                  <a:lnTo>
                    <a:pt x="294" y="679"/>
                  </a:lnTo>
                  <a:lnTo>
                    <a:pt x="319" y="679"/>
                  </a:lnTo>
                  <a:lnTo>
                    <a:pt x="344" y="678"/>
                  </a:lnTo>
                  <a:lnTo>
                    <a:pt x="368" y="677"/>
                  </a:lnTo>
                  <a:lnTo>
                    <a:pt x="392" y="676"/>
                  </a:lnTo>
                  <a:lnTo>
                    <a:pt x="415" y="674"/>
                  </a:lnTo>
                  <a:lnTo>
                    <a:pt x="438" y="671"/>
                  </a:lnTo>
                  <a:lnTo>
                    <a:pt x="460" y="668"/>
                  </a:lnTo>
                  <a:lnTo>
                    <a:pt x="481" y="665"/>
                  </a:lnTo>
                  <a:lnTo>
                    <a:pt x="501" y="661"/>
                  </a:lnTo>
                  <a:lnTo>
                    <a:pt x="519" y="657"/>
                  </a:lnTo>
                  <a:lnTo>
                    <a:pt x="536" y="652"/>
                  </a:lnTo>
                  <a:lnTo>
                    <a:pt x="552" y="648"/>
                  </a:lnTo>
                  <a:lnTo>
                    <a:pt x="566" y="642"/>
                  </a:lnTo>
                  <a:lnTo>
                    <a:pt x="578" y="637"/>
                  </a:lnTo>
                  <a:lnTo>
                    <a:pt x="589" y="631"/>
                  </a:lnTo>
                  <a:lnTo>
                    <a:pt x="598" y="625"/>
                  </a:lnTo>
                  <a:lnTo>
                    <a:pt x="604" y="619"/>
                  </a:lnTo>
                  <a:lnTo>
                    <a:pt x="610" y="613"/>
                  </a:lnTo>
                  <a:lnTo>
                    <a:pt x="612" y="607"/>
                  </a:lnTo>
                  <a:lnTo>
                    <a:pt x="613" y="601"/>
                  </a:lnTo>
                  <a:lnTo>
                    <a:pt x="613" y="78"/>
                  </a:lnTo>
                  <a:lnTo>
                    <a:pt x="612" y="85"/>
                  </a:lnTo>
                  <a:lnTo>
                    <a:pt x="610" y="91"/>
                  </a:lnTo>
                  <a:lnTo>
                    <a:pt x="604" y="97"/>
                  </a:lnTo>
                  <a:lnTo>
                    <a:pt x="598" y="103"/>
                  </a:lnTo>
                  <a:lnTo>
                    <a:pt x="589" y="109"/>
                  </a:lnTo>
                  <a:lnTo>
                    <a:pt x="578" y="115"/>
                  </a:lnTo>
                  <a:lnTo>
                    <a:pt x="566" y="120"/>
                  </a:lnTo>
                  <a:lnTo>
                    <a:pt x="552" y="125"/>
                  </a:lnTo>
                  <a:lnTo>
                    <a:pt x="536" y="130"/>
                  </a:lnTo>
                  <a:lnTo>
                    <a:pt x="519" y="135"/>
                  </a:lnTo>
                  <a:lnTo>
                    <a:pt x="501" y="139"/>
                  </a:lnTo>
                  <a:lnTo>
                    <a:pt x="481" y="143"/>
                  </a:lnTo>
                  <a:lnTo>
                    <a:pt x="460" y="146"/>
                  </a:lnTo>
                  <a:lnTo>
                    <a:pt x="438" y="149"/>
                  </a:lnTo>
                  <a:lnTo>
                    <a:pt x="415" y="152"/>
                  </a:lnTo>
                  <a:lnTo>
                    <a:pt x="392" y="153"/>
                  </a:lnTo>
                  <a:lnTo>
                    <a:pt x="368" y="155"/>
                  </a:lnTo>
                  <a:lnTo>
                    <a:pt x="344" y="156"/>
                  </a:lnTo>
                  <a:lnTo>
                    <a:pt x="319" y="156"/>
                  </a:lnTo>
                  <a:lnTo>
                    <a:pt x="294" y="156"/>
                  </a:lnTo>
                  <a:lnTo>
                    <a:pt x="269" y="156"/>
                  </a:lnTo>
                  <a:lnTo>
                    <a:pt x="245" y="155"/>
                  </a:lnTo>
                  <a:lnTo>
                    <a:pt x="221" y="153"/>
                  </a:lnTo>
                  <a:lnTo>
                    <a:pt x="198" y="152"/>
                  </a:lnTo>
                  <a:lnTo>
                    <a:pt x="175" y="149"/>
                  </a:lnTo>
                  <a:lnTo>
                    <a:pt x="153" y="146"/>
                  </a:lnTo>
                  <a:lnTo>
                    <a:pt x="132" y="143"/>
                  </a:lnTo>
                  <a:lnTo>
                    <a:pt x="113" y="139"/>
                  </a:lnTo>
                  <a:lnTo>
                    <a:pt x="94" y="135"/>
                  </a:lnTo>
                  <a:lnTo>
                    <a:pt x="77" y="130"/>
                  </a:lnTo>
                  <a:lnTo>
                    <a:pt x="61" y="125"/>
                  </a:lnTo>
                  <a:lnTo>
                    <a:pt x="47" y="120"/>
                  </a:lnTo>
                  <a:lnTo>
                    <a:pt x="35" y="115"/>
                  </a:lnTo>
                  <a:lnTo>
                    <a:pt x="24" y="109"/>
                  </a:lnTo>
                  <a:lnTo>
                    <a:pt x="15" y="103"/>
                  </a:lnTo>
                  <a:lnTo>
                    <a:pt x="9" y="97"/>
                  </a:lnTo>
                  <a:lnTo>
                    <a:pt x="4" y="91"/>
                  </a:lnTo>
                  <a:lnTo>
                    <a:pt x="1" y="85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928688">
                <a:spcBef>
                  <a:spcPct val="50000"/>
                </a:spcBef>
                <a:buClrTx/>
                <a:buFontTx/>
                <a:buNone/>
              </a:pPr>
              <a:r>
                <a:rPr lang="en-US" sz="2400" b="1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.BAR file</a:t>
              </a:r>
              <a:endParaRPr lang="en-US" sz="3600" b="1" dirty="0">
                <a:solidFill>
                  <a:srgbClr val="006600"/>
                </a:solidFill>
                <a:highlight>
                  <a:srgbClr val="00FFFF"/>
                </a:highlight>
                <a:latin typeface="Times New Roman" pitchFamily="18" charset="0"/>
              </a:endParaRPr>
            </a:p>
          </p:txBody>
        </p:sp>
      </p:grp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3E48A4-736C-7E60-C7BF-8B9E075F722B}"/>
              </a:ext>
            </a:extLst>
          </p:cNvPr>
          <p:cNvSpPr/>
          <p:nvPr/>
        </p:nvSpPr>
        <p:spPr>
          <a:xfrm>
            <a:off x="1940452" y="3794615"/>
            <a:ext cx="3541402" cy="10497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App Connect Dashboard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032" name="Right Brace 1031">
            <a:extLst>
              <a:ext uri="{FF2B5EF4-FFF2-40B4-BE49-F238E27FC236}">
                <a16:creationId xmlns:a16="http://schemas.microsoft.com/office/drawing/2014/main" id="{AEE8BAAD-1AEF-6B37-8BDB-3B1E44C655DC}"/>
              </a:ext>
            </a:extLst>
          </p:cNvPr>
          <p:cNvSpPr/>
          <p:nvPr/>
        </p:nvSpPr>
        <p:spPr>
          <a:xfrm>
            <a:off x="5391116" y="3631158"/>
            <a:ext cx="513903" cy="134618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EE9440FF-39BC-1E65-64EE-CAA4075695AD}"/>
              </a:ext>
            </a:extLst>
          </p:cNvPr>
          <p:cNvSpPr/>
          <p:nvPr/>
        </p:nvSpPr>
        <p:spPr>
          <a:xfrm>
            <a:off x="14853491" y="8617683"/>
            <a:ext cx="2713733" cy="44158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dirty="0">
                <a:solidFill>
                  <a:schemeClr val="tx1"/>
                </a:solidFill>
              </a:rPr>
              <a:t>Secrets</a:t>
            </a: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51030D3E-1F2D-25FE-8A8D-ED7B5C56B144}"/>
              </a:ext>
            </a:extLst>
          </p:cNvPr>
          <p:cNvSpPr/>
          <p:nvPr/>
        </p:nvSpPr>
        <p:spPr>
          <a:xfrm>
            <a:off x="11930751" y="8617684"/>
            <a:ext cx="2713733" cy="44170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dirty="0" err="1">
                <a:solidFill>
                  <a:schemeClr val="tx1"/>
                </a:solidFill>
              </a:rPr>
              <a:t>Configurations</a:t>
            </a:r>
            <a:endParaRPr lang="pt-BR" sz="1600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6EB3E92F-E744-07E5-AF81-8C55BF4AE6A2}"/>
              </a:ext>
            </a:extLst>
          </p:cNvPr>
          <p:cNvSpPr/>
          <p:nvPr/>
        </p:nvSpPr>
        <p:spPr>
          <a:xfrm>
            <a:off x="12563647" y="6746363"/>
            <a:ext cx="1774788" cy="7295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dirty="0">
                <a:solidFill>
                  <a:schemeClr val="tx1"/>
                </a:solidFill>
              </a:rPr>
              <a:t>URL</a:t>
            </a:r>
          </a:p>
          <a:p>
            <a:r>
              <a:rPr lang="pt-BR" sz="1600" b="1" dirty="0">
                <a:solidFill>
                  <a:schemeClr val="tx1"/>
                </a:solidFill>
                <a:highlight>
                  <a:srgbClr val="00FFFF"/>
                </a:highlight>
              </a:rPr>
              <a:t>.BAR</a:t>
            </a:r>
            <a:endParaRPr lang="en-US" sz="2400" b="1" dirty="0">
              <a:solidFill>
                <a:srgbClr val="006600"/>
              </a:solidFill>
              <a:highlight>
                <a:srgbClr val="00FFFF"/>
              </a:highlight>
              <a:latin typeface="Times New Roman" pitchFamily="18" charset="0"/>
            </a:endParaRPr>
          </a:p>
        </p:txBody>
      </p: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BB052889-2BA4-82C1-9123-6E364F180EC4}"/>
              </a:ext>
            </a:extLst>
          </p:cNvPr>
          <p:cNvGrpSpPr/>
          <p:nvPr/>
        </p:nvGrpSpPr>
        <p:grpSpPr>
          <a:xfrm>
            <a:off x="6049809" y="6828670"/>
            <a:ext cx="1933429" cy="1109142"/>
            <a:chOff x="6049809" y="7760991"/>
            <a:chExt cx="1933429" cy="1448683"/>
          </a:xfrm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F89887B7-FC47-B830-32A2-57E1015A2C7E}"/>
                </a:ext>
              </a:extLst>
            </p:cNvPr>
            <p:cNvSpPr/>
            <p:nvPr/>
          </p:nvSpPr>
          <p:spPr>
            <a:xfrm>
              <a:off x="6049809" y="7760991"/>
              <a:ext cx="1525428" cy="10252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tx1"/>
                  </a:solidFill>
                  <a:highlight>
                    <a:srgbClr val="00FFFF"/>
                  </a:highlight>
                </a:rPr>
                <a:t>Overrides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C6B35FE1-3F5A-8103-2EE9-6055139FA77C}"/>
                </a:ext>
              </a:extLst>
            </p:cNvPr>
            <p:cNvSpPr/>
            <p:nvPr/>
          </p:nvSpPr>
          <p:spPr>
            <a:xfrm>
              <a:off x="6234007" y="7970345"/>
              <a:ext cx="1525428" cy="10252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tx1"/>
                  </a:solidFill>
                  <a:highlight>
                    <a:srgbClr val="00FFFF"/>
                  </a:highlight>
                </a:rPr>
                <a:t>Overrides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C1730887-F2ED-183A-AB97-81A538B44E36}"/>
                </a:ext>
              </a:extLst>
            </p:cNvPr>
            <p:cNvSpPr/>
            <p:nvPr/>
          </p:nvSpPr>
          <p:spPr>
            <a:xfrm>
              <a:off x="6457810" y="8184411"/>
              <a:ext cx="1525428" cy="10252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tx1"/>
                  </a:solidFill>
                  <a:highlight>
                    <a:srgbClr val="00FFFF"/>
                  </a:highlight>
                </a:rPr>
                <a:t>Overrides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A43CD41-557D-5A8A-B3DD-72D0C6806B61}"/>
              </a:ext>
            </a:extLst>
          </p:cNvPr>
          <p:cNvSpPr/>
          <p:nvPr/>
        </p:nvSpPr>
        <p:spPr>
          <a:xfrm>
            <a:off x="19081497" y="8617683"/>
            <a:ext cx="1774788" cy="27269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600" dirty="0" err="1">
                <a:solidFill>
                  <a:schemeClr val="tx1"/>
                </a:solidFill>
              </a:rPr>
              <a:t>Configurations</a:t>
            </a:r>
            <a:endParaRPr lang="pt-BR" sz="1600" dirty="0">
              <a:solidFill>
                <a:schemeClr val="tx1"/>
              </a:solidFill>
            </a:endParaRPr>
          </a:p>
          <a:p>
            <a:r>
              <a:rPr lang="en-US" sz="1600" b="1" dirty="0" err="1">
                <a:solidFill>
                  <a:schemeClr val="tx1"/>
                </a:solidFill>
                <a:highlight>
                  <a:srgbClr val="00FFFF"/>
                </a:highlight>
              </a:rPr>
              <a:t>Setdbparm</a:t>
            </a:r>
            <a:endParaRPr lang="en-US" sz="1600" b="1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</a:rPr>
              <a:t>Policy</a:t>
            </a:r>
          </a:p>
          <a:p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</a:rPr>
              <a:t>db2cli.ini</a:t>
            </a:r>
          </a:p>
          <a:p>
            <a:r>
              <a:rPr lang="en-US" sz="1600" b="1" dirty="0" err="1">
                <a:solidFill>
                  <a:schemeClr val="tx1"/>
                </a:solidFill>
                <a:highlight>
                  <a:srgbClr val="00FFFF"/>
                </a:highlight>
              </a:rPr>
              <a:t>ccdt</a:t>
            </a:r>
            <a:endParaRPr lang="en-US" sz="1600" b="1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endParaRPr lang="en-US" sz="1600" b="1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endParaRPr lang="en-US" sz="1600" b="1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CB8999-3125-61F2-96C2-4256B848BCFD}"/>
              </a:ext>
            </a:extLst>
          </p:cNvPr>
          <p:cNvSpPr/>
          <p:nvPr/>
        </p:nvSpPr>
        <p:spPr>
          <a:xfrm>
            <a:off x="12048174" y="8948691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odbc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ini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-configuration</a:t>
            </a:r>
            <a:r>
              <a:rPr lang="en-US" sz="1050" b="1" dirty="0">
                <a:solidFill>
                  <a:schemeClr val="tx1"/>
                </a:solidFill>
              </a:rPr>
              <a:t> (data)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C12FD-8B7F-E733-B13C-EE65F1FC38AF}"/>
              </a:ext>
            </a:extLst>
          </p:cNvPr>
          <p:cNvSpPr/>
          <p:nvPr/>
        </p:nvSpPr>
        <p:spPr>
          <a:xfrm>
            <a:off x="14998741" y="9529505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{CI-CD}-keystore-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jks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-secret</a:t>
            </a:r>
            <a:r>
              <a:rPr lang="en-US" sz="1050" b="1" dirty="0">
                <a:solidFill>
                  <a:schemeClr val="tx1"/>
                </a:solidFill>
              </a:rPr>
              <a:t> (file)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C4D370-A549-F76B-C40E-65874BDC5296}"/>
              </a:ext>
            </a:extLst>
          </p:cNvPr>
          <p:cNvSpPr/>
          <p:nvPr/>
        </p:nvSpPr>
        <p:spPr>
          <a:xfrm>
            <a:off x="12048174" y="9529505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{CI-CD}-keystore-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jks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-configuration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7B2EE7-A2C6-334F-BA77-2C9D0B0DA7FB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>
            <a:off x="14527060" y="9714807"/>
            <a:ext cx="471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B3923-017D-FF5D-BF1A-D79AC53F3ACB}"/>
              </a:ext>
            </a:extLst>
          </p:cNvPr>
          <p:cNvSpPr/>
          <p:nvPr/>
        </p:nvSpPr>
        <p:spPr>
          <a:xfrm>
            <a:off x="14998741" y="10083531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truststore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jks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-secret</a:t>
            </a:r>
            <a:r>
              <a:rPr lang="en-US" sz="1050" b="1" dirty="0">
                <a:solidFill>
                  <a:schemeClr val="tx1"/>
                </a:solidFill>
              </a:rPr>
              <a:t> (file)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92A84B-E55E-A661-C448-0D8A31460CD6}"/>
              </a:ext>
            </a:extLst>
          </p:cNvPr>
          <p:cNvSpPr/>
          <p:nvPr/>
        </p:nvSpPr>
        <p:spPr>
          <a:xfrm>
            <a:off x="12048174" y="10083531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truststore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jks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-configuration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CF058D-FF05-B8FA-9D15-68E3AB6B98D8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>
            <a:off x="14527060" y="10268833"/>
            <a:ext cx="471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123EF1C-14FA-D7CF-169F-82BE69F5EC02}"/>
              </a:ext>
            </a:extLst>
          </p:cNvPr>
          <p:cNvSpPr/>
          <p:nvPr/>
        </p:nvSpPr>
        <p:spPr>
          <a:xfrm>
            <a:off x="12048174" y="10634720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{CI-CD}-server-conf-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yaml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-configuration</a:t>
            </a:r>
            <a:r>
              <a:rPr lang="en-US" sz="1050" b="1" dirty="0">
                <a:solidFill>
                  <a:schemeClr val="tx1"/>
                </a:solidFill>
              </a:rPr>
              <a:t> (data)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AB47F8-0E62-C723-8CAB-554540E286A5}"/>
              </a:ext>
            </a:extLst>
          </p:cNvPr>
          <p:cNvSpPr/>
          <p:nvPr/>
        </p:nvSpPr>
        <p:spPr>
          <a:xfrm>
            <a:off x="14998741" y="11185909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setdbparms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-secret</a:t>
            </a:r>
            <a:r>
              <a:rPr lang="en-US" sz="1050" b="1" dirty="0">
                <a:solidFill>
                  <a:schemeClr val="tx1"/>
                </a:solidFill>
              </a:rPr>
              <a:t> (file)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62C714-90C4-5B9A-52AC-CE4A899DF240}"/>
              </a:ext>
            </a:extLst>
          </p:cNvPr>
          <p:cNvSpPr/>
          <p:nvPr/>
        </p:nvSpPr>
        <p:spPr>
          <a:xfrm>
            <a:off x="12048174" y="11185909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setdbparms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-configuration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7EE0D8-C5B1-92AE-2849-FDD92C3AD56A}"/>
              </a:ext>
            </a:extLst>
          </p:cNvPr>
          <p:cNvCxnSpPr>
            <a:cxnSpLocks/>
            <a:stCxn id="32" idx="3"/>
            <a:endCxn id="31" idx="1"/>
          </p:cNvCxnSpPr>
          <p:nvPr/>
        </p:nvCxnSpPr>
        <p:spPr>
          <a:xfrm>
            <a:off x="14527060" y="11371211"/>
            <a:ext cx="471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9D4613E-68E5-08AE-31E0-95DF23FFA349}"/>
              </a:ext>
            </a:extLst>
          </p:cNvPr>
          <p:cNvSpPr/>
          <p:nvPr/>
        </p:nvSpPr>
        <p:spPr>
          <a:xfrm>
            <a:off x="14998741" y="12396490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?-ace-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ir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-secret-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   </a:t>
            </a:r>
          </a:p>
          <a:p>
            <a:r>
              <a:rPr lang="en-US" sz="1050" b="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 {SCM}-repo-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barauth</a:t>
            </a:r>
            <a:r>
              <a:rPr lang="en-US" sz="1050" b="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-secret</a:t>
            </a:r>
            <a:endParaRPr lang="en-US" sz="105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2AA8DD-60E4-A9FB-02D5-EAE213496E54}"/>
              </a:ext>
            </a:extLst>
          </p:cNvPr>
          <p:cNvSpPr/>
          <p:nvPr/>
        </p:nvSpPr>
        <p:spPr>
          <a:xfrm>
            <a:off x="12048174" y="12396490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-ace-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ir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-bar-configuration </a:t>
            </a:r>
          </a:p>
          <a:p>
            <a:r>
              <a:rPr lang="en-US" sz="1050" b="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 git-repo-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barauth</a:t>
            </a:r>
            <a:r>
              <a:rPr lang="en-US" sz="1050" b="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-configuration</a:t>
            </a:r>
            <a:endParaRPr lang="en-US" sz="105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0CCDA0-8879-A4EB-67F1-F252FEF296FF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>
            <a:off x="14527060" y="12581792"/>
            <a:ext cx="471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9D01D5A-1432-FB5E-B0CF-FD76F0A68095}"/>
              </a:ext>
            </a:extLst>
          </p:cNvPr>
          <p:cNvSpPr/>
          <p:nvPr/>
        </p:nvSpPr>
        <p:spPr>
          <a:xfrm>
            <a:off x="14998741" y="11684694"/>
            <a:ext cx="2478886" cy="37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?-ace-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ir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-secret-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   </a:t>
            </a:r>
          </a:p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 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restadminssl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-secret</a:t>
            </a:r>
            <a:r>
              <a:rPr lang="en-US" sz="1050" b="1" dirty="0">
                <a:solidFill>
                  <a:schemeClr val="tx1"/>
                </a:solidFill>
                <a:sym typeface="Wingdings" panose="05000000000000000000" pitchFamily="2" charset="2"/>
              </a:rPr>
              <a:t> (file)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BCDEBB-2ADA-FC56-6B5C-30D9F1F3DC4F}"/>
              </a:ext>
            </a:extLst>
          </p:cNvPr>
          <p:cNvSpPr/>
          <p:nvPr/>
        </p:nvSpPr>
        <p:spPr>
          <a:xfrm>
            <a:off x="12040554" y="11684694"/>
            <a:ext cx="2478886" cy="3532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-ace-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ir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-config-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adminssl</a:t>
            </a:r>
            <a:endParaRPr lang="en-US" sz="1050" b="1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 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</a:rPr>
              <a:t>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-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restadminssl</a:t>
            </a:r>
            <a:r>
              <a:rPr lang="en-US" sz="1050" b="1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-configuration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984B93-8707-04B3-2940-0D12466542FD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>
            <a:off x="14519440" y="11861300"/>
            <a:ext cx="479301" cy="8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61458DB-BA8F-67AF-7947-2363E8A4FDC3}"/>
              </a:ext>
            </a:extLst>
          </p:cNvPr>
          <p:cNvSpPr/>
          <p:nvPr/>
        </p:nvSpPr>
        <p:spPr>
          <a:xfrm>
            <a:off x="12002454" y="12333847"/>
            <a:ext cx="6583743" cy="525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</a:rPr>
              <a:t>{SCM}-</a:t>
            </a:r>
          </a:p>
          <a:p>
            <a:pPr algn="r"/>
            <a:r>
              <a:rPr lang="pt-BR" sz="1200" dirty="0">
                <a:solidFill>
                  <a:schemeClr val="tx1"/>
                </a:solidFill>
              </a:rPr>
              <a:t>GIT</a:t>
            </a:r>
          </a:p>
          <a:p>
            <a:pPr algn="r"/>
            <a:r>
              <a:rPr lang="pt-BR" sz="1200" dirty="0">
                <a:solidFill>
                  <a:schemeClr val="tx1"/>
                </a:solidFill>
              </a:rPr>
              <a:t>Ou SVM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5E7174-EE50-E3F1-519C-F70D4B96A480}"/>
              </a:ext>
            </a:extLst>
          </p:cNvPr>
          <p:cNvSpPr/>
          <p:nvPr/>
        </p:nvSpPr>
        <p:spPr>
          <a:xfrm>
            <a:off x="12002454" y="8866811"/>
            <a:ext cx="6583743" cy="3280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tx1"/>
                </a:solidFill>
                <a:highlight>
                  <a:srgbClr val="00FFFF"/>
                </a:highlight>
              </a:rPr>
              <a:t>{CI-CD}-</a:t>
            </a:r>
            <a:endParaRPr lang="pt-BR" sz="1200" dirty="0">
              <a:solidFill>
                <a:schemeClr val="tx1"/>
              </a:solidFill>
            </a:endParaRPr>
          </a:p>
          <a:p>
            <a:pPr algn="r"/>
            <a:r>
              <a:rPr lang="pt-BR" sz="1200" dirty="0">
                <a:solidFill>
                  <a:schemeClr val="tx1"/>
                </a:solidFill>
              </a:rPr>
              <a:t>ACE-IS-x</a:t>
            </a:r>
          </a:p>
          <a:p>
            <a:pPr algn="r"/>
            <a:r>
              <a:rPr lang="pt-BR" sz="1200" dirty="0">
                <a:solidFill>
                  <a:schemeClr val="tx1"/>
                </a:solidFill>
              </a:rPr>
              <a:t>Ou </a:t>
            </a:r>
          </a:p>
          <a:p>
            <a:pPr algn="r"/>
            <a:r>
              <a:rPr lang="pt-BR" sz="1200" dirty="0">
                <a:solidFill>
                  <a:schemeClr val="tx1"/>
                </a:solidFill>
              </a:rPr>
              <a:t>ACE-IR-y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18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675316-F32C-84B7-4852-1A4691871821}"/>
              </a:ext>
            </a:extLst>
          </p:cNvPr>
          <p:cNvSpPr>
            <a:spLocks/>
          </p:cNvSpPr>
          <p:nvPr/>
        </p:nvSpPr>
        <p:spPr>
          <a:xfrm>
            <a:off x="10532290" y="2084200"/>
            <a:ext cx="13266771" cy="108865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Platform </a:t>
            </a:r>
            <a:r>
              <a:rPr lang="pt-BR" sz="3600" dirty="0" err="1">
                <a:solidFill>
                  <a:schemeClr val="tx1"/>
                </a:solidFill>
              </a:rPr>
              <a:t>Navigator</a:t>
            </a:r>
            <a:endParaRPr lang="pt-BR" sz="3600" dirty="0">
              <a:solidFill>
                <a:schemeClr val="tx1"/>
              </a:solidFill>
            </a:endParaRPr>
          </a:p>
          <a:p>
            <a:pPr algn="just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21BCF-FD0E-10C1-EA68-44704BAEB458}"/>
              </a:ext>
            </a:extLst>
          </p:cNvPr>
          <p:cNvSpPr>
            <a:spLocks/>
          </p:cNvSpPr>
          <p:nvPr/>
        </p:nvSpPr>
        <p:spPr>
          <a:xfrm>
            <a:off x="927839" y="7711604"/>
            <a:ext cx="9108302" cy="5259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Integration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Runtime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809F0-8E1C-DDA9-420E-7144E38487CF}"/>
              </a:ext>
            </a:extLst>
          </p:cNvPr>
          <p:cNvSpPr>
            <a:spLocks/>
          </p:cNvSpPr>
          <p:nvPr/>
        </p:nvSpPr>
        <p:spPr>
          <a:xfrm>
            <a:off x="927839" y="2084200"/>
            <a:ext cx="9108302" cy="5259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Integration</a:t>
            </a:r>
            <a:r>
              <a:rPr lang="pt-BR" sz="3600" dirty="0">
                <a:solidFill>
                  <a:schemeClr val="tx1"/>
                </a:solidFill>
              </a:rPr>
              <a:t> Server</a:t>
            </a:r>
          </a:p>
          <a:p>
            <a:pPr algn="just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575806" cy="2263961"/>
          </a:xfrm>
        </p:spPr>
        <p:txBody>
          <a:bodyPr>
            <a:normAutofit/>
          </a:bodyPr>
          <a:lstStyle/>
          <a:p>
            <a:r>
              <a:rPr lang="pt-BR" sz="8000" dirty="0"/>
              <a:t>OCP/CP4I - </a:t>
            </a:r>
            <a:r>
              <a:rPr lang="pt-BR" sz="8000" dirty="0" err="1"/>
              <a:t>I.Server</a:t>
            </a:r>
            <a:r>
              <a:rPr lang="pt-BR" sz="8000" dirty="0"/>
              <a:t>, </a:t>
            </a:r>
            <a:r>
              <a:rPr lang="pt-BR" sz="8000" dirty="0" err="1"/>
              <a:t>I.Runtime</a:t>
            </a:r>
            <a:r>
              <a:rPr lang="pt-BR" sz="8000" dirty="0"/>
              <a:t>, </a:t>
            </a:r>
            <a:r>
              <a:rPr lang="pt-BR" sz="8000" dirty="0" err="1"/>
              <a:t>I.Dashboard</a:t>
            </a:r>
            <a:r>
              <a:rPr lang="pt-BR" sz="8000" dirty="0"/>
              <a:t> e </a:t>
            </a:r>
            <a:r>
              <a:rPr lang="pt-BR" sz="8000" dirty="0" err="1"/>
              <a:t>I.Design</a:t>
            </a:r>
            <a:endParaRPr lang="pt-BR" sz="8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16A6B9-4A74-AD31-F743-DCDD535A8429}"/>
              </a:ext>
            </a:extLst>
          </p:cNvPr>
          <p:cNvSpPr txBox="1"/>
          <p:nvPr/>
        </p:nvSpPr>
        <p:spPr>
          <a:xfrm>
            <a:off x="179294" y="13172518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https://www.ibm.com/docs/en/app-connect/containers_cd?topic=resources-integration-server-reference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3"/>
              </a:rPr>
              <a:t>https://www.ibm.com/docs/en/app-connect/containers_cd?topic=resources-integration-runtime-reference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4"/>
              </a:rPr>
              <a:t>https://www.ibm.com/docs/en/app-connect/containers_cd?topic=runtimes-barauth-type</a:t>
            </a:r>
            <a:r>
              <a:rPr lang="en-US" sz="11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6B481D-09CA-9A26-3E83-920586064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054" y="2735449"/>
            <a:ext cx="12945242" cy="10025720"/>
          </a:xfrm>
          <a:prstGeom prst="rect">
            <a:avLst/>
          </a:prstGeom>
        </p:spPr>
      </p:pic>
      <p:pic>
        <p:nvPicPr>
          <p:cNvPr id="3074" name="Picture 2" descr="Click a tile to choose an integration size and type">
            <a:extLst>
              <a:ext uri="{FF2B5EF4-FFF2-40B4-BE49-F238E27FC236}">
                <a16:creationId xmlns:a16="http://schemas.microsoft.com/office/drawing/2014/main" id="{0DB94C20-7A3C-262E-7C26-C1FC1620F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9" y="8407456"/>
            <a:ext cx="8524874" cy="427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&quot;Deploy integrations&quot; button on the Servers page in the App Connect Dashboard">
            <a:extLst>
              <a:ext uri="{FF2B5EF4-FFF2-40B4-BE49-F238E27FC236}">
                <a16:creationId xmlns:a16="http://schemas.microsoft.com/office/drawing/2014/main" id="{1BE4E03E-0E81-0B6A-CE0F-E305D7634E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3"/>
          <a:stretch/>
        </p:blipFill>
        <p:spPr bwMode="auto">
          <a:xfrm>
            <a:off x="1423988" y="2735449"/>
            <a:ext cx="8524875" cy="438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FE190B-448E-2229-21C9-2598CDDE776F}"/>
              </a:ext>
            </a:extLst>
          </p:cNvPr>
          <p:cNvSpPr/>
          <p:nvPr/>
        </p:nvSpPr>
        <p:spPr>
          <a:xfrm>
            <a:off x="14058900" y="10248900"/>
            <a:ext cx="6153150" cy="2000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427E7D-5762-22B0-86A0-2E02AB54D405}"/>
              </a:ext>
            </a:extLst>
          </p:cNvPr>
          <p:cNvSpPr/>
          <p:nvPr/>
        </p:nvSpPr>
        <p:spPr>
          <a:xfrm>
            <a:off x="2095500" y="4818482"/>
            <a:ext cx="1981200" cy="2153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472DA4-31AD-C9E0-13C0-AD8B7810F38F}"/>
              </a:ext>
            </a:extLst>
          </p:cNvPr>
          <p:cNvSpPr/>
          <p:nvPr/>
        </p:nvSpPr>
        <p:spPr>
          <a:xfrm>
            <a:off x="1905000" y="10455588"/>
            <a:ext cx="7886700" cy="19269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59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675316-F32C-84B7-4852-1A4691871821}"/>
              </a:ext>
            </a:extLst>
          </p:cNvPr>
          <p:cNvSpPr>
            <a:spLocks/>
          </p:cNvSpPr>
          <p:nvPr/>
        </p:nvSpPr>
        <p:spPr>
          <a:xfrm>
            <a:off x="10532290" y="2084200"/>
            <a:ext cx="13266771" cy="108865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 “</a:t>
            </a:r>
            <a:r>
              <a:rPr lang="pt-BR" sz="3600" dirty="0" err="1">
                <a:solidFill>
                  <a:schemeClr val="tx1"/>
                </a:solidFill>
              </a:rPr>
              <a:t>WebAdmin</a:t>
            </a:r>
            <a:r>
              <a:rPr lang="pt-BR" sz="3600" dirty="0">
                <a:solidFill>
                  <a:schemeClr val="tx1"/>
                </a:solidFill>
              </a:rPr>
              <a:t>” (via Dashboard)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21BCF-FD0E-10C1-EA68-44704BAEB458}"/>
              </a:ext>
            </a:extLst>
          </p:cNvPr>
          <p:cNvSpPr>
            <a:spLocks/>
          </p:cNvSpPr>
          <p:nvPr/>
        </p:nvSpPr>
        <p:spPr>
          <a:xfrm>
            <a:off x="927839" y="7711604"/>
            <a:ext cx="9108302" cy="5259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Dashboard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809F0-8E1C-DDA9-420E-7144E38487CF}"/>
              </a:ext>
            </a:extLst>
          </p:cNvPr>
          <p:cNvSpPr>
            <a:spLocks/>
          </p:cNvSpPr>
          <p:nvPr/>
        </p:nvSpPr>
        <p:spPr>
          <a:xfrm>
            <a:off x="927839" y="2084200"/>
            <a:ext cx="9108302" cy="5259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Integration</a:t>
            </a:r>
            <a:r>
              <a:rPr lang="pt-BR" sz="3600" dirty="0">
                <a:solidFill>
                  <a:schemeClr val="tx1"/>
                </a:solidFill>
              </a:rPr>
              <a:t> Server</a:t>
            </a:r>
          </a:p>
          <a:p>
            <a:pPr algn="just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EF925-8B86-4AB9-8BF1-61B29938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575806" cy="2263961"/>
          </a:xfrm>
        </p:spPr>
        <p:txBody>
          <a:bodyPr>
            <a:normAutofit/>
          </a:bodyPr>
          <a:lstStyle/>
          <a:p>
            <a:r>
              <a:rPr lang="pt-BR" sz="8000" dirty="0"/>
              <a:t>OCP/CP4I - </a:t>
            </a:r>
            <a:r>
              <a:rPr lang="pt-BR" sz="8000" dirty="0" err="1"/>
              <a:t>I.Server</a:t>
            </a:r>
            <a:r>
              <a:rPr lang="pt-BR" sz="8000" dirty="0"/>
              <a:t>, </a:t>
            </a:r>
            <a:r>
              <a:rPr lang="pt-BR" sz="8000" dirty="0" err="1"/>
              <a:t>I.Runtime</a:t>
            </a:r>
            <a:r>
              <a:rPr lang="pt-BR" sz="8000" dirty="0"/>
              <a:t>, </a:t>
            </a:r>
            <a:r>
              <a:rPr lang="pt-BR" sz="8000" dirty="0" err="1"/>
              <a:t>I.Dashboard</a:t>
            </a:r>
            <a:r>
              <a:rPr lang="pt-BR" sz="8000" dirty="0"/>
              <a:t> e </a:t>
            </a:r>
            <a:r>
              <a:rPr lang="pt-BR" sz="8000" dirty="0" err="1"/>
              <a:t>I.Design</a:t>
            </a:r>
            <a:endParaRPr lang="pt-BR" sz="8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16A6B9-4A74-AD31-F743-DCDD535A8429}"/>
              </a:ext>
            </a:extLst>
          </p:cNvPr>
          <p:cNvSpPr txBox="1"/>
          <p:nvPr/>
        </p:nvSpPr>
        <p:spPr>
          <a:xfrm>
            <a:off x="179294" y="13172518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hlinkClick r:id="rId2"/>
              </a:rPr>
              <a:t>https://www.ibm.com/docs/en/app-connect/containers_cd?topic=resources-integration-server-reference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3"/>
              </a:rPr>
              <a:t>https://www.ibm.com/docs/en/app-connect/containers_cd?topic=resources-integration-runtime-reference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>
                <a:hlinkClick r:id="rId4"/>
              </a:rPr>
              <a:t>https://www.ibm.com/docs/en/app-connect/containers_cd?topic=runtimes-barauth-type</a:t>
            </a:r>
            <a:r>
              <a:rPr lang="en-US" sz="11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32E26-22C4-15E6-4C3A-BD677A4EA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520" y="8572403"/>
            <a:ext cx="8520961" cy="4159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5966AC-4ED2-39DC-E025-005E01423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520" y="2750000"/>
            <a:ext cx="8498940" cy="4159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C9B3E-C0FC-F69F-4EF8-06CB621C65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6231" y="2743199"/>
            <a:ext cx="12554869" cy="617542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2F49BA-9229-502D-6C15-4F30D956CCF8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5481990" y="6909169"/>
            <a:ext cx="11011" cy="16632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643E86-C54D-698B-1CDB-7A08FBF36DE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9753481" y="5830912"/>
            <a:ext cx="1092750" cy="48210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E02FD5C6-06BD-3896-CDBC-C5967D569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7764" y="7585506"/>
            <a:ext cx="10669764" cy="520802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4DF7B3-F996-649B-8AEC-488482D58883}"/>
              </a:ext>
            </a:extLst>
          </p:cNvPr>
          <p:cNvCxnSpPr>
            <a:cxnSpLocks/>
          </p:cNvCxnSpPr>
          <p:nvPr/>
        </p:nvCxnSpPr>
        <p:spPr>
          <a:xfrm>
            <a:off x="12496800" y="5793131"/>
            <a:ext cx="537882" cy="27792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82A4316-D8AF-E564-4EF9-C193D50A4E2E}"/>
              </a:ext>
            </a:extLst>
          </p:cNvPr>
          <p:cNvCxnSpPr>
            <a:cxnSpLocks/>
          </p:cNvCxnSpPr>
          <p:nvPr/>
        </p:nvCxnSpPr>
        <p:spPr>
          <a:xfrm>
            <a:off x="13056756" y="9430871"/>
            <a:ext cx="291867" cy="7586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671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" y="0"/>
            <a:ext cx="24383996" cy="315191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7712" cy="3150922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-2"/>
            <a:ext cx="24384004" cy="314862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A2BEFF-3C89-FBE9-7785-76C691C9611E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DCA846-ADE4-303D-AE91-465D2F6B67E3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4D91E92-FF92-74A3-961D-EE6B87702519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80E70F-2318-9FE4-BD43-46A9DBFBA83B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400" b="1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BCE83D8-66F8-3F23-D060-E4EF9A8E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>
            <a:normAutofit/>
          </a:bodyPr>
          <a:lstStyle/>
          <a:p>
            <a:r>
              <a:rPr lang="pt-BR" sz="8000" dirty="0">
                <a:solidFill>
                  <a:schemeClr val="bg1"/>
                </a:solidFill>
              </a:rPr>
              <a:t>Troubleshooting – ACE Data </a:t>
            </a:r>
            <a:r>
              <a:rPr lang="pt-BR" sz="8000" dirty="0" err="1">
                <a:solidFill>
                  <a:schemeClr val="bg1"/>
                </a:solidFill>
              </a:rPr>
              <a:t>Collector</a:t>
            </a:r>
            <a:endParaRPr lang="pt-BR" sz="8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0AC1E-40B0-6E0B-0B55-A14699F6F0D2}"/>
              </a:ext>
            </a:extLst>
          </p:cNvPr>
          <p:cNvSpPr txBox="1"/>
          <p:nvPr/>
        </p:nvSpPr>
        <p:spPr>
          <a:xfrm>
            <a:off x="200025" y="12962442"/>
            <a:ext cx="12195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hlinkClick r:id="rId3"/>
              </a:rPr>
              <a:t>https://www.ibm.com/support/pages/app-connect-enterprise-data-collector-script</a:t>
            </a:r>
            <a:r>
              <a:rPr lang="en-US" sz="20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4FF0B-ECF3-C4D5-B0DE-7B5832E358B8}"/>
              </a:ext>
            </a:extLst>
          </p:cNvPr>
          <p:cNvSpPr txBox="1"/>
          <p:nvPr/>
        </p:nvSpPr>
        <p:spPr>
          <a:xfrm>
            <a:off x="680310" y="3353975"/>
            <a:ext cx="19518405" cy="784830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/>
              <a:t>./</a:t>
            </a:r>
            <a:r>
              <a:rPr lang="en-US" sz="3600" dirty="0">
                <a:hlinkClick r:id="rId4"/>
              </a:rPr>
              <a:t>aceDataCollector.sh</a:t>
            </a:r>
            <a:r>
              <a:rPr lang="en-US" sz="3600" dirty="0"/>
              <a:t> -b  ACE-WORKSHOP-IN -e ACE-WORKSHOP-IS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    </a:t>
            </a:r>
            <a:r>
              <a:rPr lang="en-US" sz="3600" dirty="0" err="1"/>
              <a:t>Obs</a:t>
            </a:r>
            <a:r>
              <a:rPr lang="en-US" sz="3600" dirty="0"/>
              <a:t>: trace de IS de um IN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./</a:t>
            </a:r>
            <a:r>
              <a:rPr lang="en-US" sz="3600" dirty="0">
                <a:hlinkClick r:id="rId4"/>
              </a:rPr>
              <a:t>aceDataCollector.sh</a:t>
            </a:r>
            <a:r>
              <a:rPr lang="en-US" sz="3600" dirty="0"/>
              <a:t> -b  ACE-WORKSHOP-IN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 </a:t>
            </a:r>
            <a:r>
              <a:rPr lang="en-US" sz="3600" dirty="0" err="1"/>
              <a:t>Obs</a:t>
            </a:r>
            <a:r>
              <a:rPr lang="en-US" sz="3600" dirty="0"/>
              <a:t>: trace de IN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./</a:t>
            </a:r>
            <a:r>
              <a:rPr lang="en-US" sz="3600" dirty="0">
                <a:hlinkClick r:id="rId4"/>
              </a:rPr>
              <a:t>aceDataCollector.sh</a:t>
            </a:r>
            <a:r>
              <a:rPr lang="en-US" sz="3600" dirty="0"/>
              <a:t> –w {</a:t>
            </a:r>
            <a:r>
              <a:rPr lang="en-US" sz="3600" dirty="0" err="1"/>
              <a:t>workDir</a:t>
            </a:r>
            <a:r>
              <a:rPr lang="en-US" sz="3600" dirty="0"/>
              <a:t>}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 </a:t>
            </a:r>
            <a:r>
              <a:rPr lang="en-US" sz="3600" dirty="0" err="1"/>
              <a:t>Obs</a:t>
            </a:r>
            <a:r>
              <a:rPr lang="en-US" sz="3600" dirty="0"/>
              <a:t>: trace de 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9E3866-E9DE-4DDC-54F0-3CF054DECD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108934" y="400229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2519A9-2587-AE7C-FF4D-9EB13BD5A2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9932895" y="401214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B93CD2-ACCB-B642-BA24-17F80B0672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1108933" y="669882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61B6E6-0C90-7B4E-9BEB-C4A6D35301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108933" y="9463034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2435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" y="0"/>
            <a:ext cx="24383996" cy="315191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7712" cy="3150922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-2"/>
            <a:ext cx="24384004" cy="314862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A2BEFF-3C89-FBE9-7785-76C691C9611E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DCA846-ADE4-303D-AE91-465D2F6B67E3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4D91E92-FF92-74A3-961D-EE6B87702519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80E70F-2318-9FE4-BD43-46A9DBFBA83B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400" b="1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BCE83D8-66F8-3F23-D060-E4EF9A8E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>
            <a:normAutofit/>
          </a:bodyPr>
          <a:lstStyle/>
          <a:p>
            <a:r>
              <a:rPr lang="pt-BR" sz="8000" dirty="0">
                <a:solidFill>
                  <a:schemeClr val="bg1"/>
                </a:solidFill>
              </a:rPr>
              <a:t>Troubleshooting – Traces do 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4FF0B-ECF3-C4D5-B0DE-7B5832E358B8}"/>
              </a:ext>
            </a:extLst>
          </p:cNvPr>
          <p:cNvSpPr txBox="1"/>
          <p:nvPr/>
        </p:nvSpPr>
        <p:spPr>
          <a:xfrm>
            <a:off x="680310" y="3331500"/>
            <a:ext cx="19518405" cy="89562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/>
              <a:t>1. Start trace.</a:t>
            </a:r>
          </a:p>
          <a:p>
            <a:pPr algn="just"/>
            <a:r>
              <a:rPr lang="en-US" sz="3600" dirty="0"/>
              <a:t>    </a:t>
            </a:r>
            <a:r>
              <a:rPr lang="en-US" sz="3600" dirty="0" err="1"/>
              <a:t>mqsichangetrace</a:t>
            </a:r>
            <a:r>
              <a:rPr lang="en-US" sz="3600" dirty="0"/>
              <a:t> ACE-WORKSHOP-IN -e ACE-WORKSHOP-IS -t -l debug -r -c 2000000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2. Wait for X minutes.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3. Stop trace.</a:t>
            </a:r>
          </a:p>
          <a:p>
            <a:pPr algn="just"/>
            <a:r>
              <a:rPr lang="en-US" sz="3600" dirty="0"/>
              <a:t>    </a:t>
            </a:r>
            <a:r>
              <a:rPr lang="en-US" sz="3600" dirty="0" err="1"/>
              <a:t>mqsichangetrace</a:t>
            </a:r>
            <a:r>
              <a:rPr lang="en-US" sz="3600" dirty="0"/>
              <a:t> ACE-WORKSHOP-IN -e ACE-WORKSHOP-IS -t -l none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Traces are written to the Integration Server's work directory or the multi-user work path:</a:t>
            </a:r>
          </a:p>
          <a:p>
            <a:pPr algn="just"/>
            <a:r>
              <a:rPr lang="en-US" sz="3600" dirty="0"/>
              <a:t> - &lt;</a:t>
            </a:r>
            <a:r>
              <a:rPr lang="en-US" sz="3600" dirty="0" err="1"/>
              <a:t>workdir</a:t>
            </a:r>
            <a:r>
              <a:rPr lang="en-US" sz="3600" dirty="0"/>
              <a:t>&gt;/config/common/log</a:t>
            </a:r>
          </a:p>
          <a:p>
            <a:pPr algn="just"/>
            <a:r>
              <a:rPr lang="en-US" sz="3600" dirty="0"/>
              <a:t> - /var/</a:t>
            </a:r>
            <a:r>
              <a:rPr lang="en-US" sz="3600" dirty="0" err="1"/>
              <a:t>mqsi</a:t>
            </a:r>
            <a:r>
              <a:rPr lang="en-US" sz="3600" dirty="0"/>
              <a:t>/common/log (AIX and Linux)</a:t>
            </a:r>
          </a:p>
          <a:p>
            <a:pPr algn="just"/>
            <a:r>
              <a:rPr lang="en-US" sz="3600" dirty="0"/>
              <a:t> - C:\ProgramData\IBM\mqsi\common\log (Windows)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0AC1E-40B0-6E0B-0B55-A14699F6F0D2}"/>
              </a:ext>
            </a:extLst>
          </p:cNvPr>
          <p:cNvSpPr txBox="1"/>
          <p:nvPr/>
        </p:nvSpPr>
        <p:spPr>
          <a:xfrm>
            <a:off x="200025" y="12962442"/>
            <a:ext cx="12195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hlinkClick r:id="rId3"/>
              </a:rPr>
              <a:t>https://www.ibm.com/support/pages/collecting-service-level-trace-ace-integration-server</a:t>
            </a:r>
            <a:r>
              <a:rPr lang="en-US" sz="20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78F45-24D2-1F0C-9DD9-BD4A91882D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108934" y="461951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CCAFDD-F1A1-D2C5-638A-FEE21410EF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9932895" y="462936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0AD1C7-FA07-D4C8-CCCE-1096724E5E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3952" b="53710"/>
          <a:stretch/>
        </p:blipFill>
        <p:spPr>
          <a:xfrm>
            <a:off x="1108934" y="855143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47ED43-C17F-DC22-DF6E-30DE90A38D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82" t="45533" b="12128"/>
          <a:stretch/>
        </p:blipFill>
        <p:spPr>
          <a:xfrm>
            <a:off x="9932895" y="8561281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192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" y="0"/>
            <a:ext cx="24383996" cy="315191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7712" cy="3150922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-2"/>
            <a:ext cx="24384004" cy="314862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A2BEFF-3C89-FBE9-7785-76C691C9611E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DCA846-ADE4-303D-AE91-465D2F6B67E3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4D91E92-FF92-74A3-961D-EE6B87702519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80E70F-2318-9FE4-BD43-46A9DBFBA83B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400" b="1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BCE83D8-66F8-3F23-D060-E4EF9A8E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>
            <a:normAutofit/>
          </a:bodyPr>
          <a:lstStyle/>
          <a:p>
            <a:r>
              <a:rPr lang="pt-BR" sz="8000" dirty="0">
                <a:solidFill>
                  <a:schemeClr val="bg1"/>
                </a:solidFill>
              </a:rPr>
              <a:t>Troubleshooting – Diretórios úteis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74587B-512E-0E57-DF95-6F74E08A71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82" t="3952" b="53710"/>
          <a:stretch/>
        </p:blipFill>
        <p:spPr>
          <a:xfrm>
            <a:off x="680309" y="3499317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34FF0B-ECF3-C4D5-B0DE-7B5832E358B8}"/>
              </a:ext>
            </a:extLst>
          </p:cNvPr>
          <p:cNvSpPr txBox="1"/>
          <p:nvPr/>
        </p:nvSpPr>
        <p:spPr>
          <a:xfrm>
            <a:off x="680310" y="3331500"/>
            <a:ext cx="19518405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Log/Error</a:t>
            </a:r>
          </a:p>
          <a:p>
            <a:pPr algn="just"/>
            <a:r>
              <a:rPr lang="en-US" sz="3600" dirty="0"/>
              <a:t>    /var/log/message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b="1" dirty="0"/>
              <a:t>Logs/Traces  do ACE</a:t>
            </a:r>
          </a:p>
          <a:p>
            <a:pPr algn="just"/>
            <a:r>
              <a:rPr lang="en-US" sz="3600" dirty="0"/>
              <a:t> - &lt;</a:t>
            </a:r>
            <a:r>
              <a:rPr lang="en-US" sz="3600" dirty="0" err="1"/>
              <a:t>workdir</a:t>
            </a:r>
            <a:r>
              <a:rPr lang="en-US" sz="3600" dirty="0"/>
              <a:t>&gt;/config/common/log</a:t>
            </a:r>
          </a:p>
          <a:p>
            <a:pPr algn="just"/>
            <a:r>
              <a:rPr lang="en-US" sz="3600" dirty="0"/>
              <a:t> - /var/</a:t>
            </a:r>
            <a:r>
              <a:rPr lang="en-US" sz="3600" dirty="0" err="1"/>
              <a:t>mqsi</a:t>
            </a:r>
            <a:r>
              <a:rPr lang="en-US" sz="3600" dirty="0"/>
              <a:t>/common/log (AIX and Linux)</a:t>
            </a:r>
          </a:p>
          <a:p>
            <a:pPr algn="just"/>
            <a:r>
              <a:rPr lang="en-US" sz="3600" dirty="0"/>
              <a:t> - C:\ProgramData\IBM\mqsi\common\log (Windows)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68874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uter screen with text&#10;&#10;Description automatically generated">
            <a:extLst>
              <a:ext uri="{FF2B5EF4-FFF2-40B4-BE49-F238E27FC236}">
                <a16:creationId xmlns:a16="http://schemas.microsoft.com/office/drawing/2014/main" id="{DDB3A032-2BFA-DF98-3AF0-DACE27E9B8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73"/>
          <a:stretch/>
        </p:blipFill>
        <p:spPr>
          <a:xfrm>
            <a:off x="788891" y="2440075"/>
            <a:ext cx="22203039" cy="6596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“MQ” (para </a:t>
            </a:r>
            <a:r>
              <a:rPr lang="pt-BR" dirty="0" err="1"/>
              <a:t>policy</a:t>
            </a:r>
            <a:r>
              <a:rPr lang="pt-BR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FB455B-3928-0D08-3997-432DEF232463}"/>
              </a:ext>
            </a:extLst>
          </p:cNvPr>
          <p:cNvSpPr txBox="1"/>
          <p:nvPr/>
        </p:nvSpPr>
        <p:spPr>
          <a:xfrm>
            <a:off x="788892" y="8945981"/>
            <a:ext cx="19518405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400"/>
            </a:lvl1pPr>
          </a:lstStyle>
          <a:p>
            <a:pPr algn="just"/>
            <a:r>
              <a:rPr lang="en-US" sz="3600" dirty="0" err="1"/>
              <a:t>crtmqm</a:t>
            </a:r>
            <a:r>
              <a:rPr lang="en-US" sz="3600" dirty="0"/>
              <a:t> ACE_WORKSHOP_MQ_QM</a:t>
            </a:r>
          </a:p>
          <a:p>
            <a:pPr algn="just"/>
            <a:r>
              <a:rPr lang="en-US" sz="3600" dirty="0" err="1"/>
              <a:t>strmqm</a:t>
            </a:r>
            <a:r>
              <a:rPr lang="en-US" sz="3600" dirty="0"/>
              <a:t> ACE_WORKSHOP_MQ_QM</a:t>
            </a:r>
          </a:p>
          <a:p>
            <a:pPr algn="just"/>
            <a:r>
              <a:rPr lang="en-US" sz="3600" dirty="0" err="1"/>
              <a:t>dspmq</a:t>
            </a:r>
            <a:endParaRPr lang="en-US" sz="3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2A7A1F-951A-63CB-A81A-83CA1384B1EF}"/>
              </a:ext>
            </a:extLst>
          </p:cNvPr>
          <p:cNvGrpSpPr/>
          <p:nvPr/>
        </p:nvGrpSpPr>
        <p:grpSpPr>
          <a:xfrm>
            <a:off x="21945600" y="11256197"/>
            <a:ext cx="2357110" cy="2195458"/>
            <a:chOff x="2837001" y="5876400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7BDDAD-581D-576F-A394-93B9C511CC6B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7D554F-8883-2310-2B3E-A4C83072D9A6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056E48-F2FE-F26F-A936-3D74D69E5B32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34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3317877" y="260835"/>
            <a:ext cx="13706474" cy="6943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hangingPunct="1">
              <a:lnSpc>
                <a:spcPct val="94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GB" altLang="pt-BR" sz="4800">
                <a:solidFill>
                  <a:srgbClr val="006699"/>
                </a:solidFill>
                <a:ea typeface="MS PGothic" pitchFamily="34" charset="-128"/>
              </a:rPr>
              <a:t>Dúvidas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86800" y="3657600"/>
            <a:ext cx="5715000" cy="5715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4A3F98-2819-8F1F-9BB3-0A46F3043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17" y="11380365"/>
            <a:ext cx="1673845" cy="1589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2318AF-28B2-AC39-DFF5-55E9FBC1D739}"/>
              </a:ext>
            </a:extLst>
          </p:cNvPr>
          <p:cNvSpPr txBox="1"/>
          <p:nvPr/>
        </p:nvSpPr>
        <p:spPr>
          <a:xfrm>
            <a:off x="3081814" y="11132872"/>
            <a:ext cx="9110186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4000" dirty="0">
                <a:solidFill>
                  <a:schemeClr val="tx1"/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55 (11) 98539-4632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effectLst/>
              </a:rPr>
              <a:t>IBM Advisory Customer Success Manager Technical Specialist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Referências</a:t>
            </a:r>
            <a:endParaRPr lang="en-US" sz="9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2452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rmAutofit fontScale="90000"/>
          </a:bodyPr>
          <a:lstStyle/>
          <a:p>
            <a:r>
              <a:rPr lang="pt-BR" dirty="0"/>
              <a:t>Referências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10637" y="3552827"/>
            <a:ext cx="22969316" cy="971493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11 e ACE 12</a:t>
            </a:r>
            <a:br>
              <a:rPr lang="pt-BR" sz="3600" dirty="0"/>
            </a:br>
            <a:r>
              <a:rPr lang="pt-BR" sz="3600" dirty="0">
                <a:hlinkClick r:id="rId2"/>
              </a:rPr>
              <a:t>https://www.ibm.com/support/knowledgecenter/en/SSTTDS_12.0.0/com.ibm.ace.home.doc/help_home.htm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3"/>
              </a:rPr>
              <a:t>https://www.ibm.com/docs/en/app-connect/12.0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Comandos</a:t>
            </a:r>
            <a:br>
              <a:rPr lang="pt-BR" sz="3600" dirty="0"/>
            </a:br>
            <a:r>
              <a:rPr lang="pt-BR" sz="3600" dirty="0">
                <a:hlinkClick r:id="rId4"/>
              </a:rPr>
              <a:t>https://www.ibm.com/support/knowledgecenter/en/SSTTDS_11.0.0/com.ibm.etools.mft.doc/an07060_.html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5"/>
              </a:rPr>
              <a:t>https://www.ibm.com/docs/en/app-connect/12.0?topic=administration-app-connect-enterprise-commands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Policies overview</a:t>
            </a:r>
            <a:br>
              <a:rPr lang="pt-BR" sz="3600" dirty="0"/>
            </a:br>
            <a:r>
              <a:rPr lang="pt-BR" sz="3600" dirty="0">
                <a:hlinkClick r:id="rId6"/>
              </a:rPr>
              <a:t>https://www.ibm.com/support/knowledgecenter/SSTTDS_11.0.0/com.ibm.etools.mft.doc/py00106_.html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7"/>
              </a:rPr>
              <a:t>https://www.ibm.com/docs/en/app-connect/12.0?topic=policies-overview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FAQ, Tutorials, Performance Reports, etc</a:t>
            </a:r>
            <a:r>
              <a:rPr lang="pt-BR" sz="3600" dirty="0"/>
              <a:t>.</a:t>
            </a:r>
            <a:br>
              <a:rPr lang="pt-BR" sz="3600" dirty="0"/>
            </a:br>
            <a:r>
              <a:rPr lang="pt-BR" sz="3600" dirty="0">
                <a:hlinkClick r:id="rId8"/>
              </a:rPr>
              <a:t>https://developer.ibm.com/integration/docs/app-connect-enterprise/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REST</a:t>
            </a:r>
            <a:br>
              <a:rPr lang="pt-BR" sz="3600" dirty="0"/>
            </a:br>
            <a:r>
              <a:rPr lang="pt-BR" sz="3600" dirty="0">
                <a:hlinkClick r:id="rId9"/>
              </a:rPr>
              <a:t>https://www.ibm.com/docs/en/app-connect/12.0?topic=mrbuara-updating-https-connector-resource-manager-by-using-administration-rest-api</a:t>
            </a:r>
            <a:r>
              <a:rPr lang="pt-BR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85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image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087" y="4973589"/>
            <a:ext cx="12513826" cy="37688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1739</Words>
  <Application>Microsoft Office PowerPoint</Application>
  <PresentationFormat>Custom</PresentationFormat>
  <Paragraphs>285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MS PGothic</vt:lpstr>
      <vt:lpstr>Arial</vt:lpstr>
      <vt:lpstr>Calibri</vt:lpstr>
      <vt:lpstr>Calibri Light</vt:lpstr>
      <vt:lpstr>Helvetica Neue</vt:lpstr>
      <vt:lpstr>IBM Plex Sans</vt:lpstr>
      <vt:lpstr>RedHatText</vt:lpstr>
      <vt:lpstr>Times New Roman</vt:lpstr>
      <vt:lpstr>Wingdings</vt:lpstr>
      <vt:lpstr>Office Theme</vt:lpstr>
      <vt:lpstr>PowerPoint Presentation</vt:lpstr>
      <vt:lpstr>IBM ACE – App Connect Enterprise Avançado - Passos do Ops </vt:lpstr>
      <vt:lpstr>    Agenda</vt:lpstr>
      <vt:lpstr>Passos do Ops (Operações)</vt:lpstr>
      <vt:lpstr>PowerPoint Presentation</vt:lpstr>
      <vt:lpstr>Instalar o ACE</vt:lpstr>
      <vt:lpstr>ACE Console</vt:lpstr>
      <vt:lpstr>Criando o Integration Node (IN)</vt:lpstr>
      <vt:lpstr>Criando o Integration Server (IS) em um IN</vt:lpstr>
      <vt:lpstr>Criando o Integration Server (IS) separado</vt:lpstr>
      <vt:lpstr>ACE WebConsole</vt:lpstr>
      <vt:lpstr>ACE WebConsole</vt:lpstr>
      <vt:lpstr>YAML Configurações IN e IS</vt:lpstr>
      <vt:lpstr>YAML Configurações IN e IS</vt:lpstr>
      <vt:lpstr>ACE REST</vt:lpstr>
      <vt:lpstr>ACE Toolkit IN e IS</vt:lpstr>
      <vt:lpstr>Procedimento de deploy</vt:lpstr>
      <vt:lpstr>Procedimento de deploy CI/CD</vt:lpstr>
      <vt:lpstr>OCP/CP4I - Kubernetes Complexity</vt:lpstr>
      <vt:lpstr>OCP/CP4I - Kubernetes Complexity</vt:lpstr>
      <vt:lpstr>OCP/CP4I - Kubernetes Complexity</vt:lpstr>
      <vt:lpstr>OCP/CP4I - IBM App Connect Operator</vt:lpstr>
      <vt:lpstr>OCP/CP4I - Procedimento de deploy</vt:lpstr>
      <vt:lpstr>OCP/CP4I - I.Server, I.Runtime, I.Dashboard e I.Design</vt:lpstr>
      <vt:lpstr>OCP/CP4I - I.Server, I.Runtime, I.Dashboard e I.Design</vt:lpstr>
      <vt:lpstr>Troubleshooting – ACE Data Collector</vt:lpstr>
      <vt:lpstr>Troubleshooting – Traces do IS </vt:lpstr>
      <vt:lpstr>Troubleshooting – Diretórios úteis</vt:lpstr>
      <vt:lpstr>Criando um “MQ” (para policy)</vt:lpstr>
      <vt:lpstr>PowerPoint Presentation</vt:lpstr>
      <vt:lpstr>Referências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349</cp:revision>
  <dcterms:created xsi:type="dcterms:W3CDTF">2021-01-26T02:52:31Z</dcterms:created>
  <dcterms:modified xsi:type="dcterms:W3CDTF">2025-09-30T12:22:16Z</dcterms:modified>
</cp:coreProperties>
</file>