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media/image68.jpg" ContentType="image/jpg"/>
  <Override PartName="/ppt/media/image81.jpg" ContentType="image/jpg"/>
  <Override PartName="/ppt/media/image82.jpg" ContentType="image/jpg"/>
  <Override PartName="/ppt/media/image97.jpg" ContentType="image/jpg"/>
  <Override PartName="/ppt/media/image98.jpg" ContentType="image/jpg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9" r:id="rId1"/>
  </p:sldMasterIdLst>
  <p:notesMasterIdLst>
    <p:notesMasterId r:id="rId78"/>
  </p:notesMasterIdLst>
  <p:sldIdLst>
    <p:sldId id="818" r:id="rId2"/>
    <p:sldId id="813" r:id="rId3"/>
    <p:sldId id="820" r:id="rId4"/>
    <p:sldId id="258" r:id="rId5"/>
    <p:sldId id="296" r:id="rId6"/>
    <p:sldId id="868" r:id="rId7"/>
    <p:sldId id="259" r:id="rId8"/>
    <p:sldId id="260" r:id="rId9"/>
    <p:sldId id="817" r:id="rId10"/>
    <p:sldId id="814" r:id="rId11"/>
    <p:sldId id="816" r:id="rId12"/>
    <p:sldId id="815" r:id="rId13"/>
    <p:sldId id="823" r:id="rId14"/>
    <p:sldId id="824" r:id="rId15"/>
    <p:sldId id="821" r:id="rId16"/>
    <p:sldId id="836" r:id="rId17"/>
    <p:sldId id="829" r:id="rId18"/>
    <p:sldId id="837" r:id="rId19"/>
    <p:sldId id="825" r:id="rId20"/>
    <p:sldId id="830" r:id="rId21"/>
    <p:sldId id="269" r:id="rId22"/>
    <p:sldId id="870" r:id="rId23"/>
    <p:sldId id="297" r:id="rId24"/>
    <p:sldId id="842" r:id="rId25"/>
    <p:sldId id="268" r:id="rId26"/>
    <p:sldId id="917" r:id="rId27"/>
    <p:sldId id="882" r:id="rId28"/>
    <p:sldId id="880" r:id="rId29"/>
    <p:sldId id="875" r:id="rId30"/>
    <p:sldId id="923" r:id="rId31"/>
    <p:sldId id="839" r:id="rId32"/>
    <p:sldId id="938" r:id="rId33"/>
    <p:sldId id="840" r:id="rId34"/>
    <p:sldId id="841" r:id="rId35"/>
    <p:sldId id="848" r:id="rId36"/>
    <p:sldId id="2146847286" r:id="rId37"/>
    <p:sldId id="2146847289" r:id="rId38"/>
    <p:sldId id="2146847285" r:id="rId39"/>
    <p:sldId id="2146847287" r:id="rId40"/>
    <p:sldId id="2146847288" r:id="rId41"/>
    <p:sldId id="883" r:id="rId42"/>
    <p:sldId id="827" r:id="rId43"/>
    <p:sldId id="2146847290" r:id="rId44"/>
    <p:sldId id="2146847279" r:id="rId45"/>
    <p:sldId id="2146847278" r:id="rId46"/>
    <p:sldId id="2146847277" r:id="rId47"/>
    <p:sldId id="2146847280" r:id="rId48"/>
    <p:sldId id="2146847281" r:id="rId49"/>
    <p:sldId id="2146847282" r:id="rId50"/>
    <p:sldId id="2146847270" r:id="rId51"/>
    <p:sldId id="2146847268" r:id="rId52"/>
    <p:sldId id="2146847269" r:id="rId53"/>
    <p:sldId id="2146847272" r:id="rId54"/>
    <p:sldId id="2146847271" r:id="rId55"/>
    <p:sldId id="2146847273" r:id="rId56"/>
    <p:sldId id="2146847274" r:id="rId57"/>
    <p:sldId id="2146847275" r:id="rId58"/>
    <p:sldId id="2146847291" r:id="rId59"/>
    <p:sldId id="873" r:id="rId60"/>
    <p:sldId id="775" r:id="rId61"/>
    <p:sldId id="881" r:id="rId62"/>
    <p:sldId id="776" r:id="rId63"/>
    <p:sldId id="808" r:id="rId64"/>
    <p:sldId id="740" r:id="rId65"/>
    <p:sldId id="798" r:id="rId66"/>
    <p:sldId id="784" r:id="rId67"/>
    <p:sldId id="737" r:id="rId68"/>
    <p:sldId id="780" r:id="rId69"/>
    <p:sldId id="2146847283" r:id="rId70"/>
    <p:sldId id="834" r:id="rId71"/>
    <p:sldId id="835" r:id="rId72"/>
    <p:sldId id="2146847284" r:id="rId73"/>
    <p:sldId id="369" r:id="rId74"/>
    <p:sldId id="833" r:id="rId75"/>
    <p:sldId id="781" r:id="rId76"/>
    <p:sldId id="302" r:id="rId77"/>
  </p:sldIdLst>
  <p:sldSz cx="24384000" cy="13716000"/>
  <p:notesSz cx="7315200" cy="96012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83E7"/>
    <a:srgbClr val="C1E2FF"/>
    <a:srgbClr val="E0000B"/>
    <a:srgbClr val="A20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70" autoAdjust="0"/>
    <p:restoredTop sz="95545" autoAdjust="0"/>
  </p:normalViewPr>
  <p:slideViewPr>
    <p:cSldViewPr snapToGrid="0">
      <p:cViewPr varScale="1">
        <p:scale>
          <a:sx n="42" d="100"/>
          <a:sy n="42" d="100"/>
        </p:scale>
        <p:origin x="113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4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B2B7EE-CA94-4BB9-886F-D3A66FEBE10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837397-B59A-41FA-8FB8-925B129E5B0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Aplicações tornam-se fortemente </a:t>
          </a:r>
          <a:r>
            <a:rPr lang="pt-BR" b="1" u="sng" dirty="0"/>
            <a:t>acopladas</a:t>
          </a:r>
          <a:r>
            <a:rPr lang="pt-BR" b="0" dirty="0"/>
            <a:t>.</a:t>
          </a:r>
          <a:endParaRPr lang="en-US" dirty="0"/>
        </a:p>
      </dgm:t>
    </dgm:pt>
    <dgm:pt modelId="{A32AADD1-9BF4-43F7-95BB-847A8793FC41}" type="parTrans" cxnId="{373E34AC-4659-481B-B9C4-AC6B6E5619A7}">
      <dgm:prSet/>
      <dgm:spPr/>
      <dgm:t>
        <a:bodyPr/>
        <a:lstStyle/>
        <a:p>
          <a:endParaRPr lang="en-US"/>
        </a:p>
      </dgm:t>
    </dgm:pt>
    <dgm:pt modelId="{08013CAC-3638-447D-9BD6-295529519A28}" type="sibTrans" cxnId="{373E34AC-4659-481B-B9C4-AC6B6E5619A7}">
      <dgm:prSet/>
      <dgm:spPr/>
      <dgm:t>
        <a:bodyPr/>
        <a:lstStyle/>
        <a:p>
          <a:endParaRPr lang="en-US"/>
        </a:p>
      </dgm:t>
    </dgm:pt>
    <dgm:pt modelId="{7D444DAD-F4A7-4803-BAC7-1CB92F3F596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400" b="0" dirty="0"/>
            <a:t>Mudanças significam </a:t>
          </a:r>
          <a:r>
            <a:rPr lang="pt-BR" sz="2400" b="1" u="sng" dirty="0"/>
            <a:t>impactar</a:t>
          </a:r>
          <a:r>
            <a:rPr lang="pt-BR" sz="2400" b="0" dirty="0"/>
            <a:t> diretamente cada um do(s) consumidor(es)</a:t>
          </a:r>
          <a:endParaRPr lang="en-US" sz="2400" dirty="0"/>
        </a:p>
      </dgm:t>
    </dgm:pt>
    <dgm:pt modelId="{45DC371B-B91F-48D0-81E4-7E1A9BF1BBB6}" type="parTrans" cxnId="{C0E66703-F2C3-4B2B-84ED-001091D1F262}">
      <dgm:prSet/>
      <dgm:spPr/>
      <dgm:t>
        <a:bodyPr/>
        <a:lstStyle/>
        <a:p>
          <a:endParaRPr lang="en-US"/>
        </a:p>
      </dgm:t>
    </dgm:pt>
    <dgm:pt modelId="{8EE67F5B-1338-47C0-A9EE-FBFDCC2CE095}" type="sibTrans" cxnId="{C0E66703-F2C3-4B2B-84ED-001091D1F262}">
      <dgm:prSet/>
      <dgm:spPr/>
      <dgm:t>
        <a:bodyPr/>
        <a:lstStyle/>
        <a:p>
          <a:endParaRPr lang="en-US"/>
        </a:p>
      </dgm:t>
    </dgm:pt>
    <dgm:pt modelId="{B1AEE865-DE6B-4BE2-9CA8-0D8DB916227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Isto conduz a </a:t>
          </a:r>
          <a:r>
            <a:rPr lang="pt-BR" b="1" u="sng" dirty="0"/>
            <a:t>falta de flexibilidade</a:t>
          </a:r>
          <a:r>
            <a:rPr lang="pt-BR" dirty="0"/>
            <a:t> e uma reação lenta às mudanças do negócio</a:t>
          </a:r>
          <a:endParaRPr lang="en-US" dirty="0"/>
        </a:p>
      </dgm:t>
    </dgm:pt>
    <dgm:pt modelId="{E16A3586-522F-4331-85B0-954BA1E66F52}" type="parTrans" cxnId="{34EDA523-83A2-4A36-9833-AA0B1C5D4355}">
      <dgm:prSet/>
      <dgm:spPr/>
      <dgm:t>
        <a:bodyPr/>
        <a:lstStyle/>
        <a:p>
          <a:endParaRPr lang="en-US"/>
        </a:p>
      </dgm:t>
    </dgm:pt>
    <dgm:pt modelId="{7A7118FA-83CF-4FCE-A450-AB4D73B858D5}" type="sibTrans" cxnId="{34EDA523-83A2-4A36-9833-AA0B1C5D4355}">
      <dgm:prSet/>
      <dgm:spPr/>
      <dgm:t>
        <a:bodyPr/>
        <a:lstStyle/>
        <a:p>
          <a:endParaRPr lang="en-US"/>
        </a:p>
      </dgm:t>
    </dgm:pt>
    <dgm:pt modelId="{89AB3F15-D80B-425A-88C7-B77B342D931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400" b="1" u="sng" dirty="0"/>
            <a:t>Alto custo de manutenção </a:t>
          </a:r>
          <a:r>
            <a:rPr lang="pt-BR" sz="2400" b="0" dirty="0"/>
            <a:t>de sistemas </a:t>
          </a:r>
        </a:p>
        <a:p>
          <a:pPr>
            <a:lnSpc>
              <a:spcPct val="100000"/>
            </a:lnSpc>
          </a:pPr>
          <a:r>
            <a:rPr lang="pt-BR" sz="2400" b="0" dirty="0"/>
            <a:t>e </a:t>
          </a:r>
          <a:r>
            <a:rPr lang="pt-BR" sz="2400" b="1" u="sng" dirty="0"/>
            <a:t>dificuldade em diagnosticar/resolver </a:t>
          </a:r>
          <a:r>
            <a:rPr lang="pt-BR" sz="2400" b="0" dirty="0"/>
            <a:t>os problemas.</a:t>
          </a:r>
          <a:endParaRPr lang="en-US" sz="2400" dirty="0"/>
        </a:p>
      </dgm:t>
    </dgm:pt>
    <dgm:pt modelId="{A5699308-CB5D-4E73-9598-DCD2CA71FCCE}" type="parTrans" cxnId="{1836AA35-2AA2-4969-958F-559D44D6E49D}">
      <dgm:prSet/>
      <dgm:spPr/>
      <dgm:t>
        <a:bodyPr/>
        <a:lstStyle/>
        <a:p>
          <a:endParaRPr lang="en-US"/>
        </a:p>
      </dgm:t>
    </dgm:pt>
    <dgm:pt modelId="{4F2001F9-06FC-4094-B84D-E40E76FABDEA}" type="sibTrans" cxnId="{1836AA35-2AA2-4969-958F-559D44D6E49D}">
      <dgm:prSet/>
      <dgm:spPr/>
      <dgm:t>
        <a:bodyPr/>
        <a:lstStyle/>
        <a:p>
          <a:endParaRPr lang="en-US"/>
        </a:p>
      </dgm:t>
    </dgm:pt>
    <dgm:pt modelId="{853216D1-8B75-47CD-AA67-F53F73C3C8F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O resultado: </a:t>
          </a:r>
          <a:r>
            <a:rPr lang="pt-BR" b="1" u="sng" dirty="0"/>
            <a:t>COMPLEXIDADE</a:t>
          </a:r>
          <a:endParaRPr lang="en-US" dirty="0"/>
        </a:p>
      </dgm:t>
    </dgm:pt>
    <dgm:pt modelId="{4291AF3E-DC36-4F8F-B7F2-82B127FC7015}" type="parTrans" cxnId="{616D4604-2F89-46E7-9351-7FFF16CE259C}">
      <dgm:prSet/>
      <dgm:spPr/>
      <dgm:t>
        <a:bodyPr/>
        <a:lstStyle/>
        <a:p>
          <a:endParaRPr lang="en-US"/>
        </a:p>
      </dgm:t>
    </dgm:pt>
    <dgm:pt modelId="{3D07EA3F-C821-44EE-AE7F-FFF92FDF909F}" type="sibTrans" cxnId="{616D4604-2F89-46E7-9351-7FFF16CE259C}">
      <dgm:prSet/>
      <dgm:spPr/>
      <dgm:t>
        <a:bodyPr/>
        <a:lstStyle/>
        <a:p>
          <a:endParaRPr lang="en-US"/>
        </a:p>
      </dgm:t>
    </dgm:pt>
    <dgm:pt modelId="{2E1F64B2-4847-4B7C-A26A-EB45178ABFF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000" b="0" dirty="0"/>
            <a:t>As empresas gastam seus orçamentos de TI no gerenciamento de interfaces e não nas aplicações... retardando a </a:t>
          </a:r>
          <a:br>
            <a:rPr lang="pt-BR" sz="2000" b="0" dirty="0"/>
          </a:br>
          <a:r>
            <a:rPr lang="pt-BR" sz="2000" b="0" dirty="0"/>
            <a:t>implementação de soluções e diminuindo a agilidade.</a:t>
          </a:r>
          <a:endParaRPr lang="en-US" sz="2000" dirty="0"/>
        </a:p>
      </dgm:t>
    </dgm:pt>
    <dgm:pt modelId="{A37A6500-2612-44E2-9D6C-7568D2963348}" type="parTrans" cxnId="{CCEBEBD7-DDD4-4A1F-A1A7-C6361848D28D}">
      <dgm:prSet/>
      <dgm:spPr/>
      <dgm:t>
        <a:bodyPr/>
        <a:lstStyle/>
        <a:p>
          <a:endParaRPr lang="en-US"/>
        </a:p>
      </dgm:t>
    </dgm:pt>
    <dgm:pt modelId="{4DBEBE8C-D4D6-4B12-BCE7-AC07E4982ED4}" type="sibTrans" cxnId="{CCEBEBD7-DDD4-4A1F-A1A7-C6361848D28D}">
      <dgm:prSet/>
      <dgm:spPr/>
      <dgm:t>
        <a:bodyPr/>
        <a:lstStyle/>
        <a:p>
          <a:endParaRPr lang="en-US"/>
        </a:p>
      </dgm:t>
    </dgm:pt>
    <dgm:pt modelId="{EA2D26E9-0235-47AE-92FE-45391C82FD20}" type="pres">
      <dgm:prSet presAssocID="{5CB2B7EE-CA94-4BB9-886F-D3A66FEBE108}" presName="root" presStyleCnt="0">
        <dgm:presLayoutVars>
          <dgm:dir/>
          <dgm:resizeHandles val="exact"/>
        </dgm:presLayoutVars>
      </dgm:prSet>
      <dgm:spPr/>
    </dgm:pt>
    <dgm:pt modelId="{C3100AE2-8741-4823-8D34-0E8A81F75744}" type="pres">
      <dgm:prSet presAssocID="{6E837397-B59A-41FA-8FB8-925B129E5B03}" presName="compNode" presStyleCnt="0"/>
      <dgm:spPr/>
    </dgm:pt>
    <dgm:pt modelId="{8DE16FDF-3234-462E-B8B1-7C7B0F02ADC1}" type="pres">
      <dgm:prSet presAssocID="{6E837397-B59A-41FA-8FB8-925B129E5B03}" presName="bgRect" presStyleLbl="bgShp" presStyleIdx="0" presStyleCnt="3" custLinFactNeighborX="0" custLinFactNeighborY="2985"/>
      <dgm:spPr/>
    </dgm:pt>
    <dgm:pt modelId="{553B31C0-7430-498A-9711-526BF249A408}" type="pres">
      <dgm:prSet presAssocID="{6E837397-B59A-41FA-8FB8-925B129E5B03}" presName="iconRect" presStyleLbl="node1" presStyleIdx="0" presStyleCnt="3" custLinFactNeighborX="0" custLinFactNeighborY="542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C9F4E90-CD84-4F14-BA55-FC368740723B}" type="pres">
      <dgm:prSet presAssocID="{6E837397-B59A-41FA-8FB8-925B129E5B03}" presName="spaceRect" presStyleCnt="0"/>
      <dgm:spPr/>
    </dgm:pt>
    <dgm:pt modelId="{179E3CFA-F9DF-48CB-8362-0E893C18E383}" type="pres">
      <dgm:prSet presAssocID="{6E837397-B59A-41FA-8FB8-925B129E5B03}" presName="parTx" presStyleLbl="revTx" presStyleIdx="0" presStyleCnt="6" custScaleX="83189" custLinFactNeighborX="0" custLinFactNeighborY="2985">
        <dgm:presLayoutVars>
          <dgm:chMax val="0"/>
          <dgm:chPref val="0"/>
        </dgm:presLayoutVars>
      </dgm:prSet>
      <dgm:spPr/>
    </dgm:pt>
    <dgm:pt modelId="{A2B45597-5002-4299-AAA1-06216892D19D}" type="pres">
      <dgm:prSet presAssocID="{6E837397-B59A-41FA-8FB8-925B129E5B03}" presName="desTx" presStyleLbl="revTx" presStyleIdx="1" presStyleCnt="6" custScaleX="120576" custLinFactNeighborX="0" custLinFactNeighborY="2985">
        <dgm:presLayoutVars/>
      </dgm:prSet>
      <dgm:spPr/>
    </dgm:pt>
    <dgm:pt modelId="{B9615279-B7F5-4DE8-9086-3A718088F645}" type="pres">
      <dgm:prSet presAssocID="{08013CAC-3638-447D-9BD6-295529519A28}" presName="sibTrans" presStyleCnt="0"/>
      <dgm:spPr/>
    </dgm:pt>
    <dgm:pt modelId="{359E9204-46A2-4F3D-B557-383630EB5B27}" type="pres">
      <dgm:prSet presAssocID="{B1AEE865-DE6B-4BE2-9CA8-0D8DB9162271}" presName="compNode" presStyleCnt="0"/>
      <dgm:spPr/>
    </dgm:pt>
    <dgm:pt modelId="{C5BE595E-A886-42A3-98E0-83FD4574E7E7}" type="pres">
      <dgm:prSet presAssocID="{B1AEE865-DE6B-4BE2-9CA8-0D8DB9162271}" presName="bgRect" presStyleLbl="bgShp" presStyleIdx="1" presStyleCnt="3" custLinFactNeighborX="0" custLinFactNeighborY="2985"/>
      <dgm:spPr/>
    </dgm:pt>
    <dgm:pt modelId="{655000D2-295E-4230-9712-4605EA88D8B9}" type="pres">
      <dgm:prSet presAssocID="{B1AEE865-DE6B-4BE2-9CA8-0D8DB9162271}" presName="iconRect" presStyleLbl="node1" presStyleIdx="1" presStyleCnt="3" custLinFactNeighborX="0" custLinFactNeighborY="542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FE2989F5-F256-4EA7-B50B-59B87557F14B}" type="pres">
      <dgm:prSet presAssocID="{B1AEE865-DE6B-4BE2-9CA8-0D8DB9162271}" presName="spaceRect" presStyleCnt="0"/>
      <dgm:spPr/>
    </dgm:pt>
    <dgm:pt modelId="{721A0B09-4933-48BD-BA81-1C50F3767865}" type="pres">
      <dgm:prSet presAssocID="{B1AEE865-DE6B-4BE2-9CA8-0D8DB9162271}" presName="parTx" presStyleLbl="revTx" presStyleIdx="2" presStyleCnt="6" custScaleX="81679" custLinFactNeighborX="0" custLinFactNeighborY="2985">
        <dgm:presLayoutVars>
          <dgm:chMax val="0"/>
          <dgm:chPref val="0"/>
        </dgm:presLayoutVars>
      </dgm:prSet>
      <dgm:spPr/>
    </dgm:pt>
    <dgm:pt modelId="{E30749F1-927D-4D03-952F-92E0E421C2A9}" type="pres">
      <dgm:prSet presAssocID="{B1AEE865-DE6B-4BE2-9CA8-0D8DB9162271}" presName="desTx" presStyleLbl="revTx" presStyleIdx="3" presStyleCnt="6" custScaleX="122127" custLinFactNeighborX="0" custLinFactNeighborY="2985">
        <dgm:presLayoutVars/>
      </dgm:prSet>
      <dgm:spPr/>
    </dgm:pt>
    <dgm:pt modelId="{9BD879E8-F6AA-44BB-8F1C-A95696A5F28A}" type="pres">
      <dgm:prSet presAssocID="{7A7118FA-83CF-4FCE-A450-AB4D73B858D5}" presName="sibTrans" presStyleCnt="0"/>
      <dgm:spPr/>
    </dgm:pt>
    <dgm:pt modelId="{56363EA5-3ECD-47EC-BFF3-0714CE4073A4}" type="pres">
      <dgm:prSet presAssocID="{853216D1-8B75-47CD-AA67-F53F73C3C8F6}" presName="compNode" presStyleCnt="0"/>
      <dgm:spPr/>
    </dgm:pt>
    <dgm:pt modelId="{CE8A7ABA-0BC4-4317-AB18-3453CD06FD8C}" type="pres">
      <dgm:prSet presAssocID="{853216D1-8B75-47CD-AA67-F53F73C3C8F6}" presName="bgRect" presStyleLbl="bgShp" presStyleIdx="2" presStyleCnt="3" custLinFactNeighborX="0" custLinFactNeighborY="1702"/>
      <dgm:spPr/>
    </dgm:pt>
    <dgm:pt modelId="{C840C7FE-7F21-48F8-AFC8-CA42D7F6EEDA}" type="pres">
      <dgm:prSet presAssocID="{853216D1-8B75-47CD-AA67-F53F73C3C8F6}" presName="iconRect" presStyleLbl="node1" presStyleIdx="2" presStyleCnt="3" custLinFactNeighborX="0" custLinFactNeighborY="542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7226020-53F3-43C7-92B9-3DD8EA3071D9}" type="pres">
      <dgm:prSet presAssocID="{853216D1-8B75-47CD-AA67-F53F73C3C8F6}" presName="spaceRect" presStyleCnt="0"/>
      <dgm:spPr/>
    </dgm:pt>
    <dgm:pt modelId="{72745282-9BDF-4FDE-90A1-7C6AD224E018}" type="pres">
      <dgm:prSet presAssocID="{853216D1-8B75-47CD-AA67-F53F73C3C8F6}" presName="parTx" presStyleLbl="revTx" presStyleIdx="4" presStyleCnt="6" custScaleX="79387" custLinFactNeighborX="0" custLinFactNeighborY="2985">
        <dgm:presLayoutVars>
          <dgm:chMax val="0"/>
          <dgm:chPref val="0"/>
        </dgm:presLayoutVars>
      </dgm:prSet>
      <dgm:spPr/>
    </dgm:pt>
    <dgm:pt modelId="{A046F5BB-6C7E-48E2-96D9-70EA6EFBEC68}" type="pres">
      <dgm:prSet presAssocID="{853216D1-8B75-47CD-AA67-F53F73C3C8F6}" presName="desTx" presStyleLbl="revTx" presStyleIdx="5" presStyleCnt="6" custScaleX="124369" custLinFactNeighborX="0" custLinFactNeighborY="2985">
        <dgm:presLayoutVars/>
      </dgm:prSet>
      <dgm:spPr/>
    </dgm:pt>
  </dgm:ptLst>
  <dgm:cxnLst>
    <dgm:cxn modelId="{C0E66703-F2C3-4B2B-84ED-001091D1F262}" srcId="{6E837397-B59A-41FA-8FB8-925B129E5B03}" destId="{7D444DAD-F4A7-4803-BAC7-1CB92F3F596F}" srcOrd="0" destOrd="0" parTransId="{45DC371B-B91F-48D0-81E4-7E1A9BF1BBB6}" sibTransId="{8EE67F5B-1338-47C0-A9EE-FBFDCC2CE095}"/>
    <dgm:cxn modelId="{616D4604-2F89-46E7-9351-7FFF16CE259C}" srcId="{5CB2B7EE-CA94-4BB9-886F-D3A66FEBE108}" destId="{853216D1-8B75-47CD-AA67-F53F73C3C8F6}" srcOrd="2" destOrd="0" parTransId="{4291AF3E-DC36-4F8F-B7F2-82B127FC7015}" sibTransId="{3D07EA3F-C821-44EE-AE7F-FFF92FDF909F}"/>
    <dgm:cxn modelId="{5BE08E16-A8E5-43FE-ADA8-9BF4BE56911E}" type="presOf" srcId="{7D444DAD-F4A7-4803-BAC7-1CB92F3F596F}" destId="{A2B45597-5002-4299-AAA1-06216892D19D}" srcOrd="0" destOrd="0" presId="urn:microsoft.com/office/officeart/2018/2/layout/IconVerticalSolidList"/>
    <dgm:cxn modelId="{34EDA523-83A2-4A36-9833-AA0B1C5D4355}" srcId="{5CB2B7EE-CA94-4BB9-886F-D3A66FEBE108}" destId="{B1AEE865-DE6B-4BE2-9CA8-0D8DB9162271}" srcOrd="1" destOrd="0" parTransId="{E16A3586-522F-4331-85B0-954BA1E66F52}" sibTransId="{7A7118FA-83CF-4FCE-A450-AB4D73B858D5}"/>
    <dgm:cxn modelId="{6126262F-5A32-408B-A603-8B472B509802}" type="presOf" srcId="{853216D1-8B75-47CD-AA67-F53F73C3C8F6}" destId="{72745282-9BDF-4FDE-90A1-7C6AD224E018}" srcOrd="0" destOrd="0" presId="urn:microsoft.com/office/officeart/2018/2/layout/IconVerticalSolidList"/>
    <dgm:cxn modelId="{1836AA35-2AA2-4969-958F-559D44D6E49D}" srcId="{B1AEE865-DE6B-4BE2-9CA8-0D8DB9162271}" destId="{89AB3F15-D80B-425A-88C7-B77B342D931B}" srcOrd="0" destOrd="0" parTransId="{A5699308-CB5D-4E73-9598-DCD2CA71FCCE}" sibTransId="{4F2001F9-06FC-4094-B84D-E40E76FABDEA}"/>
    <dgm:cxn modelId="{E025CF5E-A5EF-4772-8D19-541B85701E82}" type="presOf" srcId="{5CB2B7EE-CA94-4BB9-886F-D3A66FEBE108}" destId="{EA2D26E9-0235-47AE-92FE-45391C82FD20}" srcOrd="0" destOrd="0" presId="urn:microsoft.com/office/officeart/2018/2/layout/IconVerticalSolidList"/>
    <dgm:cxn modelId="{8E1EBB88-02AF-4839-89B6-1F22399AEE2F}" type="presOf" srcId="{89AB3F15-D80B-425A-88C7-B77B342D931B}" destId="{E30749F1-927D-4D03-952F-92E0E421C2A9}" srcOrd="0" destOrd="0" presId="urn:microsoft.com/office/officeart/2018/2/layout/IconVerticalSolidList"/>
    <dgm:cxn modelId="{82D72E9D-FE9B-41E0-8C7E-FB6B291707F3}" type="presOf" srcId="{2E1F64B2-4847-4B7C-A26A-EB45178ABFF4}" destId="{A046F5BB-6C7E-48E2-96D9-70EA6EFBEC68}" srcOrd="0" destOrd="0" presId="urn:microsoft.com/office/officeart/2018/2/layout/IconVerticalSolidList"/>
    <dgm:cxn modelId="{373E34AC-4659-481B-B9C4-AC6B6E5619A7}" srcId="{5CB2B7EE-CA94-4BB9-886F-D3A66FEBE108}" destId="{6E837397-B59A-41FA-8FB8-925B129E5B03}" srcOrd="0" destOrd="0" parTransId="{A32AADD1-9BF4-43F7-95BB-847A8793FC41}" sibTransId="{08013CAC-3638-447D-9BD6-295529519A28}"/>
    <dgm:cxn modelId="{919B96B6-665F-4437-A5D0-47325E648BBF}" type="presOf" srcId="{6E837397-B59A-41FA-8FB8-925B129E5B03}" destId="{179E3CFA-F9DF-48CB-8362-0E893C18E383}" srcOrd="0" destOrd="0" presId="urn:microsoft.com/office/officeart/2018/2/layout/IconVerticalSolidList"/>
    <dgm:cxn modelId="{41B459BA-05BF-4859-A70A-B6A894ECEAA0}" type="presOf" srcId="{B1AEE865-DE6B-4BE2-9CA8-0D8DB9162271}" destId="{721A0B09-4933-48BD-BA81-1C50F3767865}" srcOrd="0" destOrd="0" presId="urn:microsoft.com/office/officeart/2018/2/layout/IconVerticalSolidList"/>
    <dgm:cxn modelId="{CCEBEBD7-DDD4-4A1F-A1A7-C6361848D28D}" srcId="{853216D1-8B75-47CD-AA67-F53F73C3C8F6}" destId="{2E1F64B2-4847-4B7C-A26A-EB45178ABFF4}" srcOrd="0" destOrd="0" parTransId="{A37A6500-2612-44E2-9D6C-7568D2963348}" sibTransId="{4DBEBE8C-D4D6-4B12-BCE7-AC07E4982ED4}"/>
    <dgm:cxn modelId="{E86FAFD5-26B2-4968-87AC-714D04D24A0E}" type="presParOf" srcId="{EA2D26E9-0235-47AE-92FE-45391C82FD20}" destId="{C3100AE2-8741-4823-8D34-0E8A81F75744}" srcOrd="0" destOrd="0" presId="urn:microsoft.com/office/officeart/2018/2/layout/IconVerticalSolidList"/>
    <dgm:cxn modelId="{DC62C9B5-4151-4BB4-94C8-A435F316F971}" type="presParOf" srcId="{C3100AE2-8741-4823-8D34-0E8A81F75744}" destId="{8DE16FDF-3234-462E-B8B1-7C7B0F02ADC1}" srcOrd="0" destOrd="0" presId="urn:microsoft.com/office/officeart/2018/2/layout/IconVerticalSolidList"/>
    <dgm:cxn modelId="{D1DD5AC9-9D89-435B-B659-8F1BD326B1BE}" type="presParOf" srcId="{C3100AE2-8741-4823-8D34-0E8A81F75744}" destId="{553B31C0-7430-498A-9711-526BF249A408}" srcOrd="1" destOrd="0" presId="urn:microsoft.com/office/officeart/2018/2/layout/IconVerticalSolidList"/>
    <dgm:cxn modelId="{3EA3D7BE-C244-4497-8E8B-E09F9CD060DA}" type="presParOf" srcId="{C3100AE2-8741-4823-8D34-0E8A81F75744}" destId="{1C9F4E90-CD84-4F14-BA55-FC368740723B}" srcOrd="2" destOrd="0" presId="urn:microsoft.com/office/officeart/2018/2/layout/IconVerticalSolidList"/>
    <dgm:cxn modelId="{E4880250-EA06-4C16-B7B7-DF750717955D}" type="presParOf" srcId="{C3100AE2-8741-4823-8D34-0E8A81F75744}" destId="{179E3CFA-F9DF-48CB-8362-0E893C18E383}" srcOrd="3" destOrd="0" presId="urn:microsoft.com/office/officeart/2018/2/layout/IconVerticalSolidList"/>
    <dgm:cxn modelId="{D4D94271-8D4B-46E2-B9FA-B6E83122DBD7}" type="presParOf" srcId="{C3100AE2-8741-4823-8D34-0E8A81F75744}" destId="{A2B45597-5002-4299-AAA1-06216892D19D}" srcOrd="4" destOrd="0" presId="urn:microsoft.com/office/officeart/2018/2/layout/IconVerticalSolidList"/>
    <dgm:cxn modelId="{3286E658-CB4D-4D1F-A371-145D25F519E3}" type="presParOf" srcId="{EA2D26E9-0235-47AE-92FE-45391C82FD20}" destId="{B9615279-B7F5-4DE8-9086-3A718088F645}" srcOrd="1" destOrd="0" presId="urn:microsoft.com/office/officeart/2018/2/layout/IconVerticalSolidList"/>
    <dgm:cxn modelId="{94C66BDB-4B0D-446E-AF58-D635DE95CCD4}" type="presParOf" srcId="{EA2D26E9-0235-47AE-92FE-45391C82FD20}" destId="{359E9204-46A2-4F3D-B557-383630EB5B27}" srcOrd="2" destOrd="0" presId="urn:microsoft.com/office/officeart/2018/2/layout/IconVerticalSolidList"/>
    <dgm:cxn modelId="{7BACD7A1-8640-4C01-87F7-8974BD8C2B7A}" type="presParOf" srcId="{359E9204-46A2-4F3D-B557-383630EB5B27}" destId="{C5BE595E-A886-42A3-98E0-83FD4574E7E7}" srcOrd="0" destOrd="0" presId="urn:microsoft.com/office/officeart/2018/2/layout/IconVerticalSolidList"/>
    <dgm:cxn modelId="{9EB2EC9E-15C2-4D02-8FB3-A285D21F2FD2}" type="presParOf" srcId="{359E9204-46A2-4F3D-B557-383630EB5B27}" destId="{655000D2-295E-4230-9712-4605EA88D8B9}" srcOrd="1" destOrd="0" presId="urn:microsoft.com/office/officeart/2018/2/layout/IconVerticalSolidList"/>
    <dgm:cxn modelId="{A588F58A-1A2D-4C0B-84DA-E78FD074E263}" type="presParOf" srcId="{359E9204-46A2-4F3D-B557-383630EB5B27}" destId="{FE2989F5-F256-4EA7-B50B-59B87557F14B}" srcOrd="2" destOrd="0" presId="urn:microsoft.com/office/officeart/2018/2/layout/IconVerticalSolidList"/>
    <dgm:cxn modelId="{F39313CC-515F-40E2-BAFE-B3FE969F6369}" type="presParOf" srcId="{359E9204-46A2-4F3D-B557-383630EB5B27}" destId="{721A0B09-4933-48BD-BA81-1C50F3767865}" srcOrd="3" destOrd="0" presId="urn:microsoft.com/office/officeart/2018/2/layout/IconVerticalSolidList"/>
    <dgm:cxn modelId="{A31E7AFB-8C5A-4970-8AC4-DD9C285C1F73}" type="presParOf" srcId="{359E9204-46A2-4F3D-B557-383630EB5B27}" destId="{E30749F1-927D-4D03-952F-92E0E421C2A9}" srcOrd="4" destOrd="0" presId="urn:microsoft.com/office/officeart/2018/2/layout/IconVerticalSolidList"/>
    <dgm:cxn modelId="{CB95D5B3-7B1B-40B8-913E-76D373548E64}" type="presParOf" srcId="{EA2D26E9-0235-47AE-92FE-45391C82FD20}" destId="{9BD879E8-F6AA-44BB-8F1C-A95696A5F28A}" srcOrd="3" destOrd="0" presId="urn:microsoft.com/office/officeart/2018/2/layout/IconVerticalSolidList"/>
    <dgm:cxn modelId="{0E24A3CA-6B85-4743-84A6-49ABF0BBDC6E}" type="presParOf" srcId="{EA2D26E9-0235-47AE-92FE-45391C82FD20}" destId="{56363EA5-3ECD-47EC-BFF3-0714CE4073A4}" srcOrd="4" destOrd="0" presId="urn:microsoft.com/office/officeart/2018/2/layout/IconVerticalSolidList"/>
    <dgm:cxn modelId="{D7090F56-8C5A-444F-9AA3-0B42D5853CAB}" type="presParOf" srcId="{56363EA5-3ECD-47EC-BFF3-0714CE4073A4}" destId="{CE8A7ABA-0BC4-4317-AB18-3453CD06FD8C}" srcOrd="0" destOrd="0" presId="urn:microsoft.com/office/officeart/2018/2/layout/IconVerticalSolidList"/>
    <dgm:cxn modelId="{02681D9D-2549-4929-B6FA-9DB92B279DD8}" type="presParOf" srcId="{56363EA5-3ECD-47EC-BFF3-0714CE4073A4}" destId="{C840C7FE-7F21-48F8-AFC8-CA42D7F6EEDA}" srcOrd="1" destOrd="0" presId="urn:microsoft.com/office/officeart/2018/2/layout/IconVerticalSolidList"/>
    <dgm:cxn modelId="{3982E759-75A9-4DF9-86CA-AB501378924E}" type="presParOf" srcId="{56363EA5-3ECD-47EC-BFF3-0714CE4073A4}" destId="{E7226020-53F3-43C7-92B9-3DD8EA3071D9}" srcOrd="2" destOrd="0" presId="urn:microsoft.com/office/officeart/2018/2/layout/IconVerticalSolidList"/>
    <dgm:cxn modelId="{03D3E7AA-6716-4F46-907B-F523CEF2213F}" type="presParOf" srcId="{56363EA5-3ECD-47EC-BFF3-0714CE4073A4}" destId="{72745282-9BDF-4FDE-90A1-7C6AD224E018}" srcOrd="3" destOrd="0" presId="urn:microsoft.com/office/officeart/2018/2/layout/IconVerticalSolidList"/>
    <dgm:cxn modelId="{1DB44A51-C303-4E07-8CC7-642C8693C870}" type="presParOf" srcId="{56363EA5-3ECD-47EC-BFF3-0714CE4073A4}" destId="{A046F5BB-6C7E-48E2-96D9-70EA6EFBEC68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7E7955-ADCD-4610-9CF1-A048C3E038E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3530A91-D63A-4FD8-8B14-20D214636228}">
      <dgm:prSet/>
      <dgm:spPr/>
      <dgm:t>
        <a:bodyPr/>
        <a:lstStyle/>
        <a:p>
          <a:r>
            <a:rPr lang="pt-BR" b="1"/>
            <a:t>Melhor eficiência operacional</a:t>
          </a:r>
          <a:r>
            <a:rPr lang="pt-BR"/>
            <a:t>: A integração de sistemas permite a automação de fluxos de trabalho e processos, reduzindo a necessidade de intervenção manual e melhorando a eficiência operacional.</a:t>
          </a:r>
          <a:endParaRPr lang="en-US"/>
        </a:p>
      </dgm:t>
    </dgm:pt>
    <dgm:pt modelId="{8E731DC9-2A65-41FF-BFD5-9D7CD157AE25}" type="parTrans" cxnId="{F05001E8-B21C-4126-9A36-AB1EDDD9349E}">
      <dgm:prSet/>
      <dgm:spPr/>
      <dgm:t>
        <a:bodyPr/>
        <a:lstStyle/>
        <a:p>
          <a:endParaRPr lang="en-US"/>
        </a:p>
      </dgm:t>
    </dgm:pt>
    <dgm:pt modelId="{FDAC155F-F664-47C0-8593-53921E5DCFFC}" type="sibTrans" cxnId="{F05001E8-B21C-4126-9A36-AB1EDDD9349E}">
      <dgm:prSet/>
      <dgm:spPr/>
      <dgm:t>
        <a:bodyPr/>
        <a:lstStyle/>
        <a:p>
          <a:endParaRPr lang="en-US"/>
        </a:p>
      </dgm:t>
    </dgm:pt>
    <dgm:pt modelId="{74B5E005-EDC7-4887-A54E-8CE59EB08B29}">
      <dgm:prSet/>
      <dgm:spPr/>
      <dgm:t>
        <a:bodyPr/>
        <a:lstStyle/>
        <a:p>
          <a:r>
            <a:rPr lang="pt-BR" b="1"/>
            <a:t>Maior produtividade</a:t>
          </a:r>
          <a:r>
            <a:rPr lang="pt-BR"/>
            <a:t>: Ao integrar sistemas, as informações podem ser compartilhadas de forma mais rápida e precisa, permitindo que as equipes sejam mais produtivas em suas atividades diárias.</a:t>
          </a:r>
          <a:endParaRPr lang="en-US"/>
        </a:p>
      </dgm:t>
    </dgm:pt>
    <dgm:pt modelId="{B2CBC55C-49FA-4C06-B9C4-B6B3EC4B6B31}" type="parTrans" cxnId="{4C86520A-970D-4B6E-8EA8-4C1209C62064}">
      <dgm:prSet/>
      <dgm:spPr/>
      <dgm:t>
        <a:bodyPr/>
        <a:lstStyle/>
        <a:p>
          <a:endParaRPr lang="en-US"/>
        </a:p>
      </dgm:t>
    </dgm:pt>
    <dgm:pt modelId="{BB6C744E-B8AB-40B1-8B4E-0D22037FA9D8}" type="sibTrans" cxnId="{4C86520A-970D-4B6E-8EA8-4C1209C62064}">
      <dgm:prSet/>
      <dgm:spPr/>
      <dgm:t>
        <a:bodyPr/>
        <a:lstStyle/>
        <a:p>
          <a:endParaRPr lang="en-US"/>
        </a:p>
      </dgm:t>
    </dgm:pt>
    <dgm:pt modelId="{62EEC2B1-E887-44ED-8F0A-C2EC1D3BEC96}">
      <dgm:prSet/>
      <dgm:spPr/>
      <dgm:t>
        <a:bodyPr/>
        <a:lstStyle/>
        <a:p>
          <a:r>
            <a:rPr lang="pt-BR" b="1"/>
            <a:t>Melhor tomada de decisão</a:t>
          </a:r>
          <a:r>
            <a:rPr lang="pt-BR"/>
            <a:t>: Com acesso a dados integrados de diferentes sistemas, os gestores podem tomar decisões mais informadas e estratégicas.</a:t>
          </a:r>
          <a:endParaRPr lang="en-US"/>
        </a:p>
      </dgm:t>
    </dgm:pt>
    <dgm:pt modelId="{0C302F49-1AFF-4959-AA1A-4457786CB971}" type="parTrans" cxnId="{64D739BB-80B2-4FD4-90D7-3642DFF2AE12}">
      <dgm:prSet/>
      <dgm:spPr/>
      <dgm:t>
        <a:bodyPr/>
        <a:lstStyle/>
        <a:p>
          <a:endParaRPr lang="en-US"/>
        </a:p>
      </dgm:t>
    </dgm:pt>
    <dgm:pt modelId="{B657C0D8-9FA8-4F58-B1E2-C5FE2C57A565}" type="sibTrans" cxnId="{64D739BB-80B2-4FD4-90D7-3642DFF2AE12}">
      <dgm:prSet/>
      <dgm:spPr/>
      <dgm:t>
        <a:bodyPr/>
        <a:lstStyle/>
        <a:p>
          <a:endParaRPr lang="en-US"/>
        </a:p>
      </dgm:t>
    </dgm:pt>
    <dgm:pt modelId="{7068EC37-D0F6-4FF5-8FCA-4AC6E0D035C7}">
      <dgm:prSet/>
      <dgm:spPr/>
      <dgm:t>
        <a:bodyPr/>
        <a:lstStyle/>
        <a:p>
          <a:r>
            <a:rPr lang="pt-BR" b="1"/>
            <a:t>Redução de erros</a:t>
          </a:r>
          <a:r>
            <a:rPr lang="pt-BR"/>
            <a:t>: A integração de sistemas reduz a necessidade de entrada manual de dados, minimizando assim erros e inconsistências.</a:t>
          </a:r>
          <a:endParaRPr lang="en-US"/>
        </a:p>
      </dgm:t>
    </dgm:pt>
    <dgm:pt modelId="{84D2F2B8-12AD-4BD2-A5C4-FC183902989D}" type="parTrans" cxnId="{C0CE0202-FCF4-4330-880C-ECFBEDE70A22}">
      <dgm:prSet/>
      <dgm:spPr/>
      <dgm:t>
        <a:bodyPr/>
        <a:lstStyle/>
        <a:p>
          <a:endParaRPr lang="en-US"/>
        </a:p>
      </dgm:t>
    </dgm:pt>
    <dgm:pt modelId="{8B935C19-80B5-4AD1-B572-E775E730D9C0}" type="sibTrans" cxnId="{C0CE0202-FCF4-4330-880C-ECFBEDE70A22}">
      <dgm:prSet/>
      <dgm:spPr/>
      <dgm:t>
        <a:bodyPr/>
        <a:lstStyle/>
        <a:p>
          <a:endParaRPr lang="en-US"/>
        </a:p>
      </dgm:t>
    </dgm:pt>
    <dgm:pt modelId="{A0889C2B-8192-43FF-AB39-180109869077}" type="pres">
      <dgm:prSet presAssocID="{8D7E7955-ADCD-4610-9CF1-A048C3E038E6}" presName="linear" presStyleCnt="0">
        <dgm:presLayoutVars>
          <dgm:animLvl val="lvl"/>
          <dgm:resizeHandles val="exact"/>
        </dgm:presLayoutVars>
      </dgm:prSet>
      <dgm:spPr/>
    </dgm:pt>
    <dgm:pt modelId="{76B8AD92-B24A-4060-A51F-3A2FF306F5B4}" type="pres">
      <dgm:prSet presAssocID="{F3530A91-D63A-4FD8-8B14-20D21463622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714980-F850-44F2-AD9D-3ADDABE5E233}" type="pres">
      <dgm:prSet presAssocID="{FDAC155F-F664-47C0-8593-53921E5DCFFC}" presName="spacer" presStyleCnt="0"/>
      <dgm:spPr/>
    </dgm:pt>
    <dgm:pt modelId="{57B78A15-98EF-4D0E-A5D8-65B63F8000B8}" type="pres">
      <dgm:prSet presAssocID="{74B5E005-EDC7-4887-A54E-8CE59EB08B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E19787-B8B4-4A3D-8DE2-CCD3224D063C}" type="pres">
      <dgm:prSet presAssocID="{BB6C744E-B8AB-40B1-8B4E-0D22037FA9D8}" presName="spacer" presStyleCnt="0"/>
      <dgm:spPr/>
    </dgm:pt>
    <dgm:pt modelId="{DABCE4FB-D23B-4962-9C59-108F67957419}" type="pres">
      <dgm:prSet presAssocID="{62EEC2B1-E887-44ED-8F0A-C2EC1D3BEC9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EB9433F-FA97-49CD-ACC1-35EF891DCF14}" type="pres">
      <dgm:prSet presAssocID="{B657C0D8-9FA8-4F58-B1E2-C5FE2C57A565}" presName="spacer" presStyleCnt="0"/>
      <dgm:spPr/>
    </dgm:pt>
    <dgm:pt modelId="{98E4F9E0-4C65-4D39-93AA-92C3D6E7202F}" type="pres">
      <dgm:prSet presAssocID="{7068EC37-D0F6-4FF5-8FCA-4AC6E0D035C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CE0202-FCF4-4330-880C-ECFBEDE70A22}" srcId="{8D7E7955-ADCD-4610-9CF1-A048C3E038E6}" destId="{7068EC37-D0F6-4FF5-8FCA-4AC6E0D035C7}" srcOrd="3" destOrd="0" parTransId="{84D2F2B8-12AD-4BD2-A5C4-FC183902989D}" sibTransId="{8B935C19-80B5-4AD1-B572-E775E730D9C0}"/>
    <dgm:cxn modelId="{4C86520A-970D-4B6E-8EA8-4C1209C62064}" srcId="{8D7E7955-ADCD-4610-9CF1-A048C3E038E6}" destId="{74B5E005-EDC7-4887-A54E-8CE59EB08B29}" srcOrd="1" destOrd="0" parTransId="{B2CBC55C-49FA-4C06-B9C4-B6B3EC4B6B31}" sibTransId="{BB6C744E-B8AB-40B1-8B4E-0D22037FA9D8}"/>
    <dgm:cxn modelId="{38468430-F50C-40F7-9A11-9080BEF362A9}" type="presOf" srcId="{F3530A91-D63A-4FD8-8B14-20D214636228}" destId="{76B8AD92-B24A-4060-A51F-3A2FF306F5B4}" srcOrd="0" destOrd="0" presId="urn:microsoft.com/office/officeart/2005/8/layout/vList2"/>
    <dgm:cxn modelId="{7C596238-6246-4524-91AB-2E1B13DC6ACB}" type="presOf" srcId="{8D7E7955-ADCD-4610-9CF1-A048C3E038E6}" destId="{A0889C2B-8192-43FF-AB39-180109869077}" srcOrd="0" destOrd="0" presId="urn:microsoft.com/office/officeart/2005/8/layout/vList2"/>
    <dgm:cxn modelId="{070D4666-B542-4CA9-B267-46B6800F1E19}" type="presOf" srcId="{74B5E005-EDC7-4887-A54E-8CE59EB08B29}" destId="{57B78A15-98EF-4D0E-A5D8-65B63F8000B8}" srcOrd="0" destOrd="0" presId="urn:microsoft.com/office/officeart/2005/8/layout/vList2"/>
    <dgm:cxn modelId="{64D739BB-80B2-4FD4-90D7-3642DFF2AE12}" srcId="{8D7E7955-ADCD-4610-9CF1-A048C3E038E6}" destId="{62EEC2B1-E887-44ED-8F0A-C2EC1D3BEC96}" srcOrd="2" destOrd="0" parTransId="{0C302F49-1AFF-4959-AA1A-4457786CB971}" sibTransId="{B657C0D8-9FA8-4F58-B1E2-C5FE2C57A565}"/>
    <dgm:cxn modelId="{3068A1C7-DE6C-4D72-8D7D-658B57497B9E}" type="presOf" srcId="{7068EC37-D0F6-4FF5-8FCA-4AC6E0D035C7}" destId="{98E4F9E0-4C65-4D39-93AA-92C3D6E7202F}" srcOrd="0" destOrd="0" presId="urn:microsoft.com/office/officeart/2005/8/layout/vList2"/>
    <dgm:cxn modelId="{028775D4-3535-48CC-92F9-1EEC813D0420}" type="presOf" srcId="{62EEC2B1-E887-44ED-8F0A-C2EC1D3BEC96}" destId="{DABCE4FB-D23B-4962-9C59-108F67957419}" srcOrd="0" destOrd="0" presId="urn:microsoft.com/office/officeart/2005/8/layout/vList2"/>
    <dgm:cxn modelId="{F05001E8-B21C-4126-9A36-AB1EDDD9349E}" srcId="{8D7E7955-ADCD-4610-9CF1-A048C3E038E6}" destId="{F3530A91-D63A-4FD8-8B14-20D214636228}" srcOrd="0" destOrd="0" parTransId="{8E731DC9-2A65-41FF-BFD5-9D7CD157AE25}" sibTransId="{FDAC155F-F664-47C0-8593-53921E5DCFFC}"/>
    <dgm:cxn modelId="{06192DDD-6CDB-48C2-9A95-D13A5697B183}" type="presParOf" srcId="{A0889C2B-8192-43FF-AB39-180109869077}" destId="{76B8AD92-B24A-4060-A51F-3A2FF306F5B4}" srcOrd="0" destOrd="0" presId="urn:microsoft.com/office/officeart/2005/8/layout/vList2"/>
    <dgm:cxn modelId="{F310B1AA-6CC8-47C3-A9F8-FE8D24205CA7}" type="presParOf" srcId="{A0889C2B-8192-43FF-AB39-180109869077}" destId="{15714980-F850-44F2-AD9D-3ADDABE5E233}" srcOrd="1" destOrd="0" presId="urn:microsoft.com/office/officeart/2005/8/layout/vList2"/>
    <dgm:cxn modelId="{A79CEA93-AF0A-41B2-9523-2A966DA8BB61}" type="presParOf" srcId="{A0889C2B-8192-43FF-AB39-180109869077}" destId="{57B78A15-98EF-4D0E-A5D8-65B63F8000B8}" srcOrd="2" destOrd="0" presId="urn:microsoft.com/office/officeart/2005/8/layout/vList2"/>
    <dgm:cxn modelId="{5CAF81F2-8B9C-428D-87A4-31B54BBACE48}" type="presParOf" srcId="{A0889C2B-8192-43FF-AB39-180109869077}" destId="{36E19787-B8B4-4A3D-8DE2-CCD3224D063C}" srcOrd="3" destOrd="0" presId="urn:microsoft.com/office/officeart/2005/8/layout/vList2"/>
    <dgm:cxn modelId="{B9C06CD7-9415-48B9-9659-7D51B1D495E1}" type="presParOf" srcId="{A0889C2B-8192-43FF-AB39-180109869077}" destId="{DABCE4FB-D23B-4962-9C59-108F67957419}" srcOrd="4" destOrd="0" presId="urn:microsoft.com/office/officeart/2005/8/layout/vList2"/>
    <dgm:cxn modelId="{D92F86E4-B4B2-4C1F-8CF8-429DFE0F0BD4}" type="presParOf" srcId="{A0889C2B-8192-43FF-AB39-180109869077}" destId="{2EB9433F-FA97-49CD-ACC1-35EF891DCF14}" srcOrd="5" destOrd="0" presId="urn:microsoft.com/office/officeart/2005/8/layout/vList2"/>
    <dgm:cxn modelId="{7454F16C-2507-4D28-817F-9FA8AB3D3503}" type="presParOf" srcId="{A0889C2B-8192-43FF-AB39-180109869077}" destId="{98E4F9E0-4C65-4D39-93AA-92C3D6E7202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463B8D-BEEA-48DF-9243-211BEC46450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DA43D09C-0831-455D-80E6-C1BE2ED20325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sz="3600"/>
            <a:t>Sistemas heterogêneos fazendo parte de uma só empresa...</a:t>
          </a:r>
          <a:endParaRPr lang="en-US" sz="3600"/>
        </a:p>
      </dgm:t>
    </dgm:pt>
    <dgm:pt modelId="{0F375577-D3B7-4078-9F6E-B9C8E590445B}" type="parTrans" cxnId="{CAF0613F-50D6-4D53-9423-2783039F08E4}">
      <dgm:prSet/>
      <dgm:spPr/>
      <dgm:t>
        <a:bodyPr/>
        <a:lstStyle/>
        <a:p>
          <a:endParaRPr lang="en-US" sz="3600"/>
        </a:p>
      </dgm:t>
    </dgm:pt>
    <dgm:pt modelId="{AB165983-3CAC-40C2-9C0B-6B35FCED8DD0}" type="sibTrans" cxnId="{CAF0613F-50D6-4D53-9423-2783039F08E4}">
      <dgm:prSet/>
      <dgm:spPr/>
      <dgm:t>
        <a:bodyPr/>
        <a:lstStyle/>
        <a:p>
          <a:endParaRPr lang="en-US" sz="2800"/>
        </a:p>
      </dgm:t>
    </dgm:pt>
    <dgm:pt modelId="{13DF91F3-48A2-4A87-9E03-8F64100A1D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800"/>
            <a:t>Legados</a:t>
          </a:r>
          <a:endParaRPr lang="en-US" sz="2800"/>
        </a:p>
      </dgm:t>
    </dgm:pt>
    <dgm:pt modelId="{27BB310A-3386-4AFC-AA0D-D527B189363D}" type="parTrans" cxnId="{2F973593-931F-4A7B-A08A-CB9674472D55}">
      <dgm:prSet/>
      <dgm:spPr/>
      <dgm:t>
        <a:bodyPr/>
        <a:lstStyle/>
        <a:p>
          <a:endParaRPr lang="en-US" sz="3600"/>
        </a:p>
      </dgm:t>
    </dgm:pt>
    <dgm:pt modelId="{1AA1FBEE-4759-49A7-84C7-9130E2521097}" type="sibTrans" cxnId="{2F973593-931F-4A7B-A08A-CB9674472D55}">
      <dgm:prSet/>
      <dgm:spPr/>
      <dgm:t>
        <a:bodyPr/>
        <a:lstStyle/>
        <a:p>
          <a:endParaRPr lang="en-US" sz="2800"/>
        </a:p>
      </dgm:t>
    </dgm:pt>
    <dgm:pt modelId="{7310A5F8-8E63-431A-86BC-3751139729E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800"/>
            <a:t>Aplicações “caseiras”</a:t>
          </a:r>
          <a:endParaRPr lang="en-US" sz="2800"/>
        </a:p>
      </dgm:t>
    </dgm:pt>
    <dgm:pt modelId="{20AF9803-37E0-4463-86C5-29C94AFB0375}" type="parTrans" cxnId="{2317DF74-84F8-4AA6-A113-E11EA63A5EA1}">
      <dgm:prSet/>
      <dgm:spPr/>
      <dgm:t>
        <a:bodyPr/>
        <a:lstStyle/>
        <a:p>
          <a:endParaRPr lang="en-US" sz="3600"/>
        </a:p>
      </dgm:t>
    </dgm:pt>
    <dgm:pt modelId="{54D6EA85-1F22-4FF4-8B5F-8BF201195341}" type="sibTrans" cxnId="{2317DF74-84F8-4AA6-A113-E11EA63A5EA1}">
      <dgm:prSet/>
      <dgm:spPr/>
      <dgm:t>
        <a:bodyPr/>
        <a:lstStyle/>
        <a:p>
          <a:endParaRPr lang="en-US" sz="2800"/>
        </a:p>
      </dgm:t>
    </dgm:pt>
    <dgm:pt modelId="{63B7209E-5F4E-4E02-BF40-D4C4D2D3F56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800"/>
            <a:t>Novas tecnologias</a:t>
          </a:r>
          <a:endParaRPr lang="en-US" sz="2800"/>
        </a:p>
      </dgm:t>
    </dgm:pt>
    <dgm:pt modelId="{011C272F-7242-4F76-AC6E-0C44E739065E}" type="parTrans" cxnId="{D63C7BEF-8BAA-4195-B701-136214529F23}">
      <dgm:prSet/>
      <dgm:spPr/>
      <dgm:t>
        <a:bodyPr/>
        <a:lstStyle/>
        <a:p>
          <a:endParaRPr lang="en-US" sz="3600"/>
        </a:p>
      </dgm:t>
    </dgm:pt>
    <dgm:pt modelId="{53EAFD28-6FA4-4BA0-8989-8B723A026F88}" type="sibTrans" cxnId="{D63C7BEF-8BAA-4195-B701-136214529F23}">
      <dgm:prSet/>
      <dgm:spPr/>
      <dgm:t>
        <a:bodyPr/>
        <a:lstStyle/>
        <a:p>
          <a:endParaRPr lang="en-US" sz="2800"/>
        </a:p>
      </dgm:t>
    </dgm:pt>
    <dgm:pt modelId="{9AD321DD-A622-47B5-9B87-00A13EDA628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800"/>
            <a:t>Soluções de mercado</a:t>
          </a:r>
          <a:endParaRPr lang="en-US" sz="2800"/>
        </a:p>
      </dgm:t>
    </dgm:pt>
    <dgm:pt modelId="{1BF2FB4C-A3F7-4132-96DC-91C8302C62B1}" type="parTrans" cxnId="{DCA07254-0604-4D2F-8FDC-84179FDBE96C}">
      <dgm:prSet/>
      <dgm:spPr/>
      <dgm:t>
        <a:bodyPr/>
        <a:lstStyle/>
        <a:p>
          <a:endParaRPr lang="en-US" sz="3600"/>
        </a:p>
      </dgm:t>
    </dgm:pt>
    <dgm:pt modelId="{97083D1F-E65D-42A7-A62E-457D0007B047}" type="sibTrans" cxnId="{DCA07254-0604-4D2F-8FDC-84179FDBE96C}">
      <dgm:prSet/>
      <dgm:spPr/>
      <dgm:t>
        <a:bodyPr/>
        <a:lstStyle/>
        <a:p>
          <a:endParaRPr lang="en-US" sz="2800"/>
        </a:p>
      </dgm:t>
    </dgm:pt>
    <dgm:pt modelId="{42793734-E093-4D4D-AAC3-B9BC13CC9F14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sz="3600"/>
            <a:t>Métodos de usar os sistemas não são padronizados...</a:t>
          </a:r>
          <a:endParaRPr lang="en-US" sz="3600"/>
        </a:p>
      </dgm:t>
    </dgm:pt>
    <dgm:pt modelId="{AC996FCC-2DBF-42E3-8A35-DF320DB62D58}" type="parTrans" cxnId="{02B25F3B-4BF7-4CF5-9845-2B63302A66F5}">
      <dgm:prSet/>
      <dgm:spPr/>
      <dgm:t>
        <a:bodyPr/>
        <a:lstStyle/>
        <a:p>
          <a:endParaRPr lang="en-US" sz="3600"/>
        </a:p>
      </dgm:t>
    </dgm:pt>
    <dgm:pt modelId="{93EDFB28-64C1-4571-9477-94061960C308}" type="sibTrans" cxnId="{02B25F3B-4BF7-4CF5-9845-2B63302A66F5}">
      <dgm:prSet/>
      <dgm:spPr/>
      <dgm:t>
        <a:bodyPr/>
        <a:lstStyle/>
        <a:p>
          <a:endParaRPr lang="en-US" sz="2800"/>
        </a:p>
      </dgm:t>
    </dgm:pt>
    <dgm:pt modelId="{3833C3B9-8D6D-426A-B9C4-8946EA91BE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800"/>
            <a:t>Protocolos - MQ, TCP/IP, HTTP, File system, FTP, SMTP, POP3 etc.</a:t>
          </a:r>
          <a:endParaRPr lang="en-US" sz="2800"/>
        </a:p>
      </dgm:t>
    </dgm:pt>
    <dgm:pt modelId="{E6B0DC3F-23C9-49D8-86DC-3F20A1495F5E}" type="parTrans" cxnId="{28D15092-A6E4-4114-B913-BA7C4233B78D}">
      <dgm:prSet/>
      <dgm:spPr/>
      <dgm:t>
        <a:bodyPr/>
        <a:lstStyle/>
        <a:p>
          <a:endParaRPr lang="en-US" sz="3600"/>
        </a:p>
      </dgm:t>
    </dgm:pt>
    <dgm:pt modelId="{2CEDDFAA-28E2-4BDD-A20B-9C7FD42DFD93}" type="sibTrans" cxnId="{28D15092-A6E4-4114-B913-BA7C4233B78D}">
      <dgm:prSet/>
      <dgm:spPr/>
      <dgm:t>
        <a:bodyPr/>
        <a:lstStyle/>
        <a:p>
          <a:endParaRPr lang="en-US" sz="2800"/>
        </a:p>
      </dgm:t>
    </dgm:pt>
    <dgm:pt modelId="{DE3E49B6-BE04-4351-BF55-96FCAC9144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800"/>
            <a:t>Formatos de mensagem - C/COBOL, XML, JSON, ISO8583, Industria (SWIFT, EDI, HL7), User-defined</a:t>
          </a:r>
          <a:endParaRPr lang="en-US" sz="2800"/>
        </a:p>
      </dgm:t>
    </dgm:pt>
    <dgm:pt modelId="{FE3946B8-B9D3-4CA4-948B-9BED6C3DE34A}" type="parTrans" cxnId="{2956491D-6DAF-470E-B7BE-ABB4C06C4CB5}">
      <dgm:prSet/>
      <dgm:spPr/>
      <dgm:t>
        <a:bodyPr/>
        <a:lstStyle/>
        <a:p>
          <a:endParaRPr lang="en-US" sz="3600"/>
        </a:p>
      </dgm:t>
    </dgm:pt>
    <dgm:pt modelId="{01D9FC8E-ABCE-4A0B-B2A3-84F3A09EE314}" type="sibTrans" cxnId="{2956491D-6DAF-470E-B7BE-ABB4C06C4CB5}">
      <dgm:prSet/>
      <dgm:spPr/>
      <dgm:t>
        <a:bodyPr/>
        <a:lstStyle/>
        <a:p>
          <a:endParaRPr lang="en-US" sz="2800"/>
        </a:p>
      </dgm:t>
    </dgm:pt>
    <dgm:pt modelId="{492F5BAA-C933-4025-ACDB-45D71954117F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sz="3600"/>
            <a:t>Integração é conectar todo esse mundo de uma forma fácil... </a:t>
          </a:r>
          <a:endParaRPr lang="en-US" sz="3600"/>
        </a:p>
      </dgm:t>
    </dgm:pt>
    <dgm:pt modelId="{33B7F21F-96F1-4C03-8296-8FD9A594AF80}" type="parTrans" cxnId="{F78CB7F0-46AA-41B9-BC55-68C8ADB1B516}">
      <dgm:prSet/>
      <dgm:spPr/>
      <dgm:t>
        <a:bodyPr/>
        <a:lstStyle/>
        <a:p>
          <a:endParaRPr lang="en-US" sz="3600"/>
        </a:p>
      </dgm:t>
    </dgm:pt>
    <dgm:pt modelId="{C3BDC816-1FB6-4394-9123-B6991E4BDA93}" type="sibTrans" cxnId="{F78CB7F0-46AA-41B9-BC55-68C8ADB1B516}">
      <dgm:prSet/>
      <dgm:spPr/>
      <dgm:t>
        <a:bodyPr/>
        <a:lstStyle/>
        <a:p>
          <a:endParaRPr lang="en-US" sz="2800"/>
        </a:p>
      </dgm:t>
    </dgm:pt>
    <dgm:pt modelId="{BC59C757-7C7B-48CC-A933-4DB283FEC4AD}" type="pres">
      <dgm:prSet presAssocID="{8E463B8D-BEEA-48DF-9243-211BEC46450E}" presName="root" presStyleCnt="0">
        <dgm:presLayoutVars>
          <dgm:dir/>
          <dgm:resizeHandles val="exact"/>
        </dgm:presLayoutVars>
      </dgm:prSet>
      <dgm:spPr/>
    </dgm:pt>
    <dgm:pt modelId="{60791983-AD3B-45BF-A3B0-FEB3AEF7C4D1}" type="pres">
      <dgm:prSet presAssocID="{DA43D09C-0831-455D-80E6-C1BE2ED20325}" presName="compNode" presStyleCnt="0"/>
      <dgm:spPr/>
    </dgm:pt>
    <dgm:pt modelId="{574D712F-E101-429A-8414-A1A2597363A3}" type="pres">
      <dgm:prSet presAssocID="{DA43D09C-0831-455D-80E6-C1BE2ED2032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EB655A32-3E87-45D3-8F34-A569EFBB6E3C}" type="pres">
      <dgm:prSet presAssocID="{DA43D09C-0831-455D-80E6-C1BE2ED20325}" presName="iconSpace" presStyleCnt="0"/>
      <dgm:spPr/>
    </dgm:pt>
    <dgm:pt modelId="{6A5886DD-E5CC-4403-B745-3637815750CB}" type="pres">
      <dgm:prSet presAssocID="{DA43D09C-0831-455D-80E6-C1BE2ED20325}" presName="parTx" presStyleLbl="revTx" presStyleIdx="0" presStyleCnt="6">
        <dgm:presLayoutVars>
          <dgm:chMax val="0"/>
          <dgm:chPref val="0"/>
        </dgm:presLayoutVars>
      </dgm:prSet>
      <dgm:spPr/>
    </dgm:pt>
    <dgm:pt modelId="{6BCC6993-139F-42A6-ADF4-7D1971E91ED1}" type="pres">
      <dgm:prSet presAssocID="{DA43D09C-0831-455D-80E6-C1BE2ED20325}" presName="txSpace" presStyleCnt="0"/>
      <dgm:spPr/>
    </dgm:pt>
    <dgm:pt modelId="{A66969A9-F124-4779-AC85-C471DF6C63FC}" type="pres">
      <dgm:prSet presAssocID="{DA43D09C-0831-455D-80E6-C1BE2ED20325}" presName="desTx" presStyleLbl="revTx" presStyleIdx="1" presStyleCnt="6">
        <dgm:presLayoutVars/>
      </dgm:prSet>
      <dgm:spPr/>
    </dgm:pt>
    <dgm:pt modelId="{1DDF7F48-AFE8-42F7-A36B-9502458E2C58}" type="pres">
      <dgm:prSet presAssocID="{AB165983-3CAC-40C2-9C0B-6B35FCED8DD0}" presName="sibTrans" presStyleCnt="0"/>
      <dgm:spPr/>
    </dgm:pt>
    <dgm:pt modelId="{FD9654AD-8116-43D6-A96F-500D11FAD8D2}" type="pres">
      <dgm:prSet presAssocID="{42793734-E093-4D4D-AAC3-B9BC13CC9F14}" presName="compNode" presStyleCnt="0"/>
      <dgm:spPr/>
    </dgm:pt>
    <dgm:pt modelId="{3190E86C-207B-49D0-84FD-45E64DD0094E}" type="pres">
      <dgm:prSet presAssocID="{42793734-E093-4D4D-AAC3-B9BC13CC9F1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2E03C78-6739-47F0-821E-00597F37AFD1}" type="pres">
      <dgm:prSet presAssocID="{42793734-E093-4D4D-AAC3-B9BC13CC9F14}" presName="iconSpace" presStyleCnt="0"/>
      <dgm:spPr/>
    </dgm:pt>
    <dgm:pt modelId="{DF619527-5E4C-4197-BB89-BAA7AC3D3017}" type="pres">
      <dgm:prSet presAssocID="{42793734-E093-4D4D-AAC3-B9BC13CC9F14}" presName="parTx" presStyleLbl="revTx" presStyleIdx="2" presStyleCnt="6">
        <dgm:presLayoutVars>
          <dgm:chMax val="0"/>
          <dgm:chPref val="0"/>
        </dgm:presLayoutVars>
      </dgm:prSet>
      <dgm:spPr/>
    </dgm:pt>
    <dgm:pt modelId="{E4FB6FD0-AD9E-4180-89C5-03E1DC5DEBC9}" type="pres">
      <dgm:prSet presAssocID="{42793734-E093-4D4D-AAC3-B9BC13CC9F14}" presName="txSpace" presStyleCnt="0"/>
      <dgm:spPr/>
    </dgm:pt>
    <dgm:pt modelId="{14B7977E-137F-4CC4-8DB5-62B72085AD46}" type="pres">
      <dgm:prSet presAssocID="{42793734-E093-4D4D-AAC3-B9BC13CC9F14}" presName="desTx" presStyleLbl="revTx" presStyleIdx="3" presStyleCnt="6">
        <dgm:presLayoutVars/>
      </dgm:prSet>
      <dgm:spPr/>
    </dgm:pt>
    <dgm:pt modelId="{D8E81EE8-CC5A-4478-B4EF-5EB7DC4E406D}" type="pres">
      <dgm:prSet presAssocID="{93EDFB28-64C1-4571-9477-94061960C308}" presName="sibTrans" presStyleCnt="0"/>
      <dgm:spPr/>
    </dgm:pt>
    <dgm:pt modelId="{1D558E8F-C3E7-49B3-8822-74ADF7F1843E}" type="pres">
      <dgm:prSet presAssocID="{492F5BAA-C933-4025-ACDB-45D71954117F}" presName="compNode" presStyleCnt="0"/>
      <dgm:spPr/>
    </dgm:pt>
    <dgm:pt modelId="{255C494A-0B0D-4AA0-AFC7-7394D9E641CD}" type="pres">
      <dgm:prSet presAssocID="{492F5BAA-C933-4025-ACDB-45D71954117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33FC3692-1C1E-4578-B7A5-8C96808234A9}" type="pres">
      <dgm:prSet presAssocID="{492F5BAA-C933-4025-ACDB-45D71954117F}" presName="iconSpace" presStyleCnt="0"/>
      <dgm:spPr/>
    </dgm:pt>
    <dgm:pt modelId="{85303C46-B05E-4B6B-8E68-CE181D45A1A2}" type="pres">
      <dgm:prSet presAssocID="{492F5BAA-C933-4025-ACDB-45D71954117F}" presName="parTx" presStyleLbl="revTx" presStyleIdx="4" presStyleCnt="6">
        <dgm:presLayoutVars>
          <dgm:chMax val="0"/>
          <dgm:chPref val="0"/>
        </dgm:presLayoutVars>
      </dgm:prSet>
      <dgm:spPr/>
    </dgm:pt>
    <dgm:pt modelId="{9300444B-C9FE-4BCA-9F26-E0ACEC5F55DD}" type="pres">
      <dgm:prSet presAssocID="{492F5BAA-C933-4025-ACDB-45D71954117F}" presName="txSpace" presStyleCnt="0"/>
      <dgm:spPr/>
    </dgm:pt>
    <dgm:pt modelId="{88AF93EB-987E-4293-B647-A36B7286B626}" type="pres">
      <dgm:prSet presAssocID="{492F5BAA-C933-4025-ACDB-45D71954117F}" presName="desTx" presStyleLbl="revTx" presStyleIdx="5" presStyleCnt="6">
        <dgm:presLayoutVars/>
      </dgm:prSet>
      <dgm:spPr/>
    </dgm:pt>
  </dgm:ptLst>
  <dgm:cxnLst>
    <dgm:cxn modelId="{DB1A1701-0858-4CF9-917D-07DFC08D041D}" type="presOf" srcId="{13DF91F3-48A2-4A87-9E03-8F64100A1DE6}" destId="{A66969A9-F124-4779-AC85-C471DF6C63FC}" srcOrd="0" destOrd="0" presId="urn:microsoft.com/office/officeart/2018/2/layout/IconLabelDescriptionList"/>
    <dgm:cxn modelId="{A690CE18-BF30-44D0-88A1-9E61D5B84512}" type="presOf" srcId="{DA43D09C-0831-455D-80E6-C1BE2ED20325}" destId="{6A5886DD-E5CC-4403-B745-3637815750CB}" srcOrd="0" destOrd="0" presId="urn:microsoft.com/office/officeart/2018/2/layout/IconLabelDescriptionList"/>
    <dgm:cxn modelId="{2956491D-6DAF-470E-B7BE-ABB4C06C4CB5}" srcId="{42793734-E093-4D4D-AAC3-B9BC13CC9F14}" destId="{DE3E49B6-BE04-4351-BF55-96FCAC9144B2}" srcOrd="1" destOrd="0" parTransId="{FE3946B8-B9D3-4CA4-948B-9BED6C3DE34A}" sibTransId="{01D9FC8E-ABCE-4A0B-B2A3-84F3A09EE314}"/>
    <dgm:cxn modelId="{02B25F3B-4BF7-4CF5-9845-2B63302A66F5}" srcId="{8E463B8D-BEEA-48DF-9243-211BEC46450E}" destId="{42793734-E093-4D4D-AAC3-B9BC13CC9F14}" srcOrd="1" destOrd="0" parTransId="{AC996FCC-2DBF-42E3-8A35-DF320DB62D58}" sibTransId="{93EDFB28-64C1-4571-9477-94061960C308}"/>
    <dgm:cxn modelId="{CAF0613F-50D6-4D53-9423-2783039F08E4}" srcId="{8E463B8D-BEEA-48DF-9243-211BEC46450E}" destId="{DA43D09C-0831-455D-80E6-C1BE2ED20325}" srcOrd="0" destOrd="0" parTransId="{0F375577-D3B7-4078-9F6E-B9C8E590445B}" sibTransId="{AB165983-3CAC-40C2-9C0B-6B35FCED8DD0}"/>
    <dgm:cxn modelId="{CA0DEE5B-A306-4F09-BBBE-C5BE38902A09}" type="presOf" srcId="{492F5BAA-C933-4025-ACDB-45D71954117F}" destId="{85303C46-B05E-4B6B-8E68-CE181D45A1A2}" srcOrd="0" destOrd="0" presId="urn:microsoft.com/office/officeart/2018/2/layout/IconLabelDescriptionList"/>
    <dgm:cxn modelId="{35F20A63-9610-4319-9677-43B3C0C078A1}" type="presOf" srcId="{3833C3B9-8D6D-426A-B9C4-8946EA91BE22}" destId="{14B7977E-137F-4CC4-8DB5-62B72085AD46}" srcOrd="0" destOrd="0" presId="urn:microsoft.com/office/officeart/2018/2/layout/IconLabelDescriptionList"/>
    <dgm:cxn modelId="{3D82B946-236D-46A7-9EB8-C6D26730D527}" type="presOf" srcId="{8E463B8D-BEEA-48DF-9243-211BEC46450E}" destId="{BC59C757-7C7B-48CC-A933-4DB283FEC4AD}" srcOrd="0" destOrd="0" presId="urn:microsoft.com/office/officeart/2018/2/layout/IconLabelDescriptionList"/>
    <dgm:cxn modelId="{90AC3C4D-C574-4ACB-B433-EE187DDC4BAE}" type="presOf" srcId="{DE3E49B6-BE04-4351-BF55-96FCAC9144B2}" destId="{14B7977E-137F-4CC4-8DB5-62B72085AD46}" srcOrd="0" destOrd="1" presId="urn:microsoft.com/office/officeart/2018/2/layout/IconLabelDescriptionList"/>
    <dgm:cxn modelId="{DCA07254-0604-4D2F-8FDC-84179FDBE96C}" srcId="{DA43D09C-0831-455D-80E6-C1BE2ED20325}" destId="{9AD321DD-A622-47B5-9B87-00A13EDA6287}" srcOrd="3" destOrd="0" parTransId="{1BF2FB4C-A3F7-4132-96DC-91C8302C62B1}" sibTransId="{97083D1F-E65D-42A7-A62E-457D0007B047}"/>
    <dgm:cxn modelId="{2317DF74-84F8-4AA6-A113-E11EA63A5EA1}" srcId="{DA43D09C-0831-455D-80E6-C1BE2ED20325}" destId="{7310A5F8-8E63-431A-86BC-3751139729EC}" srcOrd="1" destOrd="0" parTransId="{20AF9803-37E0-4463-86C5-29C94AFB0375}" sibTransId="{54D6EA85-1F22-4FF4-8B5F-8BF201195341}"/>
    <dgm:cxn modelId="{28D15092-A6E4-4114-B913-BA7C4233B78D}" srcId="{42793734-E093-4D4D-AAC3-B9BC13CC9F14}" destId="{3833C3B9-8D6D-426A-B9C4-8946EA91BE22}" srcOrd="0" destOrd="0" parTransId="{E6B0DC3F-23C9-49D8-86DC-3F20A1495F5E}" sibTransId="{2CEDDFAA-28E2-4BDD-A20B-9C7FD42DFD93}"/>
    <dgm:cxn modelId="{2F973593-931F-4A7B-A08A-CB9674472D55}" srcId="{DA43D09C-0831-455D-80E6-C1BE2ED20325}" destId="{13DF91F3-48A2-4A87-9E03-8F64100A1DE6}" srcOrd="0" destOrd="0" parTransId="{27BB310A-3386-4AFC-AA0D-D527B189363D}" sibTransId="{1AA1FBEE-4759-49A7-84C7-9130E2521097}"/>
    <dgm:cxn modelId="{54AE50A8-4205-4FE5-9585-412AF5E19F89}" type="presOf" srcId="{7310A5F8-8E63-431A-86BC-3751139729EC}" destId="{A66969A9-F124-4779-AC85-C471DF6C63FC}" srcOrd="0" destOrd="1" presId="urn:microsoft.com/office/officeart/2018/2/layout/IconLabelDescriptionList"/>
    <dgm:cxn modelId="{4B716AA9-27BE-4BE9-8AA9-0125AD60CFA7}" type="presOf" srcId="{42793734-E093-4D4D-AAC3-B9BC13CC9F14}" destId="{DF619527-5E4C-4197-BB89-BAA7AC3D3017}" srcOrd="0" destOrd="0" presId="urn:microsoft.com/office/officeart/2018/2/layout/IconLabelDescriptionList"/>
    <dgm:cxn modelId="{A673DAAA-340F-4CBC-A555-E2744EBE31E6}" type="presOf" srcId="{9AD321DD-A622-47B5-9B87-00A13EDA6287}" destId="{A66969A9-F124-4779-AC85-C471DF6C63FC}" srcOrd="0" destOrd="3" presId="urn:microsoft.com/office/officeart/2018/2/layout/IconLabelDescriptionList"/>
    <dgm:cxn modelId="{95F59DB2-325F-4C92-8E52-DADC93CF2A52}" type="presOf" srcId="{63B7209E-5F4E-4E02-BF40-D4C4D2D3F56A}" destId="{A66969A9-F124-4779-AC85-C471DF6C63FC}" srcOrd="0" destOrd="2" presId="urn:microsoft.com/office/officeart/2018/2/layout/IconLabelDescriptionList"/>
    <dgm:cxn modelId="{D63C7BEF-8BAA-4195-B701-136214529F23}" srcId="{DA43D09C-0831-455D-80E6-C1BE2ED20325}" destId="{63B7209E-5F4E-4E02-BF40-D4C4D2D3F56A}" srcOrd="2" destOrd="0" parTransId="{011C272F-7242-4F76-AC6E-0C44E739065E}" sibTransId="{53EAFD28-6FA4-4BA0-8989-8B723A026F88}"/>
    <dgm:cxn modelId="{F78CB7F0-46AA-41B9-BC55-68C8ADB1B516}" srcId="{8E463B8D-BEEA-48DF-9243-211BEC46450E}" destId="{492F5BAA-C933-4025-ACDB-45D71954117F}" srcOrd="2" destOrd="0" parTransId="{33B7F21F-96F1-4C03-8296-8FD9A594AF80}" sibTransId="{C3BDC816-1FB6-4394-9123-B6991E4BDA93}"/>
    <dgm:cxn modelId="{FE02FFEB-B7AE-411E-A58C-B6E42BC749D8}" type="presParOf" srcId="{BC59C757-7C7B-48CC-A933-4DB283FEC4AD}" destId="{60791983-AD3B-45BF-A3B0-FEB3AEF7C4D1}" srcOrd="0" destOrd="0" presId="urn:microsoft.com/office/officeart/2018/2/layout/IconLabelDescriptionList"/>
    <dgm:cxn modelId="{C2BDC2E5-F39A-41AA-851C-6AF33D566BFC}" type="presParOf" srcId="{60791983-AD3B-45BF-A3B0-FEB3AEF7C4D1}" destId="{574D712F-E101-429A-8414-A1A2597363A3}" srcOrd="0" destOrd="0" presId="urn:microsoft.com/office/officeart/2018/2/layout/IconLabelDescriptionList"/>
    <dgm:cxn modelId="{D43B1756-D675-47E8-B894-BF596183C4DC}" type="presParOf" srcId="{60791983-AD3B-45BF-A3B0-FEB3AEF7C4D1}" destId="{EB655A32-3E87-45D3-8F34-A569EFBB6E3C}" srcOrd="1" destOrd="0" presId="urn:microsoft.com/office/officeart/2018/2/layout/IconLabelDescriptionList"/>
    <dgm:cxn modelId="{3270BDA6-110A-4D07-9F25-9683B9DC32A8}" type="presParOf" srcId="{60791983-AD3B-45BF-A3B0-FEB3AEF7C4D1}" destId="{6A5886DD-E5CC-4403-B745-3637815750CB}" srcOrd="2" destOrd="0" presId="urn:microsoft.com/office/officeart/2018/2/layout/IconLabelDescriptionList"/>
    <dgm:cxn modelId="{F4DC321C-3236-4A19-80AB-ABEDA1116D86}" type="presParOf" srcId="{60791983-AD3B-45BF-A3B0-FEB3AEF7C4D1}" destId="{6BCC6993-139F-42A6-ADF4-7D1971E91ED1}" srcOrd="3" destOrd="0" presId="urn:microsoft.com/office/officeart/2018/2/layout/IconLabelDescriptionList"/>
    <dgm:cxn modelId="{1BEF0BCB-7CD2-40FD-968A-B984DC0E0C4F}" type="presParOf" srcId="{60791983-AD3B-45BF-A3B0-FEB3AEF7C4D1}" destId="{A66969A9-F124-4779-AC85-C471DF6C63FC}" srcOrd="4" destOrd="0" presId="urn:microsoft.com/office/officeart/2018/2/layout/IconLabelDescriptionList"/>
    <dgm:cxn modelId="{EE0725A9-FDCB-4D9C-8DE9-F5F3490829E0}" type="presParOf" srcId="{BC59C757-7C7B-48CC-A933-4DB283FEC4AD}" destId="{1DDF7F48-AFE8-42F7-A36B-9502458E2C58}" srcOrd="1" destOrd="0" presId="urn:microsoft.com/office/officeart/2018/2/layout/IconLabelDescriptionList"/>
    <dgm:cxn modelId="{802F5419-A692-4974-A466-6E93BDD2EA4F}" type="presParOf" srcId="{BC59C757-7C7B-48CC-A933-4DB283FEC4AD}" destId="{FD9654AD-8116-43D6-A96F-500D11FAD8D2}" srcOrd="2" destOrd="0" presId="urn:microsoft.com/office/officeart/2018/2/layout/IconLabelDescriptionList"/>
    <dgm:cxn modelId="{77A19866-BDCE-4555-94EA-1F475561C11E}" type="presParOf" srcId="{FD9654AD-8116-43D6-A96F-500D11FAD8D2}" destId="{3190E86C-207B-49D0-84FD-45E64DD0094E}" srcOrd="0" destOrd="0" presId="urn:microsoft.com/office/officeart/2018/2/layout/IconLabelDescriptionList"/>
    <dgm:cxn modelId="{371A9D6D-C21D-47FD-B6B4-C39710B610E6}" type="presParOf" srcId="{FD9654AD-8116-43D6-A96F-500D11FAD8D2}" destId="{12E03C78-6739-47F0-821E-00597F37AFD1}" srcOrd="1" destOrd="0" presId="urn:microsoft.com/office/officeart/2018/2/layout/IconLabelDescriptionList"/>
    <dgm:cxn modelId="{72F3BAE8-AAAD-46EC-A46F-D70E9BF115B8}" type="presParOf" srcId="{FD9654AD-8116-43D6-A96F-500D11FAD8D2}" destId="{DF619527-5E4C-4197-BB89-BAA7AC3D3017}" srcOrd="2" destOrd="0" presId="urn:microsoft.com/office/officeart/2018/2/layout/IconLabelDescriptionList"/>
    <dgm:cxn modelId="{5C379267-E7A2-48EB-A729-A358A71C661C}" type="presParOf" srcId="{FD9654AD-8116-43D6-A96F-500D11FAD8D2}" destId="{E4FB6FD0-AD9E-4180-89C5-03E1DC5DEBC9}" srcOrd="3" destOrd="0" presId="urn:microsoft.com/office/officeart/2018/2/layout/IconLabelDescriptionList"/>
    <dgm:cxn modelId="{BAF9DEEC-D9FF-4F8B-B1CF-5E45CBE6FA19}" type="presParOf" srcId="{FD9654AD-8116-43D6-A96F-500D11FAD8D2}" destId="{14B7977E-137F-4CC4-8DB5-62B72085AD46}" srcOrd="4" destOrd="0" presId="urn:microsoft.com/office/officeart/2018/2/layout/IconLabelDescriptionList"/>
    <dgm:cxn modelId="{517C9B22-763E-4F4B-9464-19853A76EF65}" type="presParOf" srcId="{BC59C757-7C7B-48CC-A933-4DB283FEC4AD}" destId="{D8E81EE8-CC5A-4478-B4EF-5EB7DC4E406D}" srcOrd="3" destOrd="0" presId="urn:microsoft.com/office/officeart/2018/2/layout/IconLabelDescriptionList"/>
    <dgm:cxn modelId="{888A3F72-48A1-443B-8F19-798B2B70184B}" type="presParOf" srcId="{BC59C757-7C7B-48CC-A933-4DB283FEC4AD}" destId="{1D558E8F-C3E7-49B3-8822-74ADF7F1843E}" srcOrd="4" destOrd="0" presId="urn:microsoft.com/office/officeart/2018/2/layout/IconLabelDescriptionList"/>
    <dgm:cxn modelId="{114EB959-0A49-4DD6-A41B-D9CEE0566D8C}" type="presParOf" srcId="{1D558E8F-C3E7-49B3-8822-74ADF7F1843E}" destId="{255C494A-0B0D-4AA0-AFC7-7394D9E641CD}" srcOrd="0" destOrd="0" presId="urn:microsoft.com/office/officeart/2018/2/layout/IconLabelDescriptionList"/>
    <dgm:cxn modelId="{D3EEF7E6-905F-4832-A7A1-085F3F6AB7C6}" type="presParOf" srcId="{1D558E8F-C3E7-49B3-8822-74ADF7F1843E}" destId="{33FC3692-1C1E-4578-B7A5-8C96808234A9}" srcOrd="1" destOrd="0" presId="urn:microsoft.com/office/officeart/2018/2/layout/IconLabelDescriptionList"/>
    <dgm:cxn modelId="{1CD677DA-1775-4A2A-B26F-5863DA3E9288}" type="presParOf" srcId="{1D558E8F-C3E7-49B3-8822-74ADF7F1843E}" destId="{85303C46-B05E-4B6B-8E68-CE181D45A1A2}" srcOrd="2" destOrd="0" presId="urn:microsoft.com/office/officeart/2018/2/layout/IconLabelDescriptionList"/>
    <dgm:cxn modelId="{773D595F-43CF-4E26-887C-7E91C3A83F65}" type="presParOf" srcId="{1D558E8F-C3E7-49B3-8822-74ADF7F1843E}" destId="{9300444B-C9FE-4BCA-9F26-E0ACEC5F55DD}" srcOrd="3" destOrd="0" presId="urn:microsoft.com/office/officeart/2018/2/layout/IconLabelDescriptionList"/>
    <dgm:cxn modelId="{EB72B7A1-A0B6-4A95-889F-DDB76C38ECDE}" type="presParOf" srcId="{1D558E8F-C3E7-49B3-8822-74ADF7F1843E}" destId="{88AF93EB-987E-4293-B647-A36B7286B62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2E51DC-ACAB-49F6-8854-3C576E5B686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31A735C-83D8-4B60-B7AD-AB22EC289B88}">
      <dgm:prSet/>
      <dgm:spPr/>
      <dgm:t>
        <a:bodyPr/>
        <a:lstStyle/>
        <a:p>
          <a:r>
            <a:rPr lang="pt-BR"/>
            <a:t>Podemos usar o ACE para conectar aplicativos, independentemente dos formatos de mensagem ou protocolos que eles suportam.</a:t>
          </a:r>
          <a:endParaRPr lang="en-US"/>
        </a:p>
      </dgm:t>
    </dgm:pt>
    <dgm:pt modelId="{5BD5DAE2-A7F3-4AF6-BA74-DCBBD6122983}" type="parTrans" cxnId="{CA0592F0-E4C6-4E95-8CAB-8D6CEED79B3D}">
      <dgm:prSet/>
      <dgm:spPr/>
      <dgm:t>
        <a:bodyPr/>
        <a:lstStyle/>
        <a:p>
          <a:endParaRPr lang="en-US"/>
        </a:p>
      </dgm:t>
    </dgm:pt>
    <dgm:pt modelId="{6E4B8DEE-34A4-442A-BBC6-513521BB975C}" type="sibTrans" cxnId="{CA0592F0-E4C6-4E95-8CAB-8D6CEED79B3D}">
      <dgm:prSet/>
      <dgm:spPr/>
      <dgm:t>
        <a:bodyPr/>
        <a:lstStyle/>
        <a:p>
          <a:endParaRPr lang="en-US"/>
        </a:p>
      </dgm:t>
    </dgm:pt>
    <dgm:pt modelId="{34E824A8-DF95-45D6-B589-55A15A449434}">
      <dgm:prSet/>
      <dgm:spPr/>
      <dgm:t>
        <a:bodyPr/>
        <a:lstStyle/>
        <a:p>
          <a:r>
            <a:rPr lang="pt-BR"/>
            <a:t>Essa conectividade significa que diversos aplicativos podem interagir e trocar dados com outros aplicativos em uma infraestrutura flexível, dinâmica e extensível.</a:t>
          </a:r>
          <a:endParaRPr lang="en-US"/>
        </a:p>
      </dgm:t>
    </dgm:pt>
    <dgm:pt modelId="{43A3BEF9-B93A-42AA-8AAC-9EC11651A62C}" type="parTrans" cxnId="{6241F8B8-AC5E-4CCA-A8E5-12EB112BD963}">
      <dgm:prSet/>
      <dgm:spPr/>
      <dgm:t>
        <a:bodyPr/>
        <a:lstStyle/>
        <a:p>
          <a:endParaRPr lang="en-US"/>
        </a:p>
      </dgm:t>
    </dgm:pt>
    <dgm:pt modelId="{93D686AD-E910-49C7-9994-4D0694F7549F}" type="sibTrans" cxnId="{6241F8B8-AC5E-4CCA-A8E5-12EB112BD963}">
      <dgm:prSet/>
      <dgm:spPr/>
      <dgm:t>
        <a:bodyPr/>
        <a:lstStyle/>
        <a:p>
          <a:endParaRPr lang="en-US"/>
        </a:p>
      </dgm:t>
    </dgm:pt>
    <dgm:pt modelId="{CA03377C-E831-4266-8095-3DEC578164BE}" type="pres">
      <dgm:prSet presAssocID="{7C2E51DC-ACAB-49F6-8854-3C576E5B686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FE8153F-BEA5-4952-924E-069A826F0DB1}" type="pres">
      <dgm:prSet presAssocID="{631A735C-83D8-4B60-B7AD-AB22EC289B88}" presName="hierRoot1" presStyleCnt="0"/>
      <dgm:spPr/>
    </dgm:pt>
    <dgm:pt modelId="{4DA37030-6D7E-434E-B4B9-0DB31957156F}" type="pres">
      <dgm:prSet presAssocID="{631A735C-83D8-4B60-B7AD-AB22EC289B88}" presName="composite" presStyleCnt="0"/>
      <dgm:spPr/>
    </dgm:pt>
    <dgm:pt modelId="{9695D788-9B50-47F7-B3F0-06C81A5A85DA}" type="pres">
      <dgm:prSet presAssocID="{631A735C-83D8-4B60-B7AD-AB22EC289B88}" presName="background" presStyleLbl="node0" presStyleIdx="0" presStyleCnt="2"/>
      <dgm:spPr/>
    </dgm:pt>
    <dgm:pt modelId="{AECD1F50-ED46-4DCC-BA89-7AC3BDB09193}" type="pres">
      <dgm:prSet presAssocID="{631A735C-83D8-4B60-B7AD-AB22EC289B88}" presName="text" presStyleLbl="fgAcc0" presStyleIdx="0" presStyleCnt="2">
        <dgm:presLayoutVars>
          <dgm:chPref val="3"/>
        </dgm:presLayoutVars>
      </dgm:prSet>
      <dgm:spPr/>
    </dgm:pt>
    <dgm:pt modelId="{A0B89689-66E6-48BC-961C-38A183A3EB12}" type="pres">
      <dgm:prSet presAssocID="{631A735C-83D8-4B60-B7AD-AB22EC289B88}" presName="hierChild2" presStyleCnt="0"/>
      <dgm:spPr/>
    </dgm:pt>
    <dgm:pt modelId="{9FE14BE9-AFBA-4B5F-AD77-B844D8EB38C7}" type="pres">
      <dgm:prSet presAssocID="{34E824A8-DF95-45D6-B589-55A15A449434}" presName="hierRoot1" presStyleCnt="0"/>
      <dgm:spPr/>
    </dgm:pt>
    <dgm:pt modelId="{45D23F51-A99C-4583-8DF7-CB5B69FDAD6F}" type="pres">
      <dgm:prSet presAssocID="{34E824A8-DF95-45D6-B589-55A15A449434}" presName="composite" presStyleCnt="0"/>
      <dgm:spPr/>
    </dgm:pt>
    <dgm:pt modelId="{7D54A053-0467-4233-B254-84E6376A48DC}" type="pres">
      <dgm:prSet presAssocID="{34E824A8-DF95-45D6-B589-55A15A449434}" presName="background" presStyleLbl="node0" presStyleIdx="1" presStyleCnt="2"/>
      <dgm:spPr/>
    </dgm:pt>
    <dgm:pt modelId="{D040CF7A-2362-4D9B-A094-2F2395DEE267}" type="pres">
      <dgm:prSet presAssocID="{34E824A8-DF95-45D6-B589-55A15A449434}" presName="text" presStyleLbl="fgAcc0" presStyleIdx="1" presStyleCnt="2">
        <dgm:presLayoutVars>
          <dgm:chPref val="3"/>
        </dgm:presLayoutVars>
      </dgm:prSet>
      <dgm:spPr/>
    </dgm:pt>
    <dgm:pt modelId="{E4920F9E-9B62-4B79-9F94-F2FEDBAADD4C}" type="pres">
      <dgm:prSet presAssocID="{34E824A8-DF95-45D6-B589-55A15A449434}" presName="hierChild2" presStyleCnt="0"/>
      <dgm:spPr/>
    </dgm:pt>
  </dgm:ptLst>
  <dgm:cxnLst>
    <dgm:cxn modelId="{6241F8B8-AC5E-4CCA-A8E5-12EB112BD963}" srcId="{7C2E51DC-ACAB-49F6-8854-3C576E5B686B}" destId="{34E824A8-DF95-45D6-B589-55A15A449434}" srcOrd="1" destOrd="0" parTransId="{43A3BEF9-B93A-42AA-8AAC-9EC11651A62C}" sibTransId="{93D686AD-E910-49C7-9994-4D0694F7549F}"/>
    <dgm:cxn modelId="{E3642BE6-F1F8-4CC7-BD62-C22353539674}" type="presOf" srcId="{34E824A8-DF95-45D6-B589-55A15A449434}" destId="{D040CF7A-2362-4D9B-A094-2F2395DEE267}" srcOrd="0" destOrd="0" presId="urn:microsoft.com/office/officeart/2005/8/layout/hierarchy1"/>
    <dgm:cxn modelId="{CA0592F0-E4C6-4E95-8CAB-8D6CEED79B3D}" srcId="{7C2E51DC-ACAB-49F6-8854-3C576E5B686B}" destId="{631A735C-83D8-4B60-B7AD-AB22EC289B88}" srcOrd="0" destOrd="0" parTransId="{5BD5DAE2-A7F3-4AF6-BA74-DCBBD6122983}" sibTransId="{6E4B8DEE-34A4-442A-BBC6-513521BB975C}"/>
    <dgm:cxn modelId="{8D3693F8-426B-4D3A-88E0-2AF692BB1538}" type="presOf" srcId="{631A735C-83D8-4B60-B7AD-AB22EC289B88}" destId="{AECD1F50-ED46-4DCC-BA89-7AC3BDB09193}" srcOrd="0" destOrd="0" presId="urn:microsoft.com/office/officeart/2005/8/layout/hierarchy1"/>
    <dgm:cxn modelId="{FA4D4CFC-B4EF-4906-A08F-64CC375B18D9}" type="presOf" srcId="{7C2E51DC-ACAB-49F6-8854-3C576E5B686B}" destId="{CA03377C-E831-4266-8095-3DEC578164BE}" srcOrd="0" destOrd="0" presId="urn:microsoft.com/office/officeart/2005/8/layout/hierarchy1"/>
    <dgm:cxn modelId="{A0C201E8-1DED-46A1-9C7F-F9741E75CD7B}" type="presParOf" srcId="{CA03377C-E831-4266-8095-3DEC578164BE}" destId="{5FE8153F-BEA5-4952-924E-069A826F0DB1}" srcOrd="0" destOrd="0" presId="urn:microsoft.com/office/officeart/2005/8/layout/hierarchy1"/>
    <dgm:cxn modelId="{5B202443-DF00-4C2D-8359-A7B653DE4D2A}" type="presParOf" srcId="{5FE8153F-BEA5-4952-924E-069A826F0DB1}" destId="{4DA37030-6D7E-434E-B4B9-0DB31957156F}" srcOrd="0" destOrd="0" presId="urn:microsoft.com/office/officeart/2005/8/layout/hierarchy1"/>
    <dgm:cxn modelId="{25978948-6B26-4504-B5AD-E3D96D097636}" type="presParOf" srcId="{4DA37030-6D7E-434E-B4B9-0DB31957156F}" destId="{9695D788-9B50-47F7-B3F0-06C81A5A85DA}" srcOrd="0" destOrd="0" presId="urn:microsoft.com/office/officeart/2005/8/layout/hierarchy1"/>
    <dgm:cxn modelId="{3C3ACA91-E39D-4225-8F87-934D0A1E5898}" type="presParOf" srcId="{4DA37030-6D7E-434E-B4B9-0DB31957156F}" destId="{AECD1F50-ED46-4DCC-BA89-7AC3BDB09193}" srcOrd="1" destOrd="0" presId="urn:microsoft.com/office/officeart/2005/8/layout/hierarchy1"/>
    <dgm:cxn modelId="{4B9E7531-B7BF-4C59-B3B3-362BA5F0948F}" type="presParOf" srcId="{5FE8153F-BEA5-4952-924E-069A826F0DB1}" destId="{A0B89689-66E6-48BC-961C-38A183A3EB12}" srcOrd="1" destOrd="0" presId="urn:microsoft.com/office/officeart/2005/8/layout/hierarchy1"/>
    <dgm:cxn modelId="{42E07E6B-462B-4D78-AA74-DF5137FC109F}" type="presParOf" srcId="{CA03377C-E831-4266-8095-3DEC578164BE}" destId="{9FE14BE9-AFBA-4B5F-AD77-B844D8EB38C7}" srcOrd="1" destOrd="0" presId="urn:microsoft.com/office/officeart/2005/8/layout/hierarchy1"/>
    <dgm:cxn modelId="{686B1232-CC7B-42A1-BA8F-9275E0A93B7C}" type="presParOf" srcId="{9FE14BE9-AFBA-4B5F-AD77-B844D8EB38C7}" destId="{45D23F51-A99C-4583-8DF7-CB5B69FDAD6F}" srcOrd="0" destOrd="0" presId="urn:microsoft.com/office/officeart/2005/8/layout/hierarchy1"/>
    <dgm:cxn modelId="{83A6D62E-0AFC-496B-A0B7-87FB3FC56EEB}" type="presParOf" srcId="{45D23F51-A99C-4583-8DF7-CB5B69FDAD6F}" destId="{7D54A053-0467-4233-B254-84E6376A48DC}" srcOrd="0" destOrd="0" presId="urn:microsoft.com/office/officeart/2005/8/layout/hierarchy1"/>
    <dgm:cxn modelId="{E35757D2-3B9B-414A-BE0F-6DBB5E533A78}" type="presParOf" srcId="{45D23F51-A99C-4583-8DF7-CB5B69FDAD6F}" destId="{D040CF7A-2362-4D9B-A094-2F2395DEE267}" srcOrd="1" destOrd="0" presId="urn:microsoft.com/office/officeart/2005/8/layout/hierarchy1"/>
    <dgm:cxn modelId="{72AA2869-1416-4660-A20C-C33C347C0588}" type="presParOf" srcId="{9FE14BE9-AFBA-4B5F-AD77-B844D8EB38C7}" destId="{E4920F9E-9B62-4B79-9F94-F2FEDBAADD4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F4BE9C4-8E7F-4D0A-97C7-D53C9BC966D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E00C14-0BAB-4CAD-BC07-7C09C995B77A}">
      <dgm:prSet/>
      <dgm:spPr/>
      <dgm:t>
        <a:bodyPr/>
        <a:lstStyle/>
        <a:p>
          <a:r>
            <a:rPr lang="pt-BR" dirty="0"/>
            <a:t>Construção de blocos em fluxos de mensagens</a:t>
          </a:r>
          <a:endParaRPr lang="en-US" dirty="0"/>
        </a:p>
      </dgm:t>
    </dgm:pt>
    <dgm:pt modelId="{1D690A0E-AD32-408D-B328-56B4C4EFCC8F}" type="parTrans" cxnId="{5007DF3B-F9C2-4590-8F66-5521A3866326}">
      <dgm:prSet/>
      <dgm:spPr/>
      <dgm:t>
        <a:bodyPr/>
        <a:lstStyle/>
        <a:p>
          <a:endParaRPr lang="en-US"/>
        </a:p>
      </dgm:t>
    </dgm:pt>
    <dgm:pt modelId="{A60BEE7A-9ED5-4487-A9FB-B59722AC0B75}" type="sibTrans" cxnId="{5007DF3B-F9C2-4590-8F66-5521A3866326}">
      <dgm:prSet/>
      <dgm:spPr/>
      <dgm:t>
        <a:bodyPr/>
        <a:lstStyle/>
        <a:p>
          <a:endParaRPr lang="en-US"/>
        </a:p>
      </dgm:t>
    </dgm:pt>
    <dgm:pt modelId="{C85BD1D7-35F5-4A51-B8BC-9AB97FBE3302}">
      <dgm:prSet/>
      <dgm:spPr/>
      <dgm:t>
        <a:bodyPr/>
        <a:lstStyle/>
        <a:p>
          <a:r>
            <a:rPr lang="pt-BR"/>
            <a:t>Cada tipo de node (nó) executa uma ação (de entrada, saída ou de processamento) diferente</a:t>
          </a:r>
          <a:endParaRPr lang="en-US"/>
        </a:p>
      </dgm:t>
    </dgm:pt>
    <dgm:pt modelId="{C0689C4C-7155-449C-9F97-E9AC16FB90E4}" type="parTrans" cxnId="{108C097D-6FBA-4F1A-8F3A-C0B01CAAA409}">
      <dgm:prSet/>
      <dgm:spPr/>
      <dgm:t>
        <a:bodyPr/>
        <a:lstStyle/>
        <a:p>
          <a:endParaRPr lang="en-US"/>
        </a:p>
      </dgm:t>
    </dgm:pt>
    <dgm:pt modelId="{92990CD6-4AAC-4074-B35E-BE882403322E}" type="sibTrans" cxnId="{108C097D-6FBA-4F1A-8F3A-C0B01CAAA409}">
      <dgm:prSet/>
      <dgm:spPr/>
      <dgm:t>
        <a:bodyPr/>
        <a:lstStyle/>
        <a:p>
          <a:endParaRPr lang="en-US"/>
        </a:p>
      </dgm:t>
    </dgm:pt>
    <dgm:pt modelId="{E3820849-8017-4390-A2AF-481284B80FFD}">
      <dgm:prSet/>
      <dgm:spPr/>
      <dgm:t>
        <a:bodyPr/>
        <a:lstStyle/>
        <a:p>
          <a:r>
            <a:rPr lang="pt-BR"/>
            <a:t>Vários tipos diferentes de nodes</a:t>
          </a:r>
          <a:endParaRPr lang="en-US"/>
        </a:p>
      </dgm:t>
    </dgm:pt>
    <dgm:pt modelId="{4F38D7B9-2573-4474-A579-ECDD6EFFF5C5}" type="parTrans" cxnId="{A3508196-B246-4D7F-895B-1ED70F2D2A98}">
      <dgm:prSet/>
      <dgm:spPr/>
      <dgm:t>
        <a:bodyPr/>
        <a:lstStyle/>
        <a:p>
          <a:endParaRPr lang="en-US"/>
        </a:p>
      </dgm:t>
    </dgm:pt>
    <dgm:pt modelId="{A00B49AD-0B52-404D-A825-888130DB1829}" type="sibTrans" cxnId="{A3508196-B246-4D7F-895B-1ED70F2D2A98}">
      <dgm:prSet/>
      <dgm:spPr/>
      <dgm:t>
        <a:bodyPr/>
        <a:lstStyle/>
        <a:p>
          <a:endParaRPr lang="en-US"/>
        </a:p>
      </dgm:t>
    </dgm:pt>
    <dgm:pt modelId="{D32D7585-F1FD-4CCA-82B5-5FD16B4BB381}">
      <dgm:prSet/>
      <dgm:spPr/>
      <dgm:t>
        <a:bodyPr/>
        <a:lstStyle/>
        <a:p>
          <a:r>
            <a:rPr lang="pt-BR"/>
            <a:t>Agrupados em categorias lógicas no editor de fluxo de mensagens</a:t>
          </a:r>
          <a:endParaRPr lang="en-US"/>
        </a:p>
      </dgm:t>
    </dgm:pt>
    <dgm:pt modelId="{0D8E1106-CD5C-4892-92F4-E3E547F81892}" type="parTrans" cxnId="{3E5A6467-3820-4B95-B1A2-228718523B51}">
      <dgm:prSet/>
      <dgm:spPr/>
      <dgm:t>
        <a:bodyPr/>
        <a:lstStyle/>
        <a:p>
          <a:endParaRPr lang="en-US"/>
        </a:p>
      </dgm:t>
    </dgm:pt>
    <dgm:pt modelId="{C54C0FC9-CFBB-4034-BFC2-5F7DE7ADCE49}" type="sibTrans" cxnId="{3E5A6467-3820-4B95-B1A2-228718523B51}">
      <dgm:prSet/>
      <dgm:spPr/>
      <dgm:t>
        <a:bodyPr/>
        <a:lstStyle/>
        <a:p>
          <a:endParaRPr lang="en-US"/>
        </a:p>
      </dgm:t>
    </dgm:pt>
    <dgm:pt modelId="{D0A1BC67-2ECE-45B7-874E-71152EF998C8}">
      <dgm:prSet/>
      <dgm:spPr/>
      <dgm:t>
        <a:bodyPr/>
        <a:lstStyle/>
        <a:p>
          <a:r>
            <a:rPr lang="pt-BR"/>
            <a:t>Mais de 100 nodes disponíveis</a:t>
          </a:r>
          <a:endParaRPr lang="en-US"/>
        </a:p>
      </dgm:t>
    </dgm:pt>
    <dgm:pt modelId="{18214A0B-E7E4-48F3-ABEF-938D65D7DCC2}" type="parTrans" cxnId="{67DADA22-C6FE-4CBD-9402-25B6D6FB3861}">
      <dgm:prSet/>
      <dgm:spPr/>
      <dgm:t>
        <a:bodyPr/>
        <a:lstStyle/>
        <a:p>
          <a:endParaRPr lang="en-US"/>
        </a:p>
      </dgm:t>
    </dgm:pt>
    <dgm:pt modelId="{756B4970-6A33-40C6-8A25-AC9B4023DBFE}" type="sibTrans" cxnId="{67DADA22-C6FE-4CBD-9402-25B6D6FB3861}">
      <dgm:prSet/>
      <dgm:spPr/>
      <dgm:t>
        <a:bodyPr/>
        <a:lstStyle/>
        <a:p>
          <a:endParaRPr lang="en-US"/>
        </a:p>
      </dgm:t>
    </dgm:pt>
    <dgm:pt modelId="{9D2423F0-4080-448E-8155-4866761227DB}" type="pres">
      <dgm:prSet presAssocID="{0F4BE9C4-8E7F-4D0A-97C7-D53C9BC966DB}" presName="vert0" presStyleCnt="0">
        <dgm:presLayoutVars>
          <dgm:dir/>
          <dgm:animOne val="branch"/>
          <dgm:animLvl val="lvl"/>
        </dgm:presLayoutVars>
      </dgm:prSet>
      <dgm:spPr/>
    </dgm:pt>
    <dgm:pt modelId="{096CC97B-157C-48F4-9F63-A69505FB28B3}" type="pres">
      <dgm:prSet presAssocID="{4DE00C14-0BAB-4CAD-BC07-7C09C995B77A}" presName="thickLine" presStyleLbl="alignNode1" presStyleIdx="0" presStyleCnt="5"/>
      <dgm:spPr/>
    </dgm:pt>
    <dgm:pt modelId="{AD85D5E0-1B1D-4A94-9A0E-CC5934CB831D}" type="pres">
      <dgm:prSet presAssocID="{4DE00C14-0BAB-4CAD-BC07-7C09C995B77A}" presName="horz1" presStyleCnt="0"/>
      <dgm:spPr/>
    </dgm:pt>
    <dgm:pt modelId="{77ACB4FC-5BB6-43F9-9058-89AF0E84FACA}" type="pres">
      <dgm:prSet presAssocID="{4DE00C14-0BAB-4CAD-BC07-7C09C995B77A}" presName="tx1" presStyleLbl="revTx" presStyleIdx="0" presStyleCnt="5"/>
      <dgm:spPr/>
    </dgm:pt>
    <dgm:pt modelId="{F664FE43-C60F-4A1D-A320-341B569788B1}" type="pres">
      <dgm:prSet presAssocID="{4DE00C14-0BAB-4CAD-BC07-7C09C995B77A}" presName="vert1" presStyleCnt="0"/>
      <dgm:spPr/>
    </dgm:pt>
    <dgm:pt modelId="{8E519DAC-D08D-48D9-B634-085973BE6B90}" type="pres">
      <dgm:prSet presAssocID="{C85BD1D7-35F5-4A51-B8BC-9AB97FBE3302}" presName="thickLine" presStyleLbl="alignNode1" presStyleIdx="1" presStyleCnt="5"/>
      <dgm:spPr/>
    </dgm:pt>
    <dgm:pt modelId="{3AEF6C97-9007-453F-9BBA-27628C4EDC90}" type="pres">
      <dgm:prSet presAssocID="{C85BD1D7-35F5-4A51-B8BC-9AB97FBE3302}" presName="horz1" presStyleCnt="0"/>
      <dgm:spPr/>
    </dgm:pt>
    <dgm:pt modelId="{36851AF0-17F3-4F0C-9FC3-41112BC56C89}" type="pres">
      <dgm:prSet presAssocID="{C85BD1D7-35F5-4A51-B8BC-9AB97FBE3302}" presName="tx1" presStyleLbl="revTx" presStyleIdx="1" presStyleCnt="5"/>
      <dgm:spPr/>
    </dgm:pt>
    <dgm:pt modelId="{DADD1D19-1520-4FD2-ACE9-37EE397AF5FC}" type="pres">
      <dgm:prSet presAssocID="{C85BD1D7-35F5-4A51-B8BC-9AB97FBE3302}" presName="vert1" presStyleCnt="0"/>
      <dgm:spPr/>
    </dgm:pt>
    <dgm:pt modelId="{B7A2ECBD-C5EB-4596-BE9A-BFCD6AB87B40}" type="pres">
      <dgm:prSet presAssocID="{E3820849-8017-4390-A2AF-481284B80FFD}" presName="thickLine" presStyleLbl="alignNode1" presStyleIdx="2" presStyleCnt="5"/>
      <dgm:spPr/>
    </dgm:pt>
    <dgm:pt modelId="{6F5D9FE7-5AEA-45AF-AB0C-625CF1B55CB8}" type="pres">
      <dgm:prSet presAssocID="{E3820849-8017-4390-A2AF-481284B80FFD}" presName="horz1" presStyleCnt="0"/>
      <dgm:spPr/>
    </dgm:pt>
    <dgm:pt modelId="{EA03AC60-A5C6-4A2C-A52A-420550645D0D}" type="pres">
      <dgm:prSet presAssocID="{E3820849-8017-4390-A2AF-481284B80FFD}" presName="tx1" presStyleLbl="revTx" presStyleIdx="2" presStyleCnt="5"/>
      <dgm:spPr/>
    </dgm:pt>
    <dgm:pt modelId="{CA868BF9-B01D-4381-A680-2CA5C5692993}" type="pres">
      <dgm:prSet presAssocID="{E3820849-8017-4390-A2AF-481284B80FFD}" presName="vert1" presStyleCnt="0"/>
      <dgm:spPr/>
    </dgm:pt>
    <dgm:pt modelId="{87BE2BBE-F098-4BF2-85DB-D169E496A729}" type="pres">
      <dgm:prSet presAssocID="{D32D7585-F1FD-4CCA-82B5-5FD16B4BB381}" presName="thickLine" presStyleLbl="alignNode1" presStyleIdx="3" presStyleCnt="5"/>
      <dgm:spPr/>
    </dgm:pt>
    <dgm:pt modelId="{8546629F-A82F-4E98-8267-3CE3F2035BA3}" type="pres">
      <dgm:prSet presAssocID="{D32D7585-F1FD-4CCA-82B5-5FD16B4BB381}" presName="horz1" presStyleCnt="0"/>
      <dgm:spPr/>
    </dgm:pt>
    <dgm:pt modelId="{99E4A66C-2D5E-458A-8722-FF01201A3CD4}" type="pres">
      <dgm:prSet presAssocID="{D32D7585-F1FD-4CCA-82B5-5FD16B4BB381}" presName="tx1" presStyleLbl="revTx" presStyleIdx="3" presStyleCnt="5"/>
      <dgm:spPr/>
    </dgm:pt>
    <dgm:pt modelId="{13140E5F-C4DA-420F-B863-222EA77933B5}" type="pres">
      <dgm:prSet presAssocID="{D32D7585-F1FD-4CCA-82B5-5FD16B4BB381}" presName="vert1" presStyleCnt="0"/>
      <dgm:spPr/>
    </dgm:pt>
    <dgm:pt modelId="{7F1FCEAA-FEC1-4583-BD45-55D772B6E870}" type="pres">
      <dgm:prSet presAssocID="{D0A1BC67-2ECE-45B7-874E-71152EF998C8}" presName="thickLine" presStyleLbl="alignNode1" presStyleIdx="4" presStyleCnt="5"/>
      <dgm:spPr/>
    </dgm:pt>
    <dgm:pt modelId="{450DB01B-BB17-4A39-87A3-9A60CE49DBFC}" type="pres">
      <dgm:prSet presAssocID="{D0A1BC67-2ECE-45B7-874E-71152EF998C8}" presName="horz1" presStyleCnt="0"/>
      <dgm:spPr/>
    </dgm:pt>
    <dgm:pt modelId="{ECB7487E-317B-46E3-BFA3-25398CD71078}" type="pres">
      <dgm:prSet presAssocID="{D0A1BC67-2ECE-45B7-874E-71152EF998C8}" presName="tx1" presStyleLbl="revTx" presStyleIdx="4" presStyleCnt="5"/>
      <dgm:spPr/>
    </dgm:pt>
    <dgm:pt modelId="{A6E2E344-ADC5-48F3-A4CC-47FAB17DFA6C}" type="pres">
      <dgm:prSet presAssocID="{D0A1BC67-2ECE-45B7-874E-71152EF998C8}" presName="vert1" presStyleCnt="0"/>
      <dgm:spPr/>
    </dgm:pt>
  </dgm:ptLst>
  <dgm:cxnLst>
    <dgm:cxn modelId="{67DADA22-C6FE-4CBD-9402-25B6D6FB3861}" srcId="{0F4BE9C4-8E7F-4D0A-97C7-D53C9BC966DB}" destId="{D0A1BC67-2ECE-45B7-874E-71152EF998C8}" srcOrd="4" destOrd="0" parTransId="{18214A0B-E7E4-48F3-ABEF-938D65D7DCC2}" sibTransId="{756B4970-6A33-40C6-8A25-AC9B4023DBFE}"/>
    <dgm:cxn modelId="{A911422C-49FB-4B56-8645-9C059208D267}" type="presOf" srcId="{4DE00C14-0BAB-4CAD-BC07-7C09C995B77A}" destId="{77ACB4FC-5BB6-43F9-9058-89AF0E84FACA}" srcOrd="0" destOrd="0" presId="urn:microsoft.com/office/officeart/2008/layout/LinedList"/>
    <dgm:cxn modelId="{5007DF3B-F9C2-4590-8F66-5521A3866326}" srcId="{0F4BE9C4-8E7F-4D0A-97C7-D53C9BC966DB}" destId="{4DE00C14-0BAB-4CAD-BC07-7C09C995B77A}" srcOrd="0" destOrd="0" parTransId="{1D690A0E-AD32-408D-B328-56B4C4EFCC8F}" sibTransId="{A60BEE7A-9ED5-4487-A9FB-B59722AC0B75}"/>
    <dgm:cxn modelId="{3E5A6467-3820-4B95-B1A2-228718523B51}" srcId="{0F4BE9C4-8E7F-4D0A-97C7-D53C9BC966DB}" destId="{D32D7585-F1FD-4CCA-82B5-5FD16B4BB381}" srcOrd="3" destOrd="0" parTransId="{0D8E1106-CD5C-4892-92F4-E3E547F81892}" sibTransId="{C54C0FC9-CFBB-4034-BFC2-5F7DE7ADCE49}"/>
    <dgm:cxn modelId="{F50A1B68-9C64-4E38-A0B0-C4F6F973F970}" type="presOf" srcId="{E3820849-8017-4390-A2AF-481284B80FFD}" destId="{EA03AC60-A5C6-4A2C-A52A-420550645D0D}" srcOrd="0" destOrd="0" presId="urn:microsoft.com/office/officeart/2008/layout/LinedList"/>
    <dgm:cxn modelId="{CAB4F852-B841-408A-9C3D-90917C079F95}" type="presOf" srcId="{C85BD1D7-35F5-4A51-B8BC-9AB97FBE3302}" destId="{36851AF0-17F3-4F0C-9FC3-41112BC56C89}" srcOrd="0" destOrd="0" presId="urn:microsoft.com/office/officeart/2008/layout/LinedList"/>
    <dgm:cxn modelId="{108C097D-6FBA-4F1A-8F3A-C0B01CAAA409}" srcId="{0F4BE9C4-8E7F-4D0A-97C7-D53C9BC966DB}" destId="{C85BD1D7-35F5-4A51-B8BC-9AB97FBE3302}" srcOrd="1" destOrd="0" parTransId="{C0689C4C-7155-449C-9F97-E9AC16FB90E4}" sibTransId="{92990CD6-4AAC-4074-B35E-BE882403322E}"/>
    <dgm:cxn modelId="{2E6B8082-BE21-4CF0-BA98-238ABE1FF089}" type="presOf" srcId="{D32D7585-F1FD-4CCA-82B5-5FD16B4BB381}" destId="{99E4A66C-2D5E-458A-8722-FF01201A3CD4}" srcOrd="0" destOrd="0" presId="urn:microsoft.com/office/officeart/2008/layout/LinedList"/>
    <dgm:cxn modelId="{A3508196-B246-4D7F-895B-1ED70F2D2A98}" srcId="{0F4BE9C4-8E7F-4D0A-97C7-D53C9BC966DB}" destId="{E3820849-8017-4390-A2AF-481284B80FFD}" srcOrd="2" destOrd="0" parTransId="{4F38D7B9-2573-4474-A579-ECDD6EFFF5C5}" sibTransId="{A00B49AD-0B52-404D-A825-888130DB1829}"/>
    <dgm:cxn modelId="{8B7700B0-564F-4656-8888-31CBA1AD84D9}" type="presOf" srcId="{0F4BE9C4-8E7F-4D0A-97C7-D53C9BC966DB}" destId="{9D2423F0-4080-448E-8155-4866761227DB}" srcOrd="0" destOrd="0" presId="urn:microsoft.com/office/officeart/2008/layout/LinedList"/>
    <dgm:cxn modelId="{179ED1E2-B317-4A3C-80BA-B7826BA78377}" type="presOf" srcId="{D0A1BC67-2ECE-45B7-874E-71152EF998C8}" destId="{ECB7487E-317B-46E3-BFA3-25398CD71078}" srcOrd="0" destOrd="0" presId="urn:microsoft.com/office/officeart/2008/layout/LinedList"/>
    <dgm:cxn modelId="{42371E5E-3D7F-45B1-8297-00913D5351BA}" type="presParOf" srcId="{9D2423F0-4080-448E-8155-4866761227DB}" destId="{096CC97B-157C-48F4-9F63-A69505FB28B3}" srcOrd="0" destOrd="0" presId="urn:microsoft.com/office/officeart/2008/layout/LinedList"/>
    <dgm:cxn modelId="{304A666E-C01B-4C22-930A-EFAC76D50F11}" type="presParOf" srcId="{9D2423F0-4080-448E-8155-4866761227DB}" destId="{AD85D5E0-1B1D-4A94-9A0E-CC5934CB831D}" srcOrd="1" destOrd="0" presId="urn:microsoft.com/office/officeart/2008/layout/LinedList"/>
    <dgm:cxn modelId="{87790D54-7978-444E-A082-53FFEEA601AC}" type="presParOf" srcId="{AD85D5E0-1B1D-4A94-9A0E-CC5934CB831D}" destId="{77ACB4FC-5BB6-43F9-9058-89AF0E84FACA}" srcOrd="0" destOrd="0" presId="urn:microsoft.com/office/officeart/2008/layout/LinedList"/>
    <dgm:cxn modelId="{96DA2720-B8D9-4120-970F-C940509AA2DF}" type="presParOf" srcId="{AD85D5E0-1B1D-4A94-9A0E-CC5934CB831D}" destId="{F664FE43-C60F-4A1D-A320-341B569788B1}" srcOrd="1" destOrd="0" presId="urn:microsoft.com/office/officeart/2008/layout/LinedList"/>
    <dgm:cxn modelId="{BC622ED2-7A2D-4A56-88F0-21AE9537EFF0}" type="presParOf" srcId="{9D2423F0-4080-448E-8155-4866761227DB}" destId="{8E519DAC-D08D-48D9-B634-085973BE6B90}" srcOrd="2" destOrd="0" presId="urn:microsoft.com/office/officeart/2008/layout/LinedList"/>
    <dgm:cxn modelId="{838028C6-ED24-4733-9C27-60402C33F75C}" type="presParOf" srcId="{9D2423F0-4080-448E-8155-4866761227DB}" destId="{3AEF6C97-9007-453F-9BBA-27628C4EDC90}" srcOrd="3" destOrd="0" presId="urn:microsoft.com/office/officeart/2008/layout/LinedList"/>
    <dgm:cxn modelId="{75D83121-2433-4127-A4FE-F56EE4A7293B}" type="presParOf" srcId="{3AEF6C97-9007-453F-9BBA-27628C4EDC90}" destId="{36851AF0-17F3-4F0C-9FC3-41112BC56C89}" srcOrd="0" destOrd="0" presId="urn:microsoft.com/office/officeart/2008/layout/LinedList"/>
    <dgm:cxn modelId="{90737979-C08B-41EB-AC2F-5FF08BA448EF}" type="presParOf" srcId="{3AEF6C97-9007-453F-9BBA-27628C4EDC90}" destId="{DADD1D19-1520-4FD2-ACE9-37EE397AF5FC}" srcOrd="1" destOrd="0" presId="urn:microsoft.com/office/officeart/2008/layout/LinedList"/>
    <dgm:cxn modelId="{D6750CCD-3C14-4473-B158-15B0F56D50AE}" type="presParOf" srcId="{9D2423F0-4080-448E-8155-4866761227DB}" destId="{B7A2ECBD-C5EB-4596-BE9A-BFCD6AB87B40}" srcOrd="4" destOrd="0" presId="urn:microsoft.com/office/officeart/2008/layout/LinedList"/>
    <dgm:cxn modelId="{065AA18E-AA53-47F5-8AD2-8D558B41A6FE}" type="presParOf" srcId="{9D2423F0-4080-448E-8155-4866761227DB}" destId="{6F5D9FE7-5AEA-45AF-AB0C-625CF1B55CB8}" srcOrd="5" destOrd="0" presId="urn:microsoft.com/office/officeart/2008/layout/LinedList"/>
    <dgm:cxn modelId="{8F50C75F-4E4F-4BC5-AE60-AC2A8516E6F3}" type="presParOf" srcId="{6F5D9FE7-5AEA-45AF-AB0C-625CF1B55CB8}" destId="{EA03AC60-A5C6-4A2C-A52A-420550645D0D}" srcOrd="0" destOrd="0" presId="urn:microsoft.com/office/officeart/2008/layout/LinedList"/>
    <dgm:cxn modelId="{A4BA7AF2-4435-4D6E-B60C-F8BEA63CB97E}" type="presParOf" srcId="{6F5D9FE7-5AEA-45AF-AB0C-625CF1B55CB8}" destId="{CA868BF9-B01D-4381-A680-2CA5C5692993}" srcOrd="1" destOrd="0" presId="urn:microsoft.com/office/officeart/2008/layout/LinedList"/>
    <dgm:cxn modelId="{529DCD03-BDE7-4F06-9C88-57B62AB4A486}" type="presParOf" srcId="{9D2423F0-4080-448E-8155-4866761227DB}" destId="{87BE2BBE-F098-4BF2-85DB-D169E496A729}" srcOrd="6" destOrd="0" presId="urn:microsoft.com/office/officeart/2008/layout/LinedList"/>
    <dgm:cxn modelId="{2C3947A1-2180-47F5-B0C1-68652F0125E3}" type="presParOf" srcId="{9D2423F0-4080-448E-8155-4866761227DB}" destId="{8546629F-A82F-4E98-8267-3CE3F2035BA3}" srcOrd="7" destOrd="0" presId="urn:microsoft.com/office/officeart/2008/layout/LinedList"/>
    <dgm:cxn modelId="{1B80BA43-B0B4-4E24-A189-3EE9228BB8B3}" type="presParOf" srcId="{8546629F-A82F-4E98-8267-3CE3F2035BA3}" destId="{99E4A66C-2D5E-458A-8722-FF01201A3CD4}" srcOrd="0" destOrd="0" presId="urn:microsoft.com/office/officeart/2008/layout/LinedList"/>
    <dgm:cxn modelId="{BD35A816-E2A8-41F0-BA59-C837806DD391}" type="presParOf" srcId="{8546629F-A82F-4E98-8267-3CE3F2035BA3}" destId="{13140E5F-C4DA-420F-B863-222EA77933B5}" srcOrd="1" destOrd="0" presId="urn:microsoft.com/office/officeart/2008/layout/LinedList"/>
    <dgm:cxn modelId="{8D96CA10-1364-4591-B1E7-46747D18BDE5}" type="presParOf" srcId="{9D2423F0-4080-448E-8155-4866761227DB}" destId="{7F1FCEAA-FEC1-4583-BD45-55D772B6E870}" srcOrd="8" destOrd="0" presId="urn:microsoft.com/office/officeart/2008/layout/LinedList"/>
    <dgm:cxn modelId="{11A223D3-DA8D-4025-B9B0-1230834A8185}" type="presParOf" srcId="{9D2423F0-4080-448E-8155-4866761227DB}" destId="{450DB01B-BB17-4A39-87A3-9A60CE49DBFC}" srcOrd="9" destOrd="0" presId="urn:microsoft.com/office/officeart/2008/layout/LinedList"/>
    <dgm:cxn modelId="{6C1BC69C-F30B-42DC-B863-76A984D8C455}" type="presParOf" srcId="{450DB01B-BB17-4A39-87A3-9A60CE49DBFC}" destId="{ECB7487E-317B-46E3-BFA3-25398CD71078}" srcOrd="0" destOrd="0" presId="urn:microsoft.com/office/officeart/2008/layout/LinedList"/>
    <dgm:cxn modelId="{4991F77C-4A2E-43E3-8E2F-F95814394936}" type="presParOf" srcId="{450DB01B-BB17-4A39-87A3-9A60CE49DBFC}" destId="{A6E2E344-ADC5-48F3-A4CC-47FAB17DFA6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FE0C65-AE93-4D43-963D-5B764DB14E4C}" type="doc">
      <dgm:prSet loTypeId="urn:microsoft.com/office/officeart/2005/8/layout/chevron1" loCatId="process" qsTypeId="urn:microsoft.com/office/officeart/2005/8/quickstyle/simple1" qsCatId="simple" csTypeId="urn:microsoft.com/office/officeart/2005/8/colors/colorful1#1" csCatId="colorful" phldr="1"/>
      <dgm:spPr/>
    </dgm:pt>
    <dgm:pt modelId="{3E57A1AF-BEAF-49CE-BAFD-7D7090CEB0F3}">
      <dgm:prSet phldrT="[Text]" custT="1"/>
      <dgm:spPr/>
      <dgm:t>
        <a:bodyPr/>
        <a:lstStyle/>
        <a:p>
          <a:r>
            <a:rPr lang="pt-BR" sz="4000" b="1" dirty="0"/>
            <a:t>Desenv</a:t>
          </a:r>
          <a:endParaRPr lang="en-US" sz="4000" b="1" dirty="0"/>
        </a:p>
      </dgm:t>
    </dgm:pt>
    <dgm:pt modelId="{17513C94-A343-4BFE-8512-DB90FA16CDF3}" type="parTrans" cxnId="{5A8C23D1-3284-42F0-B816-F2F68199EC66}">
      <dgm:prSet/>
      <dgm:spPr/>
      <dgm:t>
        <a:bodyPr/>
        <a:lstStyle/>
        <a:p>
          <a:endParaRPr lang="en-US" sz="4800" b="1"/>
        </a:p>
      </dgm:t>
    </dgm:pt>
    <dgm:pt modelId="{F68E29A0-274B-4614-9435-2ADD1D63422F}" type="sibTrans" cxnId="{5A8C23D1-3284-42F0-B816-F2F68199EC66}">
      <dgm:prSet/>
      <dgm:spPr/>
      <dgm:t>
        <a:bodyPr/>
        <a:lstStyle/>
        <a:p>
          <a:endParaRPr lang="en-US" sz="4800" b="1"/>
        </a:p>
      </dgm:t>
    </dgm:pt>
    <dgm:pt modelId="{362CB0CA-A336-417B-B88F-7B3A0FC99F49}">
      <dgm:prSet phldrT="[Text]" custT="1"/>
      <dgm:spPr/>
      <dgm:t>
        <a:bodyPr/>
        <a:lstStyle/>
        <a:p>
          <a:r>
            <a:rPr lang="pt-BR" sz="4000" b="1" dirty="0"/>
            <a:t>Teste</a:t>
          </a:r>
          <a:endParaRPr lang="en-US" sz="4000" b="1" dirty="0"/>
        </a:p>
      </dgm:t>
    </dgm:pt>
    <dgm:pt modelId="{1AEE146E-2BE8-438B-8385-8707D81F0AFA}" type="parTrans" cxnId="{FD6A7481-F64F-42CF-8722-031DD7AA698E}">
      <dgm:prSet/>
      <dgm:spPr/>
      <dgm:t>
        <a:bodyPr/>
        <a:lstStyle/>
        <a:p>
          <a:endParaRPr lang="en-US" sz="4800" b="1"/>
        </a:p>
      </dgm:t>
    </dgm:pt>
    <dgm:pt modelId="{AA3D519E-0D95-410C-89A5-D1540429E3DB}" type="sibTrans" cxnId="{FD6A7481-F64F-42CF-8722-031DD7AA698E}">
      <dgm:prSet/>
      <dgm:spPr/>
      <dgm:t>
        <a:bodyPr/>
        <a:lstStyle/>
        <a:p>
          <a:endParaRPr lang="en-US" sz="4800" b="1"/>
        </a:p>
      </dgm:t>
    </dgm:pt>
    <dgm:pt modelId="{B8707EF1-7AED-4941-9509-1859A4F57EE3}">
      <dgm:prSet phldrT="[Text]" custT="1"/>
      <dgm:spPr/>
      <dgm:t>
        <a:bodyPr/>
        <a:lstStyle/>
        <a:p>
          <a:r>
            <a:rPr lang="pt-BR" sz="4000" b="1" dirty="0"/>
            <a:t>QA</a:t>
          </a:r>
          <a:endParaRPr lang="en-US" sz="4000" b="1" dirty="0"/>
        </a:p>
      </dgm:t>
    </dgm:pt>
    <dgm:pt modelId="{0C664654-E28C-4CAD-9FDC-1261F4867067}" type="parTrans" cxnId="{DBE5B1FA-F741-4A0C-B0A7-47EBD33F7FD0}">
      <dgm:prSet/>
      <dgm:spPr/>
      <dgm:t>
        <a:bodyPr/>
        <a:lstStyle/>
        <a:p>
          <a:endParaRPr lang="en-US" sz="4800" b="1"/>
        </a:p>
      </dgm:t>
    </dgm:pt>
    <dgm:pt modelId="{0739E348-7B12-4D8E-98ED-7C69B51FDA33}" type="sibTrans" cxnId="{DBE5B1FA-F741-4A0C-B0A7-47EBD33F7FD0}">
      <dgm:prSet/>
      <dgm:spPr/>
      <dgm:t>
        <a:bodyPr/>
        <a:lstStyle/>
        <a:p>
          <a:endParaRPr lang="en-US" sz="4800" b="1"/>
        </a:p>
      </dgm:t>
    </dgm:pt>
    <dgm:pt modelId="{DDE820A5-DE1E-4CD0-AC8B-B2569FF81129}">
      <dgm:prSet phldrT="[Text]" custT="1"/>
      <dgm:spPr/>
      <dgm:t>
        <a:bodyPr/>
        <a:lstStyle/>
        <a:p>
          <a:r>
            <a:rPr lang="pt-BR" sz="4000" b="1" dirty="0"/>
            <a:t>PRODUÇÃO</a:t>
          </a:r>
          <a:endParaRPr lang="en-US" sz="4000" b="1" dirty="0"/>
        </a:p>
      </dgm:t>
    </dgm:pt>
    <dgm:pt modelId="{E3A87118-14BE-457B-9C70-FD94D5A6F17E}" type="parTrans" cxnId="{24A1FEC5-62D5-4920-9A8E-58287B8A48A5}">
      <dgm:prSet/>
      <dgm:spPr/>
      <dgm:t>
        <a:bodyPr/>
        <a:lstStyle/>
        <a:p>
          <a:endParaRPr lang="en-US" sz="4800" b="1"/>
        </a:p>
      </dgm:t>
    </dgm:pt>
    <dgm:pt modelId="{403E089A-8F0F-412E-80C3-9248DABD46BC}" type="sibTrans" cxnId="{24A1FEC5-62D5-4920-9A8E-58287B8A48A5}">
      <dgm:prSet/>
      <dgm:spPr/>
      <dgm:t>
        <a:bodyPr/>
        <a:lstStyle/>
        <a:p>
          <a:endParaRPr lang="en-US" sz="4800" b="1"/>
        </a:p>
      </dgm:t>
    </dgm:pt>
    <dgm:pt modelId="{79EE20C8-6D15-4BA2-B929-0E8E5C8174E3}" type="pres">
      <dgm:prSet presAssocID="{3BFE0C65-AE93-4D43-963D-5B764DB14E4C}" presName="Name0" presStyleCnt="0">
        <dgm:presLayoutVars>
          <dgm:dir/>
          <dgm:animLvl val="lvl"/>
          <dgm:resizeHandles val="exact"/>
        </dgm:presLayoutVars>
      </dgm:prSet>
      <dgm:spPr/>
    </dgm:pt>
    <dgm:pt modelId="{11127D2D-821A-43A8-9B43-33E28F618172}" type="pres">
      <dgm:prSet presAssocID="{3E57A1AF-BEAF-49CE-BAFD-7D7090CEB0F3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60ADCA6-8557-4F4C-93D8-0E71CB32FBC3}" type="pres">
      <dgm:prSet presAssocID="{F68E29A0-274B-4614-9435-2ADD1D63422F}" presName="parTxOnlySpace" presStyleCnt="0"/>
      <dgm:spPr/>
    </dgm:pt>
    <dgm:pt modelId="{68987911-E38A-4076-B7D0-621266F4B352}" type="pres">
      <dgm:prSet presAssocID="{362CB0CA-A336-417B-B88F-7B3A0FC99F4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8703A93-45D9-47E3-8A24-5083FAA19394}" type="pres">
      <dgm:prSet presAssocID="{AA3D519E-0D95-410C-89A5-D1540429E3DB}" presName="parTxOnlySpace" presStyleCnt="0"/>
      <dgm:spPr/>
    </dgm:pt>
    <dgm:pt modelId="{24BC9863-A314-41E6-A403-B6BCA161A7B4}" type="pres">
      <dgm:prSet presAssocID="{B8707EF1-7AED-4941-9509-1859A4F57EE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CB63E6F-AD86-459B-8459-C57A03775BAF}" type="pres">
      <dgm:prSet presAssocID="{0739E348-7B12-4D8E-98ED-7C69B51FDA33}" presName="parTxOnlySpace" presStyleCnt="0"/>
      <dgm:spPr/>
    </dgm:pt>
    <dgm:pt modelId="{8952E54C-2171-47E0-8ABC-E5C863C898F9}" type="pres">
      <dgm:prSet presAssocID="{DDE820A5-DE1E-4CD0-AC8B-B2569FF8112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44EE36-60AD-4073-9E64-E7A34BA090FC}" type="presOf" srcId="{B8707EF1-7AED-4941-9509-1859A4F57EE3}" destId="{24BC9863-A314-41E6-A403-B6BCA161A7B4}" srcOrd="0" destOrd="0" presId="urn:microsoft.com/office/officeart/2005/8/layout/chevron1"/>
    <dgm:cxn modelId="{92BBF56F-2DEC-44D2-91BD-8351BFB41397}" type="presOf" srcId="{3BFE0C65-AE93-4D43-963D-5B764DB14E4C}" destId="{79EE20C8-6D15-4BA2-B929-0E8E5C8174E3}" srcOrd="0" destOrd="0" presId="urn:microsoft.com/office/officeart/2005/8/layout/chevron1"/>
    <dgm:cxn modelId="{FD6A7481-F64F-42CF-8722-031DD7AA698E}" srcId="{3BFE0C65-AE93-4D43-963D-5B764DB14E4C}" destId="{362CB0CA-A336-417B-B88F-7B3A0FC99F49}" srcOrd="1" destOrd="0" parTransId="{1AEE146E-2BE8-438B-8385-8707D81F0AFA}" sibTransId="{AA3D519E-0D95-410C-89A5-D1540429E3DB}"/>
    <dgm:cxn modelId="{24A1FEC5-62D5-4920-9A8E-58287B8A48A5}" srcId="{3BFE0C65-AE93-4D43-963D-5B764DB14E4C}" destId="{DDE820A5-DE1E-4CD0-AC8B-B2569FF81129}" srcOrd="3" destOrd="0" parTransId="{E3A87118-14BE-457B-9C70-FD94D5A6F17E}" sibTransId="{403E089A-8F0F-412E-80C3-9248DABD46BC}"/>
    <dgm:cxn modelId="{3128D3CE-C970-4D1C-A809-AE9C7B02C5BA}" type="presOf" srcId="{DDE820A5-DE1E-4CD0-AC8B-B2569FF81129}" destId="{8952E54C-2171-47E0-8ABC-E5C863C898F9}" srcOrd="0" destOrd="0" presId="urn:microsoft.com/office/officeart/2005/8/layout/chevron1"/>
    <dgm:cxn modelId="{5A8C23D1-3284-42F0-B816-F2F68199EC66}" srcId="{3BFE0C65-AE93-4D43-963D-5B764DB14E4C}" destId="{3E57A1AF-BEAF-49CE-BAFD-7D7090CEB0F3}" srcOrd="0" destOrd="0" parTransId="{17513C94-A343-4BFE-8512-DB90FA16CDF3}" sibTransId="{F68E29A0-274B-4614-9435-2ADD1D63422F}"/>
    <dgm:cxn modelId="{51A862D8-B29E-40E0-9AEB-1B1C7D5BFB11}" type="presOf" srcId="{3E57A1AF-BEAF-49CE-BAFD-7D7090CEB0F3}" destId="{11127D2D-821A-43A8-9B43-33E28F618172}" srcOrd="0" destOrd="0" presId="urn:microsoft.com/office/officeart/2005/8/layout/chevron1"/>
    <dgm:cxn modelId="{DBE5B1FA-F741-4A0C-B0A7-47EBD33F7FD0}" srcId="{3BFE0C65-AE93-4D43-963D-5B764DB14E4C}" destId="{B8707EF1-7AED-4941-9509-1859A4F57EE3}" srcOrd="2" destOrd="0" parTransId="{0C664654-E28C-4CAD-9FDC-1261F4867067}" sibTransId="{0739E348-7B12-4D8E-98ED-7C69B51FDA33}"/>
    <dgm:cxn modelId="{2B23E0FB-AB30-4A77-AC4C-E56ACE380876}" type="presOf" srcId="{362CB0CA-A336-417B-B88F-7B3A0FC99F49}" destId="{68987911-E38A-4076-B7D0-621266F4B352}" srcOrd="0" destOrd="0" presId="urn:microsoft.com/office/officeart/2005/8/layout/chevron1"/>
    <dgm:cxn modelId="{6123C156-4C0D-46D9-8A57-399FBC78815A}" type="presParOf" srcId="{79EE20C8-6D15-4BA2-B929-0E8E5C8174E3}" destId="{11127D2D-821A-43A8-9B43-33E28F618172}" srcOrd="0" destOrd="0" presId="urn:microsoft.com/office/officeart/2005/8/layout/chevron1"/>
    <dgm:cxn modelId="{287D8CB7-7778-4138-99EA-5007279F7825}" type="presParOf" srcId="{79EE20C8-6D15-4BA2-B929-0E8E5C8174E3}" destId="{560ADCA6-8557-4F4C-93D8-0E71CB32FBC3}" srcOrd="1" destOrd="0" presId="urn:microsoft.com/office/officeart/2005/8/layout/chevron1"/>
    <dgm:cxn modelId="{C5435074-F4EC-493A-8CE8-C7DB31CC511C}" type="presParOf" srcId="{79EE20C8-6D15-4BA2-B929-0E8E5C8174E3}" destId="{68987911-E38A-4076-B7D0-621266F4B352}" srcOrd="2" destOrd="0" presId="urn:microsoft.com/office/officeart/2005/8/layout/chevron1"/>
    <dgm:cxn modelId="{227A169A-1072-4839-905D-45C56C12CA2B}" type="presParOf" srcId="{79EE20C8-6D15-4BA2-B929-0E8E5C8174E3}" destId="{08703A93-45D9-47E3-8A24-5083FAA19394}" srcOrd="3" destOrd="0" presId="urn:microsoft.com/office/officeart/2005/8/layout/chevron1"/>
    <dgm:cxn modelId="{B3328F7A-61F0-43F7-9F33-51C159A5FBB9}" type="presParOf" srcId="{79EE20C8-6D15-4BA2-B929-0E8E5C8174E3}" destId="{24BC9863-A314-41E6-A403-B6BCA161A7B4}" srcOrd="4" destOrd="0" presId="urn:microsoft.com/office/officeart/2005/8/layout/chevron1"/>
    <dgm:cxn modelId="{9B3313A5-0AAE-4BA5-91D7-0C130FCF5CE0}" type="presParOf" srcId="{79EE20C8-6D15-4BA2-B929-0E8E5C8174E3}" destId="{CCB63E6F-AD86-459B-8459-C57A03775BAF}" srcOrd="5" destOrd="0" presId="urn:microsoft.com/office/officeart/2005/8/layout/chevron1"/>
    <dgm:cxn modelId="{5A83DE86-D493-4469-95A8-F311DFBC3459}" type="presParOf" srcId="{79EE20C8-6D15-4BA2-B929-0E8E5C8174E3}" destId="{8952E54C-2171-47E0-8ABC-E5C863C898F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16FDF-3234-462E-B8B1-7C7B0F02ADC1}">
      <dsp:nvSpPr>
        <dsp:cNvPr id="0" name=""/>
        <dsp:cNvSpPr/>
      </dsp:nvSpPr>
      <dsp:spPr>
        <a:xfrm>
          <a:off x="0" y="90966"/>
          <a:ext cx="10428577" cy="25685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B31C0-7430-498A-9711-526BF249A408}">
      <dsp:nvSpPr>
        <dsp:cNvPr id="0" name=""/>
        <dsp:cNvSpPr/>
      </dsp:nvSpPr>
      <dsp:spPr>
        <a:xfrm>
          <a:off x="776984" y="668884"/>
          <a:ext cx="1412699" cy="14126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E3CFA-F9DF-48CB-8362-0E893C18E383}">
      <dsp:nvSpPr>
        <dsp:cNvPr id="0" name=""/>
        <dsp:cNvSpPr/>
      </dsp:nvSpPr>
      <dsp:spPr>
        <a:xfrm>
          <a:off x="3294813" y="90966"/>
          <a:ext cx="3247651" cy="2568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838" tIns="271838" rIns="271838" bIns="27183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Aplicações tornam-se fortemente </a:t>
          </a:r>
          <a:r>
            <a:rPr lang="pt-BR" sz="2500" b="1" u="sng" kern="1200" dirty="0"/>
            <a:t>acopladas</a:t>
          </a:r>
          <a:r>
            <a:rPr lang="pt-BR" sz="2500" b="0" kern="1200" dirty="0"/>
            <a:t>.</a:t>
          </a:r>
          <a:endParaRPr lang="en-US" sz="2500" kern="1200" dirty="0"/>
        </a:p>
      </dsp:txBody>
      <dsp:txXfrm>
        <a:off x="3294813" y="90966"/>
        <a:ext cx="3247651" cy="2568543"/>
      </dsp:txXfrm>
    </dsp:sp>
    <dsp:sp modelId="{A2B45597-5002-4299-AAA1-06216892D19D}">
      <dsp:nvSpPr>
        <dsp:cNvPr id="0" name=""/>
        <dsp:cNvSpPr/>
      </dsp:nvSpPr>
      <dsp:spPr>
        <a:xfrm>
          <a:off x="6586328" y="90966"/>
          <a:ext cx="3331812" cy="2568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838" tIns="271838" rIns="271838" bIns="27183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0" kern="1200" dirty="0"/>
            <a:t>Mudanças significam </a:t>
          </a:r>
          <a:r>
            <a:rPr lang="pt-BR" sz="2400" b="1" u="sng" kern="1200" dirty="0"/>
            <a:t>impactar</a:t>
          </a:r>
          <a:r>
            <a:rPr lang="pt-BR" sz="2400" b="0" kern="1200" dirty="0"/>
            <a:t> diretamente cada um do(s) consumidor(es)</a:t>
          </a:r>
          <a:endParaRPr lang="en-US" sz="2400" kern="1200" dirty="0"/>
        </a:p>
      </dsp:txBody>
      <dsp:txXfrm>
        <a:off x="6586328" y="90966"/>
        <a:ext cx="3331812" cy="2568543"/>
      </dsp:txXfrm>
    </dsp:sp>
    <dsp:sp modelId="{C5BE595E-A886-42A3-98E0-83FD4574E7E7}">
      <dsp:nvSpPr>
        <dsp:cNvPr id="0" name=""/>
        <dsp:cNvSpPr/>
      </dsp:nvSpPr>
      <dsp:spPr>
        <a:xfrm>
          <a:off x="0" y="3301646"/>
          <a:ext cx="10428577" cy="25685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5000D2-295E-4230-9712-4605EA88D8B9}">
      <dsp:nvSpPr>
        <dsp:cNvPr id="0" name=""/>
        <dsp:cNvSpPr/>
      </dsp:nvSpPr>
      <dsp:spPr>
        <a:xfrm>
          <a:off x="776984" y="3879564"/>
          <a:ext cx="1412699" cy="14126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A0B09-4933-48BD-BA81-1C50F3767865}">
      <dsp:nvSpPr>
        <dsp:cNvPr id="0" name=""/>
        <dsp:cNvSpPr/>
      </dsp:nvSpPr>
      <dsp:spPr>
        <a:xfrm>
          <a:off x="3317797" y="3301646"/>
          <a:ext cx="3130822" cy="2568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838" tIns="271838" rIns="271838" bIns="27183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Isto conduz a </a:t>
          </a:r>
          <a:r>
            <a:rPr lang="pt-BR" sz="2500" b="1" u="sng" kern="1200" dirty="0"/>
            <a:t>falta de flexibilidade</a:t>
          </a:r>
          <a:r>
            <a:rPr lang="pt-BR" sz="2500" kern="1200" dirty="0"/>
            <a:t> e uma reação lenta às mudanças do negócio</a:t>
          </a:r>
          <a:endParaRPr lang="en-US" sz="2500" kern="1200" dirty="0"/>
        </a:p>
      </dsp:txBody>
      <dsp:txXfrm>
        <a:off x="3317797" y="3301646"/>
        <a:ext cx="3130822" cy="2568543"/>
      </dsp:txXfrm>
    </dsp:sp>
    <dsp:sp modelId="{E30749F1-927D-4D03-952F-92E0E421C2A9}">
      <dsp:nvSpPr>
        <dsp:cNvPr id="0" name=""/>
        <dsp:cNvSpPr/>
      </dsp:nvSpPr>
      <dsp:spPr>
        <a:xfrm>
          <a:off x="6494037" y="3301646"/>
          <a:ext cx="3374670" cy="2568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838" tIns="271838" rIns="271838" bIns="27183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u="sng" kern="1200" dirty="0"/>
            <a:t>Alto custo de manutenção </a:t>
          </a:r>
          <a:r>
            <a:rPr lang="pt-BR" sz="2400" b="0" kern="1200" dirty="0"/>
            <a:t>de sistemas 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0" kern="1200" dirty="0"/>
            <a:t>e </a:t>
          </a:r>
          <a:r>
            <a:rPr lang="pt-BR" sz="2400" b="1" u="sng" kern="1200" dirty="0"/>
            <a:t>dificuldade em diagnosticar/resolver </a:t>
          </a:r>
          <a:r>
            <a:rPr lang="pt-BR" sz="2400" b="0" kern="1200" dirty="0"/>
            <a:t>os problemas.</a:t>
          </a:r>
          <a:endParaRPr lang="en-US" sz="2400" kern="1200" dirty="0"/>
        </a:p>
      </dsp:txBody>
      <dsp:txXfrm>
        <a:off x="6494037" y="3301646"/>
        <a:ext cx="3374670" cy="2568543"/>
      </dsp:txXfrm>
    </dsp:sp>
    <dsp:sp modelId="{CE8A7ABA-0BC4-4317-AB18-3453CD06FD8C}">
      <dsp:nvSpPr>
        <dsp:cNvPr id="0" name=""/>
        <dsp:cNvSpPr/>
      </dsp:nvSpPr>
      <dsp:spPr>
        <a:xfrm>
          <a:off x="0" y="6449950"/>
          <a:ext cx="10428577" cy="25685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0C7FE-7F21-48F8-AFC8-CA42D7F6EEDA}">
      <dsp:nvSpPr>
        <dsp:cNvPr id="0" name=""/>
        <dsp:cNvSpPr/>
      </dsp:nvSpPr>
      <dsp:spPr>
        <a:xfrm>
          <a:off x="776984" y="7090244"/>
          <a:ext cx="1412699" cy="14126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745282-9BDF-4FDE-90A1-7C6AD224E018}">
      <dsp:nvSpPr>
        <dsp:cNvPr id="0" name=""/>
        <dsp:cNvSpPr/>
      </dsp:nvSpPr>
      <dsp:spPr>
        <a:xfrm>
          <a:off x="3350638" y="6449950"/>
          <a:ext cx="2957579" cy="2568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838" tIns="271838" rIns="271838" bIns="27183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O resultado: </a:t>
          </a:r>
          <a:r>
            <a:rPr lang="pt-BR" sz="2500" b="1" u="sng" kern="1200" dirty="0"/>
            <a:t>COMPLEXIDADE</a:t>
          </a:r>
          <a:endParaRPr lang="en-US" sz="2500" kern="1200" dirty="0"/>
        </a:p>
      </dsp:txBody>
      <dsp:txXfrm>
        <a:off x="3350638" y="6449950"/>
        <a:ext cx="2957579" cy="2568543"/>
      </dsp:txXfrm>
    </dsp:sp>
    <dsp:sp modelId="{A046F5BB-6C7E-48E2-96D9-70EA6EFBEC68}">
      <dsp:nvSpPr>
        <dsp:cNvPr id="0" name=""/>
        <dsp:cNvSpPr/>
      </dsp:nvSpPr>
      <dsp:spPr>
        <a:xfrm>
          <a:off x="6355501" y="6449950"/>
          <a:ext cx="3436622" cy="2568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838" tIns="271838" rIns="271838" bIns="27183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0" kern="1200" dirty="0"/>
            <a:t>As empresas gastam seus orçamentos de TI no gerenciamento de interfaces e não nas aplicações... retardando a </a:t>
          </a:r>
          <a:br>
            <a:rPr lang="pt-BR" sz="2000" b="0" kern="1200" dirty="0"/>
          </a:br>
          <a:r>
            <a:rPr lang="pt-BR" sz="2000" b="0" kern="1200" dirty="0"/>
            <a:t>implementação de soluções e diminuindo a agilidade.</a:t>
          </a:r>
          <a:endParaRPr lang="en-US" sz="2000" kern="1200" dirty="0"/>
        </a:p>
      </dsp:txBody>
      <dsp:txXfrm>
        <a:off x="6355501" y="6449950"/>
        <a:ext cx="3436622" cy="25685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8AD92-B24A-4060-A51F-3A2FF306F5B4}">
      <dsp:nvSpPr>
        <dsp:cNvPr id="0" name=""/>
        <dsp:cNvSpPr/>
      </dsp:nvSpPr>
      <dsp:spPr>
        <a:xfrm>
          <a:off x="0" y="63467"/>
          <a:ext cx="12527280" cy="26406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b="1" kern="1200"/>
            <a:t>Melhor eficiência operacional</a:t>
          </a:r>
          <a:r>
            <a:rPr lang="pt-BR" sz="3700" kern="1200"/>
            <a:t>: A integração de sistemas permite a automação de fluxos de trabalho e processos, reduzindo a necessidade de intervenção manual e melhorando a eficiência operacional.</a:t>
          </a:r>
          <a:endParaRPr lang="en-US" sz="3700" kern="1200"/>
        </a:p>
      </dsp:txBody>
      <dsp:txXfrm>
        <a:off x="128908" y="192375"/>
        <a:ext cx="12269464" cy="2382874"/>
      </dsp:txXfrm>
    </dsp:sp>
    <dsp:sp modelId="{57B78A15-98EF-4D0E-A5D8-65B63F8000B8}">
      <dsp:nvSpPr>
        <dsp:cNvPr id="0" name=""/>
        <dsp:cNvSpPr/>
      </dsp:nvSpPr>
      <dsp:spPr>
        <a:xfrm>
          <a:off x="0" y="2810717"/>
          <a:ext cx="12527280" cy="264069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b="1" kern="1200"/>
            <a:t>Maior produtividade</a:t>
          </a:r>
          <a:r>
            <a:rPr lang="pt-BR" sz="3700" kern="1200"/>
            <a:t>: Ao integrar sistemas, as informações podem ser compartilhadas de forma mais rápida e precisa, permitindo que as equipes sejam mais produtivas em suas atividades diárias.</a:t>
          </a:r>
          <a:endParaRPr lang="en-US" sz="3700" kern="1200"/>
        </a:p>
      </dsp:txBody>
      <dsp:txXfrm>
        <a:off x="128908" y="2939625"/>
        <a:ext cx="12269464" cy="2382874"/>
      </dsp:txXfrm>
    </dsp:sp>
    <dsp:sp modelId="{DABCE4FB-D23B-4962-9C59-108F67957419}">
      <dsp:nvSpPr>
        <dsp:cNvPr id="0" name=""/>
        <dsp:cNvSpPr/>
      </dsp:nvSpPr>
      <dsp:spPr>
        <a:xfrm>
          <a:off x="0" y="5557968"/>
          <a:ext cx="12527280" cy="264069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b="1" kern="1200"/>
            <a:t>Melhor tomada de decisão</a:t>
          </a:r>
          <a:r>
            <a:rPr lang="pt-BR" sz="3700" kern="1200"/>
            <a:t>: Com acesso a dados integrados de diferentes sistemas, os gestores podem tomar decisões mais informadas e estratégicas.</a:t>
          </a:r>
          <a:endParaRPr lang="en-US" sz="3700" kern="1200"/>
        </a:p>
      </dsp:txBody>
      <dsp:txXfrm>
        <a:off x="128908" y="5686876"/>
        <a:ext cx="12269464" cy="2382874"/>
      </dsp:txXfrm>
    </dsp:sp>
    <dsp:sp modelId="{98E4F9E0-4C65-4D39-93AA-92C3D6E7202F}">
      <dsp:nvSpPr>
        <dsp:cNvPr id="0" name=""/>
        <dsp:cNvSpPr/>
      </dsp:nvSpPr>
      <dsp:spPr>
        <a:xfrm>
          <a:off x="0" y="8305218"/>
          <a:ext cx="12527280" cy="264069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b="1" kern="1200"/>
            <a:t>Redução de erros</a:t>
          </a:r>
          <a:r>
            <a:rPr lang="pt-BR" sz="3700" kern="1200"/>
            <a:t>: A integração de sistemas reduz a necessidade de entrada manual de dados, minimizando assim erros e inconsistências.</a:t>
          </a:r>
          <a:endParaRPr lang="en-US" sz="3700" kern="1200"/>
        </a:p>
      </dsp:txBody>
      <dsp:txXfrm>
        <a:off x="128908" y="8434126"/>
        <a:ext cx="12269464" cy="23828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D712F-E101-429A-8414-A1A2597363A3}">
      <dsp:nvSpPr>
        <dsp:cNvPr id="0" name=""/>
        <dsp:cNvSpPr/>
      </dsp:nvSpPr>
      <dsp:spPr>
        <a:xfrm>
          <a:off x="231599" y="1726504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886DD-E5CC-4403-B745-3637815750CB}">
      <dsp:nvSpPr>
        <dsp:cNvPr id="0" name=""/>
        <dsp:cNvSpPr/>
      </dsp:nvSpPr>
      <dsp:spPr>
        <a:xfrm>
          <a:off x="231599" y="3558959"/>
          <a:ext cx="4320000" cy="22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3600" kern="1200"/>
            <a:t>Sistemas heterogêneos fazendo parte de uma só empresa...</a:t>
          </a:r>
          <a:endParaRPr lang="en-US" sz="3600" kern="1200"/>
        </a:p>
      </dsp:txBody>
      <dsp:txXfrm>
        <a:off x="231599" y="3558959"/>
        <a:ext cx="4320000" cy="2268000"/>
      </dsp:txXfrm>
    </dsp:sp>
    <dsp:sp modelId="{A66969A9-F124-4779-AC85-C471DF6C63FC}">
      <dsp:nvSpPr>
        <dsp:cNvPr id="0" name=""/>
        <dsp:cNvSpPr/>
      </dsp:nvSpPr>
      <dsp:spPr>
        <a:xfrm>
          <a:off x="231599" y="5976008"/>
          <a:ext cx="4320000" cy="3202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Legados</a:t>
          </a:r>
          <a:endParaRPr lang="en-US" sz="2800" kern="1200"/>
        </a:p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Aplicações “caseiras”</a:t>
          </a:r>
          <a:endParaRPr lang="en-US" sz="2800" kern="1200"/>
        </a:p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Novas tecnologias</a:t>
          </a:r>
          <a:endParaRPr lang="en-US" sz="2800" kern="1200"/>
        </a:p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Soluções de mercado</a:t>
          </a:r>
          <a:endParaRPr lang="en-US" sz="2800" kern="1200"/>
        </a:p>
      </dsp:txBody>
      <dsp:txXfrm>
        <a:off x="231599" y="5976008"/>
        <a:ext cx="4320000" cy="3202941"/>
      </dsp:txXfrm>
    </dsp:sp>
    <dsp:sp modelId="{3190E86C-207B-49D0-84FD-45E64DD0094E}">
      <dsp:nvSpPr>
        <dsp:cNvPr id="0" name=""/>
        <dsp:cNvSpPr/>
      </dsp:nvSpPr>
      <dsp:spPr>
        <a:xfrm>
          <a:off x="5307599" y="1726504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19527-5E4C-4197-BB89-BAA7AC3D3017}">
      <dsp:nvSpPr>
        <dsp:cNvPr id="0" name=""/>
        <dsp:cNvSpPr/>
      </dsp:nvSpPr>
      <dsp:spPr>
        <a:xfrm>
          <a:off x="5307599" y="3558959"/>
          <a:ext cx="4320000" cy="22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3600" kern="1200"/>
            <a:t>Métodos de usar os sistemas não são padronizados...</a:t>
          </a:r>
          <a:endParaRPr lang="en-US" sz="3600" kern="1200"/>
        </a:p>
      </dsp:txBody>
      <dsp:txXfrm>
        <a:off x="5307599" y="3558959"/>
        <a:ext cx="4320000" cy="2268000"/>
      </dsp:txXfrm>
    </dsp:sp>
    <dsp:sp modelId="{14B7977E-137F-4CC4-8DB5-62B72085AD46}">
      <dsp:nvSpPr>
        <dsp:cNvPr id="0" name=""/>
        <dsp:cNvSpPr/>
      </dsp:nvSpPr>
      <dsp:spPr>
        <a:xfrm>
          <a:off x="5307599" y="5976008"/>
          <a:ext cx="4320000" cy="3202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Protocolos - MQ, TCP/IP, HTTP, File system, FTP, SMTP, POP3 etc.</a:t>
          </a:r>
          <a:endParaRPr lang="en-US" sz="2800" kern="1200"/>
        </a:p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Formatos de mensagem - C/COBOL, XML, JSON, ISO8583, Industria (SWIFT, EDI, HL7), User-defined</a:t>
          </a:r>
          <a:endParaRPr lang="en-US" sz="2800" kern="1200"/>
        </a:p>
      </dsp:txBody>
      <dsp:txXfrm>
        <a:off x="5307599" y="5976008"/>
        <a:ext cx="4320000" cy="3202941"/>
      </dsp:txXfrm>
    </dsp:sp>
    <dsp:sp modelId="{255C494A-0B0D-4AA0-AFC7-7394D9E641CD}">
      <dsp:nvSpPr>
        <dsp:cNvPr id="0" name=""/>
        <dsp:cNvSpPr/>
      </dsp:nvSpPr>
      <dsp:spPr>
        <a:xfrm>
          <a:off x="10383599" y="1726504"/>
          <a:ext cx="1512000" cy="1512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03C46-B05E-4B6B-8E68-CE181D45A1A2}">
      <dsp:nvSpPr>
        <dsp:cNvPr id="0" name=""/>
        <dsp:cNvSpPr/>
      </dsp:nvSpPr>
      <dsp:spPr>
        <a:xfrm>
          <a:off x="10383599" y="3558959"/>
          <a:ext cx="4320000" cy="22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3600" kern="1200"/>
            <a:t>Integração é conectar todo esse mundo de uma forma fácil... </a:t>
          </a:r>
          <a:endParaRPr lang="en-US" sz="3600" kern="1200"/>
        </a:p>
      </dsp:txBody>
      <dsp:txXfrm>
        <a:off x="10383599" y="3558959"/>
        <a:ext cx="4320000" cy="2268000"/>
      </dsp:txXfrm>
    </dsp:sp>
    <dsp:sp modelId="{88AF93EB-987E-4293-B647-A36B7286B626}">
      <dsp:nvSpPr>
        <dsp:cNvPr id="0" name=""/>
        <dsp:cNvSpPr/>
      </dsp:nvSpPr>
      <dsp:spPr>
        <a:xfrm>
          <a:off x="10383599" y="5976008"/>
          <a:ext cx="4320000" cy="3202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95D788-9B50-47F7-B3F0-06C81A5A85DA}">
      <dsp:nvSpPr>
        <dsp:cNvPr id="0" name=""/>
        <dsp:cNvSpPr/>
      </dsp:nvSpPr>
      <dsp:spPr>
        <a:xfrm>
          <a:off x="1608" y="2329679"/>
          <a:ext cx="5644183" cy="3584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CD1F50-ED46-4DCC-BA89-7AC3BDB09193}">
      <dsp:nvSpPr>
        <dsp:cNvPr id="0" name=""/>
        <dsp:cNvSpPr/>
      </dsp:nvSpPr>
      <dsp:spPr>
        <a:xfrm>
          <a:off x="628739" y="2925454"/>
          <a:ext cx="5644183" cy="3584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/>
            <a:t>Podemos usar o ACE para conectar aplicativos, independentemente dos formatos de mensagem ou protocolos que eles suportam.</a:t>
          </a:r>
          <a:endParaRPr lang="en-US" sz="3300" kern="1200"/>
        </a:p>
      </dsp:txBody>
      <dsp:txXfrm>
        <a:off x="733712" y="3030427"/>
        <a:ext cx="5434237" cy="3374110"/>
      </dsp:txXfrm>
    </dsp:sp>
    <dsp:sp modelId="{7D54A053-0467-4233-B254-84E6376A48DC}">
      <dsp:nvSpPr>
        <dsp:cNvPr id="0" name=""/>
        <dsp:cNvSpPr/>
      </dsp:nvSpPr>
      <dsp:spPr>
        <a:xfrm>
          <a:off x="6900054" y="2329679"/>
          <a:ext cx="5644183" cy="3584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40CF7A-2362-4D9B-A094-2F2395DEE267}">
      <dsp:nvSpPr>
        <dsp:cNvPr id="0" name=""/>
        <dsp:cNvSpPr/>
      </dsp:nvSpPr>
      <dsp:spPr>
        <a:xfrm>
          <a:off x="7527186" y="2925454"/>
          <a:ext cx="5644183" cy="3584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/>
            <a:t>Essa conectividade significa que diversos aplicativos podem interagir e trocar dados com outros aplicativos em uma infraestrutura flexível, dinâmica e extensível.</a:t>
          </a:r>
          <a:endParaRPr lang="en-US" sz="3300" kern="1200"/>
        </a:p>
      </dsp:txBody>
      <dsp:txXfrm>
        <a:off x="7632159" y="3030427"/>
        <a:ext cx="5434237" cy="33741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6CC97B-157C-48F4-9F63-A69505FB28B3}">
      <dsp:nvSpPr>
        <dsp:cNvPr id="0" name=""/>
        <dsp:cNvSpPr/>
      </dsp:nvSpPr>
      <dsp:spPr>
        <a:xfrm>
          <a:off x="0" y="1116"/>
          <a:ext cx="128456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CB4FC-5BB6-43F9-9058-89AF0E84FACA}">
      <dsp:nvSpPr>
        <dsp:cNvPr id="0" name=""/>
        <dsp:cNvSpPr/>
      </dsp:nvSpPr>
      <dsp:spPr>
        <a:xfrm>
          <a:off x="0" y="1116"/>
          <a:ext cx="12845696" cy="182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100" kern="1200" dirty="0"/>
            <a:t>Construção de blocos em fluxos de mensagens</a:t>
          </a:r>
          <a:endParaRPr lang="en-US" sz="5100" kern="1200" dirty="0"/>
        </a:p>
      </dsp:txBody>
      <dsp:txXfrm>
        <a:off x="0" y="1116"/>
        <a:ext cx="12845696" cy="1828353"/>
      </dsp:txXfrm>
    </dsp:sp>
    <dsp:sp modelId="{8E519DAC-D08D-48D9-B634-085973BE6B90}">
      <dsp:nvSpPr>
        <dsp:cNvPr id="0" name=""/>
        <dsp:cNvSpPr/>
      </dsp:nvSpPr>
      <dsp:spPr>
        <a:xfrm>
          <a:off x="0" y="1829469"/>
          <a:ext cx="128456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51AF0-17F3-4F0C-9FC3-41112BC56C89}">
      <dsp:nvSpPr>
        <dsp:cNvPr id="0" name=""/>
        <dsp:cNvSpPr/>
      </dsp:nvSpPr>
      <dsp:spPr>
        <a:xfrm>
          <a:off x="0" y="1829469"/>
          <a:ext cx="12845696" cy="182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100" kern="1200"/>
            <a:t>Cada tipo de node (nó) executa uma ação (de entrada, saída ou de processamento) diferente</a:t>
          </a:r>
          <a:endParaRPr lang="en-US" sz="5100" kern="1200"/>
        </a:p>
      </dsp:txBody>
      <dsp:txXfrm>
        <a:off x="0" y="1829469"/>
        <a:ext cx="12845696" cy="1828353"/>
      </dsp:txXfrm>
    </dsp:sp>
    <dsp:sp modelId="{B7A2ECBD-C5EB-4596-BE9A-BFCD6AB87B40}">
      <dsp:nvSpPr>
        <dsp:cNvPr id="0" name=""/>
        <dsp:cNvSpPr/>
      </dsp:nvSpPr>
      <dsp:spPr>
        <a:xfrm>
          <a:off x="0" y="3657823"/>
          <a:ext cx="128456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3AC60-A5C6-4A2C-A52A-420550645D0D}">
      <dsp:nvSpPr>
        <dsp:cNvPr id="0" name=""/>
        <dsp:cNvSpPr/>
      </dsp:nvSpPr>
      <dsp:spPr>
        <a:xfrm>
          <a:off x="0" y="3657823"/>
          <a:ext cx="12845696" cy="182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100" kern="1200"/>
            <a:t>Vários tipos diferentes de nodes</a:t>
          </a:r>
          <a:endParaRPr lang="en-US" sz="5100" kern="1200"/>
        </a:p>
      </dsp:txBody>
      <dsp:txXfrm>
        <a:off x="0" y="3657823"/>
        <a:ext cx="12845696" cy="1828353"/>
      </dsp:txXfrm>
    </dsp:sp>
    <dsp:sp modelId="{87BE2BBE-F098-4BF2-85DB-D169E496A729}">
      <dsp:nvSpPr>
        <dsp:cNvPr id="0" name=""/>
        <dsp:cNvSpPr/>
      </dsp:nvSpPr>
      <dsp:spPr>
        <a:xfrm>
          <a:off x="0" y="5486176"/>
          <a:ext cx="128456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4A66C-2D5E-458A-8722-FF01201A3CD4}">
      <dsp:nvSpPr>
        <dsp:cNvPr id="0" name=""/>
        <dsp:cNvSpPr/>
      </dsp:nvSpPr>
      <dsp:spPr>
        <a:xfrm>
          <a:off x="0" y="5486176"/>
          <a:ext cx="12845696" cy="182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100" kern="1200"/>
            <a:t>Agrupados em categorias lógicas no editor de fluxo de mensagens</a:t>
          </a:r>
          <a:endParaRPr lang="en-US" sz="5100" kern="1200"/>
        </a:p>
      </dsp:txBody>
      <dsp:txXfrm>
        <a:off x="0" y="5486176"/>
        <a:ext cx="12845696" cy="1828353"/>
      </dsp:txXfrm>
    </dsp:sp>
    <dsp:sp modelId="{7F1FCEAA-FEC1-4583-BD45-55D772B6E870}">
      <dsp:nvSpPr>
        <dsp:cNvPr id="0" name=""/>
        <dsp:cNvSpPr/>
      </dsp:nvSpPr>
      <dsp:spPr>
        <a:xfrm>
          <a:off x="0" y="7314530"/>
          <a:ext cx="128456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7487E-317B-46E3-BFA3-25398CD71078}">
      <dsp:nvSpPr>
        <dsp:cNvPr id="0" name=""/>
        <dsp:cNvSpPr/>
      </dsp:nvSpPr>
      <dsp:spPr>
        <a:xfrm>
          <a:off x="0" y="7314530"/>
          <a:ext cx="12845696" cy="182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100" kern="1200"/>
            <a:t>Mais de 100 nodes disponíveis</a:t>
          </a:r>
          <a:endParaRPr lang="en-US" sz="5100" kern="1200"/>
        </a:p>
      </dsp:txBody>
      <dsp:txXfrm>
        <a:off x="0" y="7314530"/>
        <a:ext cx="12845696" cy="18283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27D2D-821A-43A8-9B43-33E28F618172}">
      <dsp:nvSpPr>
        <dsp:cNvPr id="0" name=""/>
        <dsp:cNvSpPr/>
      </dsp:nvSpPr>
      <dsp:spPr>
        <a:xfrm>
          <a:off x="8957" y="433374"/>
          <a:ext cx="5214071" cy="208562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b="1" kern="1200" dirty="0"/>
            <a:t>Desenv</a:t>
          </a:r>
          <a:endParaRPr lang="en-US" sz="4000" b="1" kern="1200" dirty="0"/>
        </a:p>
      </dsp:txBody>
      <dsp:txXfrm>
        <a:off x="1051771" y="433374"/>
        <a:ext cx="3128443" cy="2085628"/>
      </dsp:txXfrm>
    </dsp:sp>
    <dsp:sp modelId="{68987911-E38A-4076-B7D0-621266F4B352}">
      <dsp:nvSpPr>
        <dsp:cNvPr id="0" name=""/>
        <dsp:cNvSpPr/>
      </dsp:nvSpPr>
      <dsp:spPr>
        <a:xfrm>
          <a:off x="4701621" y="433374"/>
          <a:ext cx="5214071" cy="2085628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b="1" kern="1200" dirty="0"/>
            <a:t>Teste</a:t>
          </a:r>
          <a:endParaRPr lang="en-US" sz="4000" b="1" kern="1200" dirty="0"/>
        </a:p>
      </dsp:txBody>
      <dsp:txXfrm>
        <a:off x="5744435" y="433374"/>
        <a:ext cx="3128443" cy="2085628"/>
      </dsp:txXfrm>
    </dsp:sp>
    <dsp:sp modelId="{24BC9863-A314-41E6-A403-B6BCA161A7B4}">
      <dsp:nvSpPr>
        <dsp:cNvPr id="0" name=""/>
        <dsp:cNvSpPr/>
      </dsp:nvSpPr>
      <dsp:spPr>
        <a:xfrm>
          <a:off x="9394285" y="433374"/>
          <a:ext cx="5214071" cy="208562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b="1" kern="1200" dirty="0"/>
            <a:t>QA</a:t>
          </a:r>
          <a:endParaRPr lang="en-US" sz="4000" b="1" kern="1200" dirty="0"/>
        </a:p>
      </dsp:txBody>
      <dsp:txXfrm>
        <a:off x="10437099" y="433374"/>
        <a:ext cx="3128443" cy="2085628"/>
      </dsp:txXfrm>
    </dsp:sp>
    <dsp:sp modelId="{8952E54C-2171-47E0-8ABC-E5C863C898F9}">
      <dsp:nvSpPr>
        <dsp:cNvPr id="0" name=""/>
        <dsp:cNvSpPr/>
      </dsp:nvSpPr>
      <dsp:spPr>
        <a:xfrm>
          <a:off x="14086949" y="433374"/>
          <a:ext cx="5214071" cy="2085628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b="1" kern="1200" dirty="0"/>
            <a:t>PRODUÇÃO</a:t>
          </a:r>
          <a:endParaRPr lang="en-US" sz="4000" b="1" kern="1200" dirty="0"/>
        </a:p>
      </dsp:txBody>
      <dsp:txXfrm>
        <a:off x="15129763" y="433374"/>
        <a:ext cx="3128443" cy="2085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  <p:sp>
        <p:nvSpPr>
          <p:cNvPr id="266" name="Shape 266"/>
          <p:cNvSpPr>
            <a:spLocks noGrp="1"/>
          </p:cNvSpPr>
          <p:nvPr>
            <p:ph type="body" sz="quarter" idx="1"/>
          </p:nvPr>
        </p:nvSpPr>
        <p:spPr>
          <a:xfrm>
            <a:off x="975360" y="4560570"/>
            <a:ext cx="5364480" cy="432054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428196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638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5800"/>
            <a:ext cx="6088062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843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An IBM Proof of Technology</a:t>
            </a:r>
          </a:p>
        </p:txBody>
      </p:sp>
      <p:sp>
        <p:nvSpPr>
          <p:cNvPr id="2099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Go to 'View &gt; Header and Footer' to change this to match the event title</a:t>
            </a:r>
          </a:p>
        </p:txBody>
      </p:sp>
      <p:sp>
        <p:nvSpPr>
          <p:cNvPr id="2099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681F81-E94E-4729-9741-54DC4D09648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099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4150" y="706438"/>
            <a:ext cx="6292850" cy="3540125"/>
          </a:xfrm>
          <a:ln/>
        </p:spPr>
      </p:sp>
      <p:sp>
        <p:nvSpPr>
          <p:cNvPr id="2099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484310"/>
            <a:ext cx="4872633" cy="4248452"/>
          </a:xfrm>
          <a:noFill/>
          <a:ln/>
        </p:spPr>
        <p:txBody>
          <a:bodyPr/>
          <a:lstStyle/>
          <a:p>
            <a:pPr eaLnBrk="1" hangingPunct="1"/>
            <a:r>
              <a:rPr lang="en-US"/>
              <a:t>Visual programming is probably new to many of you.  But I think it has several big advantages.  It works the way most people think.  When I am trying to work out a basic design I usually draw on paper what looks like a message flow.  Not only is it easier to develop a message flow then to write the equivalent program, it is easier to go back in a year and figure out what the flow is trying to do.  I can program in both C and Java but I will always try to use Message Broker because it is so much faster and easier to get something going.  I guess I am lazy.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7376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8119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30250"/>
            <a:ext cx="6396037" cy="35988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93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31521" y="4560570"/>
            <a:ext cx="5850467" cy="4318874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663B-36FA-4E14-8D7F-D951FEC9A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BAEBE-C924-4101-A4DC-3E6AC6FC5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9FE1E-1408-4AD1-9A39-8FDD19D7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8A6B-274F-4C38-A97A-04379FC7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7FE5-E742-4EFE-8801-1DCFBCB3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5A9C436-E472-8C77-82CB-0FDCF59205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4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7544-ECA7-4369-AED8-671169F80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156706" cy="2263961"/>
          </a:xfrm>
        </p:spPr>
        <p:txBody>
          <a:bodyPr/>
          <a:lstStyle>
            <a:lvl1pPr>
              <a:lnSpc>
                <a:spcPct val="70000"/>
              </a:lnSpc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46357-69FB-4371-B19A-3704F41E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994212"/>
            <a:ext cx="22788282" cy="9359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5FD11-BCD9-4AA8-B02F-66CAA821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83C5F-47F8-427B-AF99-1BAE64F3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F51DA-9737-411E-B00E-25B3F78D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EE864CA-8340-42D4-96A4-6944BEA468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9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41B6-105F-44D2-954B-47E0751C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0EA35-CFA1-4BF9-A38F-582D8C62B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974BD-ACD7-4979-8D5B-733116F6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07001-6E98-4739-B2F5-9AFC4EA1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0FA3-1C28-4978-84DC-D1F65DBD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008DDA2-84B0-8910-85BD-0747BE275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0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2014-62E3-4682-9717-663A1B5AE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27551-E20F-4FAF-8BBF-8816B0FC3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EF466-A359-4C28-B86F-57F9F80ED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6BBE4-74C7-4B49-9A59-BA92BF04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37EBD-CE27-4347-BAE9-4523EB72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B4152-FA57-417F-B041-EBAB3A09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3EDA90-A63F-0C09-4C52-4A47F725C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4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814A-C87D-4952-A28C-CA41262D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E7A30-AA61-4D28-9FCE-978A3356C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B8FDA-5011-4759-830F-D22FD531D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573D8-77BA-4E0D-A5F9-F43798334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800D6-251F-4353-B3A6-4236FBE50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84432-E730-4F22-9539-87F66AD3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45C28-FAE0-41FB-B5D5-2E8ADDA7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B1D5E-AA4E-461A-A4A2-D60C2C55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322098-E9A0-5096-ED5A-45E96CD7F0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5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5BE0-96FA-46E2-83CD-F04486B5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C33C2-A519-40EA-92EB-8881CFE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44166-4E80-4260-B443-9F742C03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107E2-D1A1-42CE-B3EB-6A6CAB0D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3434540-E743-CF42-B43F-3CA209D80F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3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B643B-EEFF-4A42-835B-D5870618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16C75-E51E-4423-B1CD-40C2348E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2CE35-61D5-4EE8-AE11-97D586D6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FF9D9AC-F416-CD85-F727-142C2976B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2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C77E-7631-4737-BDF9-6A0106BA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5B63-19A5-4F11-82E1-67EEF9465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CFEA1-3A4A-4046-B215-EE081EE45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47C60-E2BB-41A7-81D0-0F9750F0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26DB6-0408-49E6-8FE3-16C43592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8EE3D-A61E-4580-A912-A38F4628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C9A94F-6C54-3642-C18C-0DDBB91A9A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3FEB-D6DE-43EB-88AE-F6E17E84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18082-7279-48F7-8688-BAC785CF2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4A1A8-9D5D-4F79-BAB5-7D39A5370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FC280-B409-4873-B4C6-6E7119C1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8F6-2992-4EB0-A2EC-BBB6699F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38C7F-ACD5-448F-85E4-81C4E706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9E8DEAE-AC3B-6846-3A0E-3AB6E96F79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9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3798-E030-42DE-B462-BFB2DAE6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A509-AC8B-4739-B375-2EB446DCC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6D92-C8FA-4E21-873D-70D8A699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88817-FA2E-4959-ACC6-2FDF162A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92B29-DA5D-4BD8-9FB2-EF1647E7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929297-D067-BC02-B360-D68D7BB8C3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8839F-A2E6-449B-A799-7B3F9BB87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4BD32-BF7B-4EE8-A531-C5C5294F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9F244-0B01-482C-B516-DDE185D1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97647-8461-4FA1-B76F-7B8ABAA2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5062-C169-48AA-AA73-940AC637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128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635000" y="94488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635000" y="115189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B7CB657-AD58-D993-04A8-DFEF4348BD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175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636" y="1743077"/>
            <a:ext cx="21987933" cy="996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828800" y="3552827"/>
            <a:ext cx="10164235" cy="7804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9436" y="3552827"/>
            <a:ext cx="10164232" cy="7804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928368" y="13081000"/>
            <a:ext cx="514564" cy="471924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D59C8-F376-4949-A8FF-DD506705902D}" type="slidenum">
              <a:rPr lang="en-US" altLang="pt-BR"/>
              <a:pPr>
                <a:defRPr/>
              </a:pPr>
              <a:t>‹#›</a:t>
            </a:fld>
            <a:endParaRPr lang="en-US" alt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251200" y="13001626"/>
            <a:ext cx="10773835" cy="492124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Confidencial | Sem valor comercial | 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2"/>
          </p:nvPr>
        </p:nvSpPr>
        <p:spPr>
          <a:xfrm>
            <a:off x="14549968" y="13001626"/>
            <a:ext cx="4550832" cy="492124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D64F5-C7CB-7046-A916-03AE29CB2FD6}" type="datetime5">
              <a:rPr lang="en-US" altLang="pt-BR"/>
              <a:pPr>
                <a:defRPr/>
              </a:pPr>
              <a:t>30-Sep-25</a:t>
            </a:fld>
            <a:endParaRPr lang="en-US" altLang="pt-BR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F3686DA6-0523-E54E-A093-77FAACDDA50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23531937" y="13021826"/>
            <a:ext cx="514564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/>
            </a:pPr>
            <a:fld id="{013D59C8-F376-4949-A8FF-DD506705902D}" type="slidenum">
              <a:rPr lang="en-US" altLang="pt-BR" smtClean="0"/>
              <a:pPr>
                <a:defRPr/>
              </a:pPr>
              <a:t>‹#›</a:t>
            </a:fld>
            <a:endParaRPr lang="en-US" altLang="pt-BR" dirty="0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E6D3BB2-F44C-BB77-5A19-1E438A7E4A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19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smtClean="0"/>
              <a:t>‹#›</a:t>
            </a:fld>
            <a:endParaRPr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DB8E7E4-5501-9B82-27E6-B9A5B8E097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93230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copy 11">
    <p:bg>
      <p:bgPr>
        <a:gradFill flip="none" rotWithShape="1">
          <a:gsLst>
            <a:gs pos="0">
              <a:srgbClr val="04B6EB"/>
            </a:gs>
            <a:gs pos="100000">
              <a:srgbClr val="007CA2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/>
          </p:cNvSpPr>
          <p:nvPr>
            <p:ph type="sldNum" sz="quarter" idx="2"/>
          </p:nvPr>
        </p:nvSpPr>
        <p:spPr>
          <a:xfrm>
            <a:off x="17475200" y="12219305"/>
            <a:ext cx="5689601" cy="256541"/>
          </a:xfrm>
          <a:prstGeom prst="rect">
            <a:avLst/>
          </a:prstGeom>
        </p:spPr>
        <p:txBody>
          <a:bodyPr wrap="square" lIns="45719" tIns="45719" rIns="45719" bIns="45719" anchor="ctr"/>
          <a:lstStyle>
            <a:lvl1pPr algn="r">
              <a:defRPr sz="11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09C37EC-AA62-8452-D0C0-2A63B9741E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2635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3D816-15D8-47D4-9051-1C65A7B1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2F899-C79F-46B3-B2D0-480E0AA1D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1ED71-C581-4E82-8FB7-8BD56472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47B2D-558E-4969-888A-4857A3473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45F82-5E15-4CD7-9651-0864337E4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E48E66D-8E1C-6789-34E0-6DC21802380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1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7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openxmlformats.org/officeDocument/2006/relationships/image" Target="../media/image51.png"/><Relationship Id="rId5" Type="http://schemas.openxmlformats.org/officeDocument/2006/relationships/diagramColors" Target="../diagrams/colors5.xml"/><Relationship Id="rId10" Type="http://schemas.openxmlformats.org/officeDocument/2006/relationships/image" Target="../media/image50.pn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63.png"/><Relationship Id="rId21" Type="http://schemas.openxmlformats.org/officeDocument/2006/relationships/image" Target="../media/image81.jp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6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Relationship Id="rId22" Type="http://schemas.openxmlformats.org/officeDocument/2006/relationships/image" Target="../media/image82.jp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74.png"/><Relationship Id="rId3" Type="http://schemas.openxmlformats.org/officeDocument/2006/relationships/image" Target="../media/image76.png"/><Relationship Id="rId7" Type="http://schemas.openxmlformats.org/officeDocument/2006/relationships/image" Target="../media/image87.png"/><Relationship Id="rId12" Type="http://schemas.openxmlformats.org/officeDocument/2006/relationships/image" Target="../media/image6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gif"/><Relationship Id="rId2" Type="http://schemas.openxmlformats.org/officeDocument/2006/relationships/image" Target="../media/image100.gif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01.gi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gi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5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ibm.com/integration/docs/app-connect-enterprise/" TargetMode="External"/><Relationship Id="rId3" Type="http://schemas.openxmlformats.org/officeDocument/2006/relationships/hyperlink" Target="https://www.ibm.com/docs/en/app-connect/12.0" TargetMode="External"/><Relationship Id="rId7" Type="http://schemas.openxmlformats.org/officeDocument/2006/relationships/hyperlink" Target="https://www.ibm.com/docs/en/app-connect/12.0?topic=policies-overview" TargetMode="External"/><Relationship Id="rId2" Type="http://schemas.openxmlformats.org/officeDocument/2006/relationships/hyperlink" Target="https://www.ibm.com/support/knowledgecenter/en/SSTTDS_12.0.0/com.ibm.ace.home.doc/help_home.htm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support/knowledgecenter/SSTTDS_11.0.0/com.ibm.etools.mft.doc/py00106_.html" TargetMode="External"/><Relationship Id="rId5" Type="http://schemas.openxmlformats.org/officeDocument/2006/relationships/hyperlink" Target="https://www.ibm.com/docs/en/app-connect/12.0?topic=administration-app-connect-enterprise-commands" TargetMode="External"/><Relationship Id="rId4" Type="http://schemas.openxmlformats.org/officeDocument/2006/relationships/hyperlink" Target="https://www.ibm.com/support/knowledgecenter/en/SSTTDS_11.0.0/com.ibm.etools.mft.doc/an07060_.html" TargetMode="Externa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446" y="-2"/>
            <a:ext cx="24451906" cy="137361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83918" y="-6"/>
            <a:ext cx="23544538" cy="13736148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00" y="0"/>
            <a:ext cx="7246748" cy="137361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750" y="-6"/>
            <a:ext cx="24467162" cy="13736152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68668" y="-1723648"/>
            <a:ext cx="13723862" cy="17195718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373944" y="2178098"/>
            <a:ext cx="9935066" cy="997678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5C755E-10AB-45AD-8504-1CDAE5798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706" y="1637968"/>
            <a:ext cx="19107376" cy="6357378"/>
          </a:xfrm>
        </p:spPr>
        <p:txBody>
          <a:bodyPr>
            <a:normAutofit/>
          </a:bodyPr>
          <a:lstStyle/>
          <a:p>
            <a:pPr algn="l"/>
            <a:r>
              <a:rPr lang="pt-BR" sz="9600" dirty="0">
                <a:solidFill>
                  <a:srgbClr val="FFFFFF"/>
                </a:solidFill>
              </a:rPr>
              <a:t>IBM ACE – App Connect Enterprise</a:t>
            </a:r>
            <a:br>
              <a:rPr lang="pt-BR" sz="9600" dirty="0">
                <a:solidFill>
                  <a:srgbClr val="FFFFFF"/>
                </a:solidFill>
              </a:rPr>
            </a:br>
            <a:r>
              <a:rPr lang="pt-BR" sz="9600" dirty="0">
                <a:solidFill>
                  <a:srgbClr val="FFFFFF"/>
                </a:solidFill>
              </a:rPr>
              <a:t>Introdução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8980220"/>
            <a:ext cx="24435420" cy="475592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B60ABB-9F3C-409C-A226-C1EA2DBCF623}"/>
              </a:ext>
            </a:extLst>
          </p:cNvPr>
          <p:cNvSpPr/>
          <p:nvPr/>
        </p:nvSpPr>
        <p:spPr>
          <a:xfrm>
            <a:off x="876962" y="4896660"/>
            <a:ext cx="3098686" cy="3098686"/>
          </a:xfrm>
          <a:prstGeom prst="ellipse">
            <a:avLst/>
          </a:prstGeom>
          <a:blipFill rotWithShape="1">
            <a:blip r:embed="rId2"/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20647"/>
              <a:satOff val="-1056"/>
              <a:lumOff val="4002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pic>
        <p:nvPicPr>
          <p:cNvPr id="21" name="0973543a.png">
            <a:extLst>
              <a:ext uri="{FF2B5EF4-FFF2-40B4-BE49-F238E27FC236}">
                <a16:creationId xmlns:a16="http://schemas.microsoft.com/office/drawing/2014/main" id="{507BEDB5-5E68-49D0-8915-DFAD6AE8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6665" y="555453"/>
            <a:ext cx="2689950" cy="10763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261B6D1-07AE-92E5-AB4F-D1FDF8A67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439" y="8980218"/>
            <a:ext cx="1653115" cy="1569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F0BDC4-0A2E-51CE-D3A4-D918DF6FC80A}"/>
              </a:ext>
            </a:extLst>
          </p:cNvPr>
          <p:cNvSpPr txBox="1"/>
          <p:nvPr/>
        </p:nvSpPr>
        <p:spPr>
          <a:xfrm>
            <a:off x="6516182" y="8980218"/>
            <a:ext cx="74998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solidFill>
                  <a:schemeClr val="bg1">
                    <a:lumMod val="95000"/>
                  </a:schemeClr>
                </a:solidFill>
              </a:rPr>
              <a:t>Alexandre Zanetti</a:t>
            </a:r>
          </a:p>
          <a:p>
            <a:pPr algn="just"/>
            <a:r>
              <a:rPr lang="pt-BR" sz="2800" dirty="0">
                <a:solidFill>
                  <a:schemeClr val="bg1">
                    <a:lumMod val="9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2800" dirty="0">
              <a:solidFill>
                <a:schemeClr val="bg1">
                  <a:lumMod val="95000"/>
                </a:schemeClr>
              </a:solidFill>
            </a:endParaRPr>
          </a:p>
          <a:p>
            <a:pPr algn="just"/>
            <a:r>
              <a:rPr lang="en-US" sz="2800" dirty="0">
                <a:solidFill>
                  <a:schemeClr val="bg1">
                    <a:lumMod val="95000"/>
                  </a:schemeClr>
                </a:solidFill>
                <a:effectLst/>
              </a:rPr>
              <a:t>IBM SRE Expert &amp; Integration Architect </a:t>
            </a:r>
            <a:endParaRPr lang="pt-BR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6A95EA71-0F05-36D8-1053-4A8C311250F0}"/>
              </a:ext>
            </a:extLst>
          </p:cNvPr>
          <p:cNvSpPr txBox="1">
            <a:spLocks/>
          </p:cNvSpPr>
          <p:nvPr/>
        </p:nvSpPr>
        <p:spPr>
          <a:xfrm>
            <a:off x="19956780" y="11818620"/>
            <a:ext cx="3543302" cy="929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dirty="0">
                <a:solidFill>
                  <a:srgbClr val="FFFFFF"/>
                </a:solidFill>
              </a:rPr>
              <a:t>Setembro/2025</a:t>
            </a:r>
          </a:p>
        </p:txBody>
      </p:sp>
    </p:spTree>
    <p:extLst>
      <p:ext uri="{BB962C8B-B14F-4D97-AF65-F5344CB8AC3E}">
        <p14:creationId xmlns:p14="http://schemas.microsoft.com/office/powerpoint/2010/main" val="212705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68" y="2820164"/>
            <a:ext cx="13716000" cy="8075672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70" y="2840438"/>
            <a:ext cx="13715998" cy="807567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35846" y="7176170"/>
            <a:ext cx="5003958" cy="807568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1003474" y="1939436"/>
            <a:ext cx="7800714" cy="8357916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86" y="2799886"/>
            <a:ext cx="13716006" cy="80756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25D6EF-9EE2-4584-A04D-04C0C3C3F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44" y="1173710"/>
            <a:ext cx="6402732" cy="5478102"/>
          </a:xfrm>
        </p:spPr>
        <p:txBody>
          <a:bodyPr anchor="b">
            <a:normAutofit/>
          </a:bodyPr>
          <a:lstStyle/>
          <a:p>
            <a:pPr algn="r"/>
            <a:r>
              <a:rPr lang="pt-BR" sz="80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7A0F5-E322-49E6-A709-0724D203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0518" y="1298960"/>
            <a:ext cx="13110694" cy="11092094"/>
          </a:xfrm>
        </p:spPr>
        <p:txBody>
          <a:bodyPr anchor="ctr">
            <a:normAutofit/>
          </a:bodyPr>
          <a:lstStyle/>
          <a:p>
            <a:r>
              <a:rPr lang="pt-BR" sz="5400" dirty="0"/>
              <a:t>Desafios do mercado</a:t>
            </a:r>
          </a:p>
          <a:p>
            <a:r>
              <a:rPr lang="pt-BR" sz="5400" dirty="0"/>
              <a:t>O que é um ESB?</a:t>
            </a:r>
          </a:p>
          <a:p>
            <a:r>
              <a:rPr lang="pt-BR" sz="5400" dirty="0"/>
              <a:t>O que é o ACE? </a:t>
            </a:r>
          </a:p>
          <a:p>
            <a:r>
              <a:rPr lang="pt-BR" sz="5400" dirty="0"/>
              <a:t>ACE – A solução</a:t>
            </a:r>
          </a:p>
          <a:p>
            <a:r>
              <a:rPr lang="pt-BR" sz="5400" dirty="0"/>
              <a:t>Arquitetura</a:t>
            </a:r>
          </a:p>
          <a:p>
            <a:pPr marL="0" indent="0">
              <a:buNone/>
            </a:pPr>
            <a:endParaRPr lang="pt-BR" sz="5400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AE9D0C5-E9CF-6B3C-F0D1-177559CA7F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3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Desafios</a:t>
            </a:r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 mercado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55EEC-008F-31BF-0A9A-711ADA82937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953019" y="8827507"/>
            <a:ext cx="9294957" cy="47734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4324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5" name="Group 2"/>
          <p:cNvGrpSpPr>
            <a:grpSpLocks/>
          </p:cNvGrpSpPr>
          <p:nvPr/>
        </p:nvGrpSpPr>
        <p:grpSpPr bwMode="auto">
          <a:xfrm>
            <a:off x="5013325" y="2627362"/>
            <a:ext cx="14357350" cy="9639300"/>
            <a:chOff x="618" y="567"/>
            <a:chExt cx="4522" cy="3036"/>
          </a:xfrm>
        </p:grpSpPr>
        <p:grpSp>
          <p:nvGrpSpPr>
            <p:cNvPr id="13319" name="Group 3"/>
            <p:cNvGrpSpPr>
              <a:grpSpLocks/>
            </p:cNvGrpSpPr>
            <p:nvPr/>
          </p:nvGrpSpPr>
          <p:grpSpPr bwMode="auto">
            <a:xfrm>
              <a:off x="618" y="567"/>
              <a:ext cx="4522" cy="2777"/>
              <a:chOff x="618" y="567"/>
              <a:chExt cx="4522" cy="2777"/>
            </a:xfrm>
          </p:grpSpPr>
          <p:pic>
            <p:nvPicPr>
              <p:cNvPr id="13321" name="Picture 4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618" y="567"/>
                <a:ext cx="4522" cy="2777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</p:pic>
          <p:sp>
            <p:nvSpPr>
              <p:cNvPr id="13322" name="AutoShape 5"/>
              <p:cNvSpPr>
                <a:spLocks noChangeArrowheads="1"/>
              </p:cNvSpPr>
              <p:nvPr/>
            </p:nvSpPr>
            <p:spPr bwMode="auto">
              <a:xfrm>
                <a:off x="680" y="567"/>
                <a:ext cx="4420" cy="2721"/>
              </a:xfrm>
              <a:prstGeom prst="roundRect">
                <a:avLst>
                  <a:gd name="adj" fmla="val 32"/>
                </a:avLst>
              </a:prstGeom>
              <a:noFill/>
              <a:ln w="360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endParaRPr lang="pt-BR" altLang="pt-BR" sz="10000"/>
              </a:p>
            </p:txBody>
          </p:sp>
        </p:grpSp>
        <p:pic>
          <p:nvPicPr>
            <p:cNvPr id="13320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499" y="2457"/>
              <a:ext cx="761" cy="114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desafio da integração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10EBA-77E3-4B8A-B21B-C392F11D7668}"/>
              </a:ext>
            </a:extLst>
          </p:cNvPr>
          <p:cNvSpPr txBox="1"/>
          <p:nvPr/>
        </p:nvSpPr>
        <p:spPr>
          <a:xfrm>
            <a:off x="1656103" y="12115562"/>
            <a:ext cx="21071794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pt-BR" sz="4800" dirty="0"/>
              <a:t>“</a:t>
            </a:r>
            <a:r>
              <a:rPr lang="en-GB" altLang="pt-BR" sz="4800" dirty="0" err="1"/>
              <a:t>Porque</a:t>
            </a:r>
            <a:r>
              <a:rPr lang="en-GB" altLang="pt-BR" sz="4800" dirty="0"/>
              <a:t> as interfaces entre as </a:t>
            </a:r>
            <a:r>
              <a:rPr lang="en-GB" altLang="pt-BR" sz="4800" dirty="0" err="1"/>
              <a:t>aplicações</a:t>
            </a:r>
            <a:r>
              <a:rPr lang="en-GB" altLang="pt-BR" sz="4800" dirty="0"/>
              <a:t> </a:t>
            </a:r>
            <a:r>
              <a:rPr lang="en-GB" altLang="pt-BR" sz="4800" dirty="0" err="1"/>
              <a:t>são</a:t>
            </a:r>
            <a:r>
              <a:rPr lang="en-GB" altLang="pt-BR" sz="4800" dirty="0"/>
              <a:t> </a:t>
            </a:r>
            <a:r>
              <a:rPr lang="en-GB" altLang="pt-BR" sz="4800" dirty="0" err="1"/>
              <a:t>tão</a:t>
            </a:r>
            <a:r>
              <a:rPr lang="en-GB" altLang="pt-BR" sz="4800" dirty="0"/>
              <a:t> </a:t>
            </a:r>
            <a:r>
              <a:rPr lang="en-GB" altLang="pt-BR" sz="4800" dirty="0" err="1"/>
              <a:t>complexas</a:t>
            </a:r>
            <a:r>
              <a:rPr lang="en-GB" altLang="pt-BR" sz="4800" dirty="0"/>
              <a:t> e </a:t>
            </a:r>
            <a:r>
              <a:rPr lang="en-GB" altLang="pt-BR" sz="4800" dirty="0" err="1"/>
              <a:t>caras</a:t>
            </a:r>
            <a:r>
              <a:rPr lang="en-GB" altLang="pt-BR" sz="4800" dirty="0"/>
              <a:t> de se </a:t>
            </a:r>
            <a:r>
              <a:rPr lang="en-GB" altLang="pt-BR" sz="4800" dirty="0" err="1"/>
              <a:t>manter</a:t>
            </a:r>
            <a:r>
              <a:rPr lang="en-GB" altLang="pt-BR" sz="4800" dirty="0"/>
              <a:t>?”</a:t>
            </a:r>
          </a:p>
          <a:p>
            <a:endParaRPr lang="pt-BR" sz="4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8384-DB6E-45BA-BA2B-41D069CA5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858" y="1258532"/>
            <a:ext cx="9888304" cy="3244642"/>
          </a:xfrm>
        </p:spPr>
        <p:txBody>
          <a:bodyPr>
            <a:normAutofit/>
          </a:bodyPr>
          <a:lstStyle/>
          <a:p>
            <a:r>
              <a:rPr lang="pt-BR" dirty="0"/>
              <a:t>Gerenciando a complexidade na TI</a:t>
            </a:r>
          </a:p>
        </p:txBody>
      </p:sp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91EE4B5B-3DB2-B720-FE3D-1E5E894E7F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70468"/>
              </p:ext>
            </p:extLst>
          </p:nvPr>
        </p:nvGraphicFramePr>
        <p:xfrm>
          <a:off x="788894" y="3783106"/>
          <a:ext cx="10428578" cy="9018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6F7435D-E3DB-47B1-BA61-B00ACC83A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85900" y="0"/>
            <a:ext cx="12198100" cy="13716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F263A0B5-F8C4-4116-809F-78A768EA7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55164" y="1115568"/>
            <a:ext cx="10260408" cy="1147837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omplexidadeT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9418" y="4357118"/>
            <a:ext cx="8951062" cy="4995270"/>
          </a:xfrm>
          <a:prstGeom prst="rect">
            <a:avLst/>
          </a:prstGeom>
          <a:effectLst/>
        </p:spPr>
      </p:pic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55558BB-D590-3BB5-FC4D-A7A2A92F4B5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A04C5E-2B8C-79FB-9477-DE4D6B99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114378"/>
            <a:ext cx="6748272" cy="11135782"/>
          </a:xfrm>
        </p:spPr>
        <p:txBody>
          <a:bodyPr>
            <a:normAutofit/>
          </a:bodyPr>
          <a:lstStyle/>
          <a:p>
            <a:r>
              <a:rPr lang="pt-BR" sz="9600" dirty="0"/>
              <a:t>Benefícios da Integração de Sistemas</a:t>
            </a:r>
            <a:br>
              <a:rPr lang="pt-BR" sz="9600" dirty="0"/>
            </a:br>
            <a:endParaRPr lang="pt-BR" sz="9600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B92CCC9D-EA99-DCEF-F654-D131E4AE4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473305"/>
              </p:ext>
            </p:extLst>
          </p:nvPr>
        </p:nvGraphicFramePr>
        <p:xfrm>
          <a:off x="10186416" y="1240784"/>
          <a:ext cx="12527280" cy="11009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604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742DF-894C-4BE3-BC2A-3E5287737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114378"/>
            <a:ext cx="6748272" cy="11135782"/>
          </a:xfrm>
        </p:spPr>
        <p:txBody>
          <a:bodyPr>
            <a:normAutofit/>
          </a:bodyPr>
          <a:lstStyle/>
          <a:p>
            <a:r>
              <a:rPr lang="pt-BR" sz="10400"/>
              <a:t>O que quer dizer integração?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928B955-E2DE-8364-FBCE-9914AF059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818851"/>
              </p:ext>
            </p:extLst>
          </p:nvPr>
        </p:nvGraphicFramePr>
        <p:xfrm>
          <a:off x="8570259" y="1344706"/>
          <a:ext cx="14935199" cy="10905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6118-5905-4809-928F-2EC20C96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pt-BR" sz="7200">
                <a:solidFill>
                  <a:srgbClr val="006699"/>
                </a:solidFill>
                <a:ea typeface="MS PGothic" pitchFamily="34" charset="-128"/>
              </a:rPr>
              <a:t>SOA simplifica a conectividade por meio de interfaces</a:t>
            </a:r>
            <a:endParaRPr lang="pt-BR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9C4E6-0AC5-4994-9BC7-85DC81252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858" y="9829896"/>
            <a:ext cx="22788282" cy="2570069"/>
          </a:xfrm>
        </p:spPr>
        <p:txBody>
          <a:bodyPr/>
          <a:lstStyle/>
          <a:p>
            <a:pPr marL="0" indent="0" algn="ctr">
              <a:buNone/>
            </a:pPr>
            <a:r>
              <a:rPr lang="pt-BR" b="1"/>
              <a:t>SOA</a:t>
            </a:r>
          </a:p>
          <a:p>
            <a:pPr marL="914400" lvl="1" indent="0" algn="ctr">
              <a:buNone/>
            </a:pPr>
            <a:r>
              <a:rPr lang="pt-BR"/>
              <a:t>Abstração / Baixo acoplamento / Redução de complexidade técnica / Reuso</a:t>
            </a:r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EC21E-A736-40BB-B6C1-0925CA706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999" y="2520000"/>
            <a:ext cx="21600000" cy="675299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 que é um ESB?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49C19-338D-937F-4ED1-FD8E7039A978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953019" y="8827507"/>
            <a:ext cx="9294957" cy="47734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003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658504-0300-48AF-B625-6938A0FB6E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109" r="53816" b="25020"/>
          <a:stretch/>
        </p:blipFill>
        <p:spPr>
          <a:xfrm>
            <a:off x="2439329" y="5809130"/>
            <a:ext cx="10075400" cy="61992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5CE0FF-5A94-4C84-B86F-A462C0D1A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é um ESB?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72AAD-E9C8-41B9-A541-ED252C205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965" y="3065930"/>
            <a:ext cx="22788282" cy="9359714"/>
          </a:xfrm>
        </p:spPr>
        <p:txBody>
          <a:bodyPr/>
          <a:lstStyle/>
          <a:p>
            <a:r>
              <a:rPr lang="pt-BR"/>
              <a:t>Um Enterprise Service Bus (ESB) é uma infraestrutura de conectividade para a integração de aplicações e serviços.</a:t>
            </a:r>
          </a:p>
          <a:p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DA59B9-BB2C-8222-CFA8-0C7E8A99D3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381"/>
          <a:stretch/>
        </p:blipFill>
        <p:spPr>
          <a:xfrm>
            <a:off x="13450144" y="5576047"/>
            <a:ext cx="7750782" cy="684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20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269A-CB11-454D-9AF0-1504A276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ESB dá ao SOA o seu valor total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B9BDEB-13AE-4762-B342-AC9BE2EE6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5" y="2520000"/>
            <a:ext cx="21600000" cy="626063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2FCDBA7-46B5-46AC-9D88-E84A987B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858" y="9829896"/>
            <a:ext cx="22788282" cy="2570069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/>
              <a:t>ESB</a:t>
            </a:r>
          </a:p>
          <a:p>
            <a:pPr marL="914400" lvl="1" indent="0" algn="ctr">
              <a:buNone/>
            </a:pPr>
            <a:r>
              <a:rPr lang="pt-BR" dirty="0"/>
              <a:t>Roteia / Converte protocolos / Transforma formato de mensagens</a:t>
            </a:r>
          </a:p>
        </p:txBody>
      </p:sp>
    </p:spTree>
    <p:extLst>
      <p:ext uri="{BB962C8B-B14F-4D97-AF65-F5344CB8AC3E}">
        <p14:creationId xmlns:p14="http://schemas.microsoft.com/office/powerpoint/2010/main" val="2532465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4B88-D721-48EC-B16F-525A9F28A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858" y="1258532"/>
            <a:ext cx="9888304" cy="3244642"/>
          </a:xfrm>
        </p:spPr>
        <p:txBody>
          <a:bodyPr>
            <a:normAutofit/>
          </a:bodyPr>
          <a:lstStyle/>
          <a:p>
            <a:r>
              <a:rPr lang="pt-BR" sz="8000" dirty="0"/>
              <a:t>Um ESB resolve o problema de integração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E0423-2550-4842-B826-B5591E88C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860" y="4876800"/>
            <a:ext cx="9888302" cy="7570838"/>
          </a:xfrm>
        </p:spPr>
        <p:txBody>
          <a:bodyPr>
            <a:normAutofit/>
          </a:bodyPr>
          <a:lstStyle/>
          <a:p>
            <a:r>
              <a:rPr lang="pt-BR" sz="3700"/>
              <a:t>Uma “arquitetura” de comunicação que permite aplicações executarem </a:t>
            </a:r>
          </a:p>
          <a:p>
            <a:pPr lvl="1"/>
            <a:r>
              <a:rPr lang="pt-BR" sz="3700"/>
              <a:t>em </a:t>
            </a:r>
            <a:r>
              <a:rPr lang="pt-BR" sz="3700" b="1"/>
              <a:t>diferentes plataformas e dispositivos </a:t>
            </a:r>
          </a:p>
          <a:p>
            <a:pPr lvl="1"/>
            <a:r>
              <a:rPr lang="pt-BR" sz="3700"/>
              <a:t>codificadas em </a:t>
            </a:r>
            <a:r>
              <a:rPr lang="pt-BR" sz="3700" b="1"/>
              <a:t>diferentes linguagens de programação </a:t>
            </a:r>
          </a:p>
          <a:p>
            <a:pPr lvl="1"/>
            <a:r>
              <a:rPr lang="pt-BR" sz="3700"/>
              <a:t>utilizem </a:t>
            </a:r>
            <a:r>
              <a:rPr lang="pt-BR" sz="3700" b="1"/>
              <a:t>diferentes modelos de programação/conectividade </a:t>
            </a:r>
          </a:p>
          <a:p>
            <a:pPr lvl="1"/>
            <a:r>
              <a:rPr lang="pt-BR" sz="3700"/>
              <a:t>requerem </a:t>
            </a:r>
            <a:r>
              <a:rPr lang="pt-BR" sz="3700" b="1"/>
              <a:t>diferentes representações de dados </a:t>
            </a:r>
          </a:p>
          <a:p>
            <a:r>
              <a:rPr lang="pt-BR" sz="3700"/>
              <a:t>para se comunicarem com aplicações ou interfaces existentes sem desordem ou sem perda de informação. </a:t>
            </a:r>
          </a:p>
          <a:p>
            <a:endParaRPr lang="pt-BR" sz="37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7435D-E3DB-47B1-BA61-B00ACC83A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85900" y="0"/>
            <a:ext cx="12198100" cy="13716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F263A0B5-F8C4-4116-809F-78A768EA7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55164" y="1115568"/>
            <a:ext cx="10260408" cy="1147837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A337E0E1-E700-46A5-B598-6B9F100BA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418" y="4796008"/>
            <a:ext cx="8951062" cy="4117489"/>
          </a:xfrm>
          <a:prstGeom prst="rect">
            <a:avLst/>
          </a:prstGeom>
          <a:effectLst/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8B313E5-9073-ADFE-0D7A-C194A01E13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64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5965-D667-4269-B615-47F483726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716" y="10220846"/>
            <a:ext cx="21812122" cy="134308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8900" dirty="0" err="1"/>
              <a:t>Visão</a:t>
            </a:r>
            <a:r>
              <a:rPr lang="en-US" sz="8900" dirty="0"/>
              <a:t> </a:t>
            </a:r>
            <a:r>
              <a:rPr lang="en-US" sz="8900" dirty="0" err="1"/>
              <a:t>geral</a:t>
            </a:r>
            <a:r>
              <a:rPr lang="en-US" sz="8900" dirty="0"/>
              <a:t> de um ESB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3BAC-D9E9-462D-835D-F462B63E3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716" y="11711686"/>
            <a:ext cx="21812122" cy="916940"/>
          </a:xfrm>
          <a:noFill/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 algn="ctr" defTabSz="914400">
              <a:spcBef>
                <a:spcPts val="1000"/>
              </a:spcBef>
              <a:buNone/>
            </a:pPr>
            <a:r>
              <a:rPr lang="en-US" sz="3600" dirty="0" err="1"/>
              <a:t>Agilidade</a:t>
            </a:r>
            <a:r>
              <a:rPr lang="en-US" sz="3600" dirty="0"/>
              <a:t> e </a:t>
            </a:r>
            <a:r>
              <a:rPr lang="en-US" sz="3600" dirty="0" err="1"/>
              <a:t>redução</a:t>
            </a:r>
            <a:r>
              <a:rPr lang="en-US" sz="3600" dirty="0"/>
              <a:t> </a:t>
            </a:r>
            <a:r>
              <a:rPr lang="en-US" sz="3600" dirty="0" err="1"/>
              <a:t>começam</a:t>
            </a:r>
            <a:r>
              <a:rPr lang="en-US" sz="3600" dirty="0"/>
              <a:t> com </a:t>
            </a:r>
            <a:r>
              <a:rPr lang="en-US" sz="3600" dirty="0" err="1"/>
              <a:t>integração</a:t>
            </a:r>
            <a:r>
              <a:rPr lang="en-US" sz="3600" dirty="0"/>
              <a:t>!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FC7D98-7B8B-402A-90FC-F027482F2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24384004" cy="9644958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AD7356EA-285B-4E5D-8FEC-104659A4F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9124" y="1280182"/>
            <a:ext cx="16365752" cy="77622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FEEC9-5D02-4878-BABC-14CC6BF82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962" y="1527504"/>
            <a:ext cx="13554075" cy="7267575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99CE833-BFDD-9872-F977-4003ADE003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27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 que é o ACE?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02F70A-1917-78CC-8065-A2C5F9D184E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953019" y="8827507"/>
            <a:ext cx="9294957" cy="47734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36351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CC88A-38A5-4072-AA12-4C954C72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94" y="721819"/>
            <a:ext cx="7010990" cy="3244642"/>
          </a:xfrm>
        </p:spPr>
        <p:txBody>
          <a:bodyPr>
            <a:normAutofit/>
          </a:bodyPr>
          <a:lstStyle/>
          <a:p>
            <a:r>
              <a:rPr lang="pt-BR" sz="8000" dirty="0"/>
              <a:t>O que é o ACE?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74B73-0F0E-43FB-A95E-0EF97253C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3801035"/>
            <a:ext cx="8498541" cy="8646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400"/>
              <a:t>O IBM ACE (App Connect Enterprise) combina as tecnologias existentes e confiáveis do segmento de mercado IBM Integration Bus com IBM App Connect Professional e com tecnologias nativas da nuvem, fornecendo uma plataforma que suporta toda a amplitude das necessidades de integração em uma empresa moderna.</a:t>
            </a:r>
            <a:endParaRPr lang="pt-BR" sz="44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8112" y="0"/>
            <a:ext cx="15105888" cy="13716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7376" y="1115568"/>
            <a:ext cx="13168196" cy="1147837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Developing integration solutions for App Connect Enterprise on IBM Cloud">
            <a:extLst>
              <a:ext uri="{FF2B5EF4-FFF2-40B4-BE49-F238E27FC236}">
                <a16:creationId xmlns:a16="http://schemas.microsoft.com/office/drawing/2014/main" id="{64FABB25-7BAB-409A-AAA3-F7E7B8A38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11724" y="3468879"/>
            <a:ext cx="12038662" cy="677174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DB65990-3936-9DA8-D5F4-79A955970E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33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3" name="Arc 103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17262696" y="980986"/>
            <a:ext cx="5975798" cy="5975798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6CC88A-38A5-4072-AA12-4C954C72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9924" y="958986"/>
            <a:ext cx="10917676" cy="2651126"/>
          </a:xfrm>
        </p:spPr>
        <p:txBody>
          <a:bodyPr>
            <a:normAutofit/>
          </a:bodyPr>
          <a:lstStyle/>
          <a:p>
            <a:r>
              <a:rPr lang="pt-BR"/>
              <a:t>Onde implementar?</a:t>
            </a: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0972800"/>
            <a:ext cx="5345726" cy="27432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Cloud Pak for Integration">
            <a:extLst>
              <a:ext uri="{FF2B5EF4-FFF2-40B4-BE49-F238E27FC236}">
                <a16:creationId xmlns:a16="http://schemas.microsoft.com/office/drawing/2014/main" id="{BAA5F3A6-4818-3BF8-4F5B-D15C585D4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5926" y="3610111"/>
            <a:ext cx="12825328" cy="679742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74B73-0F0E-43FB-A95E-0EF97253C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9622" y="3968886"/>
            <a:ext cx="9107978" cy="8385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Usando o IBM App Connect Enterprise Toolkit, você pode desenvolver soluções de integração e implantar no </a:t>
            </a:r>
            <a:br>
              <a:rPr lang="pt-BR" dirty="0"/>
            </a:br>
            <a:r>
              <a:rPr lang="pt-BR" b="1" dirty="0">
                <a:solidFill>
                  <a:srgbClr val="0070C0"/>
                </a:solidFill>
              </a:rPr>
              <a:t>IBM Cloud Pak for </a:t>
            </a:r>
            <a:r>
              <a:rPr lang="pt-BR" b="1" dirty="0" err="1">
                <a:solidFill>
                  <a:srgbClr val="0070C0"/>
                </a:solidFill>
              </a:rPr>
              <a:t>Integration</a:t>
            </a:r>
            <a:r>
              <a:rPr lang="pt-BR" b="1" dirty="0">
                <a:solidFill>
                  <a:srgbClr val="0070C0"/>
                </a:solidFill>
              </a:rPr>
              <a:t> CP4I</a:t>
            </a:r>
            <a:r>
              <a:rPr lang="pt-BR" dirty="0"/>
              <a:t>, num ambiente dedicado do ACE ou no ACE na IBM Cloud. </a:t>
            </a:r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D82063C-24F1-7394-7044-FB24261791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63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0CD2-82C4-4519-A66A-037A1168C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860" y="1258536"/>
            <a:ext cx="12153888" cy="2572320"/>
          </a:xfrm>
        </p:spPr>
        <p:txBody>
          <a:bodyPr anchor="b">
            <a:normAutofit/>
          </a:bodyPr>
          <a:lstStyle/>
          <a:p>
            <a:r>
              <a:rPr lang="pt-BR" dirty="0"/>
              <a:t>Conectando aplicações com o ACE</a:t>
            </a:r>
          </a:p>
        </p:txBody>
      </p:sp>
      <p:graphicFrame>
        <p:nvGraphicFramePr>
          <p:cNvPr id="1028" name="Content Placeholder 2">
            <a:extLst>
              <a:ext uri="{FF2B5EF4-FFF2-40B4-BE49-F238E27FC236}">
                <a16:creationId xmlns:a16="http://schemas.microsoft.com/office/drawing/2014/main" id="{8678DE35-845C-3C6C-4464-FD6921E494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930862" y="4464425"/>
          <a:ext cx="13172978" cy="8839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Alta conectividade a todas as empresas - TMC Telecomunicações">
            <a:extLst>
              <a:ext uri="{FF2B5EF4-FFF2-40B4-BE49-F238E27FC236}">
                <a16:creationId xmlns:a16="http://schemas.microsoft.com/office/drawing/2014/main" id="{B376EF49-E13B-4778-A818-5B1302B346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20" r="35472" b="-1"/>
          <a:stretch/>
        </p:blipFill>
        <p:spPr bwMode="auto">
          <a:xfrm>
            <a:off x="20" y="10"/>
            <a:ext cx="9271162" cy="13715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61868" y="4230234"/>
            <a:ext cx="12618720" cy="0"/>
          </a:xfrm>
          <a:prstGeom prst="line">
            <a:avLst/>
          </a:prstGeom>
          <a:ln w="19050">
            <a:solidFill>
              <a:srgbClr val="27D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316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68" y="2820164"/>
            <a:ext cx="13716000" cy="8075672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70" y="2840438"/>
            <a:ext cx="13715998" cy="807567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35846" y="7176170"/>
            <a:ext cx="5003958" cy="807568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1003474" y="1939436"/>
            <a:ext cx="7800714" cy="8357916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86" y="2799886"/>
            <a:ext cx="13716006" cy="80756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E0CD2-82C4-4519-A66A-037A1168C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44" y="1173710"/>
            <a:ext cx="6402732" cy="6774994"/>
          </a:xfrm>
        </p:spPr>
        <p:txBody>
          <a:bodyPr anchor="b">
            <a:normAutofit/>
          </a:bodyPr>
          <a:lstStyle/>
          <a:p>
            <a:pPr algn="r"/>
            <a:r>
              <a:rPr lang="pt-BR" sz="8000">
                <a:solidFill>
                  <a:srgbClr val="FFFFFF"/>
                </a:solidFill>
              </a:rPr>
              <a:t>Transformação das mensagens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58193-061F-4895-9C50-C523F2963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0518" y="1298960"/>
            <a:ext cx="13110694" cy="11092094"/>
          </a:xfrm>
        </p:spPr>
        <p:txBody>
          <a:bodyPr anchor="ctr">
            <a:normAutofit fontScale="92500"/>
          </a:bodyPr>
          <a:lstStyle/>
          <a:p>
            <a:r>
              <a:rPr lang="pt-BR" sz="4000" dirty="0"/>
              <a:t>O ACE roteia, transforma e enriquece mensagens de um local para qualquer outro:</a:t>
            </a:r>
          </a:p>
          <a:p>
            <a:pPr lvl="1"/>
            <a:r>
              <a:rPr lang="pt-BR" sz="4000" dirty="0"/>
              <a:t>Exemplos de protocolos: </a:t>
            </a:r>
          </a:p>
          <a:p>
            <a:pPr lvl="2"/>
            <a:r>
              <a:rPr lang="pt-BR" sz="3200" dirty="0"/>
              <a:t>IBM MQ</a:t>
            </a:r>
          </a:p>
          <a:p>
            <a:pPr lvl="2"/>
            <a:r>
              <a:rPr lang="pt-BR" sz="3200" dirty="0"/>
              <a:t>JMS 1.1 e 2.0</a:t>
            </a:r>
          </a:p>
          <a:p>
            <a:pPr lvl="2"/>
            <a:r>
              <a:rPr lang="pt-BR" sz="3200" dirty="0"/>
              <a:t>HTTP e HTTPS</a:t>
            </a:r>
          </a:p>
          <a:p>
            <a:pPr lvl="2"/>
            <a:r>
              <a:rPr lang="pt-BR" sz="3200" dirty="0"/>
              <a:t>Serviços da web (SOAP e REST)</a:t>
            </a:r>
          </a:p>
          <a:p>
            <a:pPr lvl="2"/>
            <a:r>
              <a:rPr lang="pt-BR" sz="3200" dirty="0"/>
              <a:t>Arquivos</a:t>
            </a:r>
          </a:p>
          <a:p>
            <a:pPr lvl="2"/>
            <a:r>
              <a:rPr lang="pt-BR" sz="3200" dirty="0"/>
              <a:t>Sistemas de Informação Corporativa (incluindo SAP e Siebel)</a:t>
            </a:r>
          </a:p>
          <a:p>
            <a:pPr lvl="2"/>
            <a:r>
              <a:rPr lang="pt-BR" sz="3200" dirty="0"/>
              <a:t>TCP / IP.</a:t>
            </a:r>
          </a:p>
          <a:p>
            <a:pPr lvl="1"/>
            <a:r>
              <a:rPr lang="pt-BR" sz="4000" dirty="0"/>
              <a:t>Exemplos de formatos de dados: </a:t>
            </a:r>
          </a:p>
          <a:p>
            <a:pPr lvl="2"/>
            <a:r>
              <a:rPr lang="pt-BR" sz="3200" dirty="0"/>
              <a:t>Formatos binários (C e COBOL)</a:t>
            </a:r>
          </a:p>
          <a:p>
            <a:pPr lvl="2"/>
            <a:r>
              <a:rPr lang="pt-BR" sz="3200" dirty="0"/>
              <a:t>XML</a:t>
            </a:r>
          </a:p>
          <a:p>
            <a:pPr lvl="2"/>
            <a:r>
              <a:rPr lang="pt-BR" sz="3200" dirty="0"/>
              <a:t>JSON</a:t>
            </a:r>
          </a:p>
          <a:p>
            <a:pPr lvl="2"/>
            <a:r>
              <a:rPr lang="pt-BR" sz="3200" dirty="0"/>
              <a:t>ISO8583 </a:t>
            </a:r>
          </a:p>
          <a:p>
            <a:pPr lvl="2"/>
            <a:r>
              <a:rPr lang="pt-BR" sz="3200" dirty="0"/>
              <a:t>Padrões da indústria (incluindo SWIFT, EDI e HIPAA). </a:t>
            </a:r>
          </a:p>
          <a:p>
            <a:pPr lvl="2"/>
            <a:r>
              <a:rPr lang="pt-BR" sz="3200" dirty="0"/>
              <a:t>Você também pode definir seus próprios formatos de dados.</a:t>
            </a:r>
          </a:p>
          <a:p>
            <a:pPr lvl="1"/>
            <a:r>
              <a:rPr lang="pt-BR" sz="4000" dirty="0"/>
              <a:t>Ele oferece suporte a muitas operações, incluindo roteamento, transformação, filtragem, enriquecimento, monitoramento, distribuição, coleta, correlação e detecção.</a:t>
            </a:r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DA70F7D-54F2-9BB9-883E-329DBD3013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0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B0FD520-1BF9-1A05-6144-D6D619491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64" y="1308920"/>
            <a:ext cx="21175472" cy="1178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71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dirty="0">
                <a:solidFill>
                  <a:srgbClr val="FFFFFF"/>
                </a:solidFill>
              </a:rPr>
              <a:t>ACE – A </a:t>
            </a:r>
            <a:r>
              <a:rPr lang="en-US" sz="9600" dirty="0" err="1">
                <a:solidFill>
                  <a:srgbClr val="FFFFFF"/>
                </a:solidFill>
              </a:rPr>
              <a:t>solução</a:t>
            </a:r>
            <a:endParaRPr lang="en-US" sz="9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DB026F-8EB1-23B0-144F-CC12BCD16FC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953019" y="8827507"/>
            <a:ext cx="9294957" cy="47734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2551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511B9E-2E8E-4203-8146-3C12268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EC8E763-88DC-40B6-4155-817398EE1941}"/>
              </a:ext>
            </a:extLst>
          </p:cNvPr>
          <p:cNvGrpSpPr/>
          <p:nvPr/>
        </p:nvGrpSpPr>
        <p:grpSpPr>
          <a:xfrm>
            <a:off x="788894" y="2440076"/>
            <a:ext cx="20273918" cy="10796686"/>
            <a:chOff x="788894" y="2351556"/>
            <a:chExt cx="20273918" cy="107966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270A38-B3A9-9B71-EA0F-C5AF78191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894" y="2351556"/>
              <a:ext cx="20273918" cy="10796686"/>
            </a:xfrm>
            <a:prstGeom prst="rect">
              <a:avLst/>
            </a:prstGeom>
          </p:spPr>
        </p:pic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262584D7-DA47-382D-B774-F5E1764EE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894" y="9574306"/>
              <a:ext cx="4016188" cy="340658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68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 sz="10000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86B9DAE6-F123-0B47-15CD-339332F3E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894" y="3292942"/>
              <a:ext cx="4016188" cy="62275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68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 sz="10000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03D4D39-1E54-9240-BEE2-DE3B72D15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726" y="9574306"/>
              <a:ext cx="16168085" cy="340658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68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 sz="10000"/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2EA55FEE-6715-9E1B-B9DF-4D077EFB2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726" y="3292942"/>
              <a:ext cx="16168085" cy="62275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68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 sz="100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componentes</a:t>
            </a:r>
            <a:r>
              <a:rPr lang="en-US" dirty="0"/>
              <a:t> do ACE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90165" y="2761132"/>
            <a:ext cx="21587011" cy="10242550"/>
          </a:xfrm>
        </p:spPr>
        <p:txBody>
          <a:bodyPr>
            <a:normAutofit/>
          </a:bodyPr>
          <a:lstStyle/>
          <a:p>
            <a:r>
              <a:rPr lang="pt-BR" b="1" dirty="0"/>
              <a:t>`</a:t>
            </a:r>
          </a:p>
          <a:p>
            <a:pPr marL="0" indent="0">
              <a:buNone/>
            </a:pPr>
            <a:r>
              <a:rPr lang="pt-BR" dirty="0"/>
              <a:t>(conhecido como Broker na v8):  Módulo principal do ACE onde são criados os Intergration Server (Execution Groups)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(conhecido como Execution Group “EG”  na v8): É um componente de runtime onde os fluxos de mensagens são executados. Cada Execution Group representa um processo no sistema operacional.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90BB4A-A27F-B940-AA77-7E6000831C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82" t="3952" b="53710"/>
          <a:stretch/>
        </p:blipFill>
        <p:spPr>
          <a:xfrm>
            <a:off x="806824" y="5656734"/>
            <a:ext cx="7978587" cy="10040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15E7E2-BCE4-A022-01B4-6D39AF5533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82" t="45533" b="12128"/>
          <a:stretch/>
        </p:blipFill>
        <p:spPr>
          <a:xfrm>
            <a:off x="806824" y="2743199"/>
            <a:ext cx="7978587" cy="100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96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projeto</a:t>
            </a:r>
            <a:r>
              <a:rPr lang="en-US" dirty="0"/>
              <a:t> do ACE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63906" y="2635624"/>
            <a:ext cx="19507200" cy="10242550"/>
          </a:xfrm>
        </p:spPr>
        <p:txBody>
          <a:bodyPr>
            <a:normAutofit fontScale="47500" lnSpcReduction="20000"/>
          </a:bodyPr>
          <a:lstStyle/>
          <a:p>
            <a:endParaRPr lang="pt-BR" b="1" dirty="0"/>
          </a:p>
          <a:p>
            <a:endParaRPr lang="pt-BR" b="1" dirty="0"/>
          </a:p>
          <a:p>
            <a:pPr marL="0" indent="0">
              <a:buNone/>
            </a:pPr>
            <a:r>
              <a:rPr lang="pt-BR" dirty="0"/>
              <a:t>(conhecido como Message Flow e Message set Projects nas versões anteriores do produto): É um container (projeto no eclipse) onde são armazenados os fluxos de mensagens, códigos, modelo de mensagens, etc.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É um container (projeto no eclipse) específicos para WSDL/XML onde são armazenados os fluxos de mensagens, códigos, modelo de mensagens, etc.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É um container (projeto no eclipse) específicos para Swagger/JSON onde são armazenados os fluxos de mensagens, códigos, modelo de mensagens, etc.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É um container (projeto no eclipse) onde são armazenados artefatos comuns entre outros projetos (applications), tais como: subfluxos, códigos utilitários, modelo de mensagens, entre outros artefatos que possam ser reutilizados.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É um container (projeto no eclipse) onde são armazenados os artefatos de configurações/políticas, tais como configuração de conexões, </a:t>
            </a:r>
            <a:r>
              <a:rPr lang="pt-BR" dirty="0" err="1"/>
              <a:t>etc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131124-3A5F-0911-5508-423586E421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7" t="3625" r="54538" b="83328"/>
          <a:stretch/>
        </p:blipFill>
        <p:spPr>
          <a:xfrm>
            <a:off x="914400" y="2528048"/>
            <a:ext cx="7117977" cy="1111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658C22-D5C3-6BFA-7B98-2FA82EB352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7" t="17150" r="54538" b="69326"/>
          <a:stretch/>
        </p:blipFill>
        <p:spPr>
          <a:xfrm>
            <a:off x="914401" y="4397559"/>
            <a:ext cx="7117977" cy="11523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622635-2798-C088-F96D-CD3AD16BBE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7" t="30397" r="54538" b="56079"/>
          <a:stretch/>
        </p:blipFill>
        <p:spPr>
          <a:xfrm>
            <a:off x="914400" y="8218007"/>
            <a:ext cx="7117977" cy="1152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10D703-114F-9C3F-F78A-1B91A6B0DC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7" t="44123" r="54538" b="42936"/>
          <a:stretch/>
        </p:blipFill>
        <p:spPr>
          <a:xfrm>
            <a:off x="914400" y="6307783"/>
            <a:ext cx="7117977" cy="11026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D40B40-58E6-435A-EBEB-369902DB40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7" t="82195" r="54538" b="2529"/>
          <a:stretch/>
        </p:blipFill>
        <p:spPr>
          <a:xfrm>
            <a:off x="914402" y="10111149"/>
            <a:ext cx="7117977" cy="13015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2A57-C3D7-49B7-9B32-982C261D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8000"/>
              <a:t>Que tipos de recursos posso desenvolver no ACE?</a:t>
            </a:r>
            <a:endParaRPr lang="pt-BR" sz="8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BF4EA-4C18-49BE-9711-1FAA629D5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Fluxos de mensagens</a:t>
            </a:r>
          </a:p>
          <a:p>
            <a:pPr lvl="1"/>
            <a:r>
              <a:rPr lang="pt-BR" dirty="0"/>
              <a:t>Um fluxo de mensagens é uma sequência de etapas de processamento que são executadas num integration node quando uma mensagem de entrada é recebida. Você define um fluxo de mensagens incluindo vários nodes no fluxo de mensagens, cada um dos quais representa um conjunto de ações que definem uma etapa de processamento. </a:t>
            </a:r>
          </a:p>
          <a:p>
            <a:pPr lvl="1"/>
            <a:endParaRPr lang="pt-BR" dirty="0"/>
          </a:p>
          <a:p>
            <a:r>
              <a:rPr lang="pt-BR" b="1" dirty="0"/>
              <a:t>Modelos de mensagem</a:t>
            </a:r>
          </a:p>
          <a:p>
            <a:pPr lvl="1"/>
            <a:r>
              <a:rPr lang="pt-BR" dirty="0"/>
              <a:t>Você pode definir a estrutura de mensagens para uso com seus fluxos de mensagens.</a:t>
            </a:r>
          </a:p>
        </p:txBody>
      </p:sp>
    </p:spTree>
    <p:extLst>
      <p:ext uri="{BB962C8B-B14F-4D97-AF65-F5344CB8AC3E}">
        <p14:creationId xmlns:p14="http://schemas.microsoft.com/office/powerpoint/2010/main" val="3876034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reeform 1"/>
          <p:cNvSpPr>
            <a:spLocks noChangeArrowheads="1"/>
          </p:cNvSpPr>
          <p:nvPr/>
        </p:nvSpPr>
        <p:spPr bwMode="auto">
          <a:xfrm>
            <a:off x="22161873" y="8719746"/>
            <a:ext cx="3176" cy="3174"/>
          </a:xfrm>
          <a:custGeom>
            <a:avLst/>
            <a:gdLst>
              <a:gd name="T0" fmla="*/ 0 w 1587"/>
              <a:gd name="T1" fmla="*/ 0 h 1588"/>
              <a:gd name="T2" fmla="*/ 0 w 1587"/>
              <a:gd name="T3" fmla="*/ 0 h 1588"/>
              <a:gd name="T4" fmla="*/ 0 w 1587"/>
              <a:gd name="T5" fmla="*/ 0 h 1588"/>
              <a:gd name="T6" fmla="*/ 0 w 1587"/>
              <a:gd name="T7" fmla="*/ 0 h 1588"/>
              <a:gd name="T8" fmla="*/ 0 w 1587"/>
              <a:gd name="T9" fmla="*/ 0 h 1588"/>
              <a:gd name="T10" fmla="*/ 0 w 1587"/>
              <a:gd name="T11" fmla="*/ 0 h 1588"/>
              <a:gd name="T12" fmla="*/ 0 w 1587"/>
              <a:gd name="T13" fmla="*/ 0 h 1588"/>
              <a:gd name="T14" fmla="*/ 0 w 1587"/>
              <a:gd name="T15" fmla="*/ 0 h 1588"/>
              <a:gd name="T16" fmla="*/ 0 w 1587"/>
              <a:gd name="T17" fmla="*/ 0 h 1588"/>
              <a:gd name="T18" fmla="*/ 0 w 1587"/>
              <a:gd name="T19" fmla="*/ 0 h 158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587"/>
              <a:gd name="T31" fmla="*/ 0 h 1588"/>
              <a:gd name="T32" fmla="*/ 1587 w 1587"/>
              <a:gd name="T33" fmla="*/ 1588 h 158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587" h="1588">
                <a:moveTo>
                  <a:pt x="0" y="0"/>
                </a:move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796" name="Line 3"/>
          <p:cNvSpPr>
            <a:spLocks noChangeShapeType="1"/>
          </p:cNvSpPr>
          <p:nvPr/>
        </p:nvSpPr>
        <p:spPr bwMode="auto">
          <a:xfrm>
            <a:off x="10869521" y="11555019"/>
            <a:ext cx="1276350" cy="3176"/>
          </a:xfrm>
          <a:prstGeom prst="line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797" name="Freeform 4"/>
          <p:cNvSpPr>
            <a:spLocks noChangeArrowheads="1"/>
          </p:cNvSpPr>
          <p:nvPr/>
        </p:nvSpPr>
        <p:spPr bwMode="auto">
          <a:xfrm>
            <a:off x="12117295" y="11450246"/>
            <a:ext cx="301626" cy="209550"/>
          </a:xfrm>
          <a:custGeom>
            <a:avLst/>
            <a:gdLst>
              <a:gd name="T0" fmla="*/ 0 w 95"/>
              <a:gd name="T1" fmla="*/ 0 h 66"/>
              <a:gd name="T2" fmla="*/ 2147483646 w 95"/>
              <a:gd name="T3" fmla="*/ 2147483646 h 66"/>
              <a:gd name="T4" fmla="*/ 0 w 95"/>
              <a:gd name="T5" fmla="*/ 2147483646 h 66"/>
              <a:gd name="T6" fmla="*/ 0 w 95"/>
              <a:gd name="T7" fmla="*/ 0 h 66"/>
              <a:gd name="T8" fmla="*/ 0 60000 65536"/>
              <a:gd name="T9" fmla="*/ 0 60000 65536"/>
              <a:gd name="T10" fmla="*/ 0 60000 65536"/>
              <a:gd name="T11" fmla="*/ 0 60000 65536"/>
              <a:gd name="T12" fmla="*/ 0 w 95"/>
              <a:gd name="T13" fmla="*/ 0 h 66"/>
              <a:gd name="T14" fmla="*/ 95 w 95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5" h="66">
                <a:moveTo>
                  <a:pt x="0" y="0"/>
                </a:moveTo>
                <a:lnTo>
                  <a:pt x="95" y="33"/>
                </a:lnTo>
                <a:lnTo>
                  <a:pt x="0" y="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798" name="Rectangle 5"/>
          <p:cNvSpPr>
            <a:spLocks noChangeArrowheads="1"/>
          </p:cNvSpPr>
          <p:nvPr/>
        </p:nvSpPr>
        <p:spPr bwMode="auto">
          <a:xfrm>
            <a:off x="9620741" y="11189896"/>
            <a:ext cx="1192634" cy="3600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600"/>
              <a:t>Message</a:t>
            </a:r>
          </a:p>
        </p:txBody>
      </p:sp>
      <p:sp>
        <p:nvSpPr>
          <p:cNvPr id="33799" name="Rectangle 6"/>
          <p:cNvSpPr>
            <a:spLocks noChangeArrowheads="1"/>
          </p:cNvSpPr>
          <p:nvPr/>
        </p:nvSpPr>
        <p:spPr bwMode="auto">
          <a:xfrm>
            <a:off x="10072140" y="11580420"/>
            <a:ext cx="258084" cy="3600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600"/>
              <a:t>In</a:t>
            </a:r>
          </a:p>
        </p:txBody>
      </p:sp>
      <p:sp>
        <p:nvSpPr>
          <p:cNvPr id="33800" name="Rectangle 7"/>
          <p:cNvSpPr>
            <a:spLocks noChangeArrowheads="1"/>
          </p:cNvSpPr>
          <p:nvPr/>
        </p:nvSpPr>
        <p:spPr bwMode="auto">
          <a:xfrm>
            <a:off x="20580841" y="11231170"/>
            <a:ext cx="1192634" cy="3600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600"/>
              <a:t>Message</a:t>
            </a:r>
          </a:p>
        </p:txBody>
      </p:sp>
      <p:sp>
        <p:nvSpPr>
          <p:cNvPr id="33801" name="Rectangle 8"/>
          <p:cNvSpPr>
            <a:spLocks noChangeArrowheads="1"/>
          </p:cNvSpPr>
          <p:nvPr/>
        </p:nvSpPr>
        <p:spPr bwMode="auto">
          <a:xfrm>
            <a:off x="20892918" y="11618520"/>
            <a:ext cx="508151" cy="3600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600"/>
              <a:t>Out</a:t>
            </a:r>
          </a:p>
        </p:txBody>
      </p:sp>
      <p:sp>
        <p:nvSpPr>
          <p:cNvPr id="33802" name="Rectangle 9"/>
          <p:cNvSpPr>
            <a:spLocks noChangeArrowheads="1"/>
          </p:cNvSpPr>
          <p:nvPr/>
        </p:nvSpPr>
        <p:spPr bwMode="auto">
          <a:xfrm>
            <a:off x="13220637" y="12043970"/>
            <a:ext cx="4775346" cy="3600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600" b="1" dirty="0"/>
              <a:t>ACE – IBM App Connect Enterprise</a:t>
            </a:r>
          </a:p>
        </p:txBody>
      </p:sp>
      <p:sp>
        <p:nvSpPr>
          <p:cNvPr id="33803" name="Rectangle 10"/>
          <p:cNvSpPr>
            <a:spLocks noChangeArrowheads="1"/>
          </p:cNvSpPr>
          <p:nvPr/>
        </p:nvSpPr>
        <p:spPr bwMode="auto">
          <a:xfrm>
            <a:off x="9088344" y="12205895"/>
            <a:ext cx="625476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04" name="Rectangle 11"/>
          <p:cNvSpPr>
            <a:spLocks noChangeArrowheads="1"/>
          </p:cNvSpPr>
          <p:nvPr/>
        </p:nvSpPr>
        <p:spPr bwMode="auto">
          <a:xfrm>
            <a:off x="9321842" y="12294796"/>
            <a:ext cx="136255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C</a:t>
            </a:r>
          </a:p>
        </p:txBody>
      </p:sp>
      <p:sp>
        <p:nvSpPr>
          <p:cNvPr id="33805" name="Rectangle 12"/>
          <p:cNvSpPr>
            <a:spLocks noChangeArrowheads="1"/>
          </p:cNvSpPr>
          <p:nvPr/>
        </p:nvSpPr>
        <p:spPr bwMode="auto">
          <a:xfrm>
            <a:off x="9713821" y="12205895"/>
            <a:ext cx="793750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06" name="Rectangle 13"/>
          <p:cNvSpPr>
            <a:spLocks noChangeArrowheads="1"/>
          </p:cNvSpPr>
          <p:nvPr/>
        </p:nvSpPr>
        <p:spPr bwMode="auto">
          <a:xfrm>
            <a:off x="9898467" y="12294796"/>
            <a:ext cx="389529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123</a:t>
            </a:r>
          </a:p>
        </p:txBody>
      </p:sp>
      <p:sp>
        <p:nvSpPr>
          <p:cNvPr id="33807" name="Rectangle 14"/>
          <p:cNvSpPr>
            <a:spLocks noChangeArrowheads="1"/>
          </p:cNvSpPr>
          <p:nvPr/>
        </p:nvSpPr>
        <p:spPr bwMode="auto">
          <a:xfrm>
            <a:off x="10507571" y="12205895"/>
            <a:ext cx="803274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08" name="Rectangle 15"/>
          <p:cNvSpPr>
            <a:spLocks noChangeArrowheads="1"/>
          </p:cNvSpPr>
          <p:nvPr/>
        </p:nvSpPr>
        <p:spPr bwMode="auto">
          <a:xfrm>
            <a:off x="10679254" y="12294796"/>
            <a:ext cx="444031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BUY</a:t>
            </a:r>
          </a:p>
        </p:txBody>
      </p:sp>
      <p:sp>
        <p:nvSpPr>
          <p:cNvPr id="33809" name="Rectangle 16"/>
          <p:cNvSpPr>
            <a:spLocks noChangeArrowheads="1"/>
          </p:cNvSpPr>
          <p:nvPr/>
        </p:nvSpPr>
        <p:spPr bwMode="auto">
          <a:xfrm>
            <a:off x="11310844" y="12205895"/>
            <a:ext cx="663576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10" name="Rectangle 17"/>
          <p:cNvSpPr>
            <a:spLocks noChangeArrowheads="1"/>
          </p:cNvSpPr>
          <p:nvPr/>
        </p:nvSpPr>
        <p:spPr bwMode="auto">
          <a:xfrm>
            <a:off x="11415886" y="12294796"/>
            <a:ext cx="437619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IBM</a:t>
            </a:r>
          </a:p>
        </p:txBody>
      </p:sp>
      <p:sp>
        <p:nvSpPr>
          <p:cNvPr id="33811" name="Rectangle 18"/>
          <p:cNvSpPr>
            <a:spLocks noChangeArrowheads="1"/>
          </p:cNvSpPr>
          <p:nvPr/>
        </p:nvSpPr>
        <p:spPr bwMode="auto">
          <a:xfrm>
            <a:off x="11974420" y="12205895"/>
            <a:ext cx="365124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12" name="Rectangle 19"/>
          <p:cNvSpPr>
            <a:spLocks noChangeArrowheads="1"/>
          </p:cNvSpPr>
          <p:nvPr/>
        </p:nvSpPr>
        <p:spPr bwMode="auto">
          <a:xfrm>
            <a:off x="12085710" y="12294796"/>
            <a:ext cx="129843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5</a:t>
            </a:r>
          </a:p>
        </p:txBody>
      </p:sp>
      <p:sp>
        <p:nvSpPr>
          <p:cNvPr id="33813" name="Rectangle 20"/>
          <p:cNvSpPr>
            <a:spLocks noChangeArrowheads="1"/>
          </p:cNvSpPr>
          <p:nvPr/>
        </p:nvSpPr>
        <p:spPr bwMode="auto">
          <a:xfrm>
            <a:off x="18451421" y="12205895"/>
            <a:ext cx="688974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14" name="Rectangle 21"/>
          <p:cNvSpPr>
            <a:spLocks noChangeArrowheads="1"/>
          </p:cNvSpPr>
          <p:nvPr/>
        </p:nvSpPr>
        <p:spPr bwMode="auto">
          <a:xfrm>
            <a:off x="18709502" y="12294796"/>
            <a:ext cx="141064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X</a:t>
            </a:r>
          </a:p>
        </p:txBody>
      </p:sp>
      <p:sp>
        <p:nvSpPr>
          <p:cNvPr id="33815" name="Rectangle 22"/>
          <p:cNvSpPr>
            <a:spLocks noChangeArrowheads="1"/>
          </p:cNvSpPr>
          <p:nvPr/>
        </p:nvSpPr>
        <p:spPr bwMode="auto">
          <a:xfrm>
            <a:off x="19140394" y="12205895"/>
            <a:ext cx="1247776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16" name="Rectangle 23"/>
          <p:cNvSpPr>
            <a:spLocks noChangeArrowheads="1"/>
          </p:cNvSpPr>
          <p:nvPr/>
        </p:nvSpPr>
        <p:spPr bwMode="auto">
          <a:xfrm>
            <a:off x="19259708" y="12294796"/>
            <a:ext cx="932948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A123_02</a:t>
            </a:r>
          </a:p>
        </p:txBody>
      </p:sp>
      <p:sp>
        <p:nvSpPr>
          <p:cNvPr id="33817" name="Rectangle 24"/>
          <p:cNvSpPr>
            <a:spLocks noChangeArrowheads="1"/>
          </p:cNvSpPr>
          <p:nvPr/>
        </p:nvSpPr>
        <p:spPr bwMode="auto">
          <a:xfrm>
            <a:off x="20388170" y="12205895"/>
            <a:ext cx="1701800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18" name="Rectangle 25"/>
          <p:cNvSpPr>
            <a:spLocks noChangeArrowheads="1"/>
          </p:cNvSpPr>
          <p:nvPr/>
        </p:nvSpPr>
        <p:spPr bwMode="auto">
          <a:xfrm>
            <a:off x="20657259" y="12294796"/>
            <a:ext cx="1147750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PURCHASE</a:t>
            </a:r>
          </a:p>
        </p:txBody>
      </p:sp>
      <p:sp>
        <p:nvSpPr>
          <p:cNvPr id="33819" name="Rectangle 26"/>
          <p:cNvSpPr>
            <a:spLocks noChangeArrowheads="1"/>
          </p:cNvSpPr>
          <p:nvPr/>
        </p:nvSpPr>
        <p:spPr bwMode="auto">
          <a:xfrm>
            <a:off x="22416994" y="12205895"/>
            <a:ext cx="752476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0" name="Rectangle 27"/>
          <p:cNvSpPr>
            <a:spLocks noChangeArrowheads="1"/>
          </p:cNvSpPr>
          <p:nvPr/>
        </p:nvSpPr>
        <p:spPr bwMode="auto">
          <a:xfrm>
            <a:off x="22560136" y="12294796"/>
            <a:ext cx="437619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IBM</a:t>
            </a:r>
          </a:p>
        </p:txBody>
      </p:sp>
      <p:sp>
        <p:nvSpPr>
          <p:cNvPr id="33821" name="Rectangle 28"/>
          <p:cNvSpPr>
            <a:spLocks noChangeArrowheads="1"/>
          </p:cNvSpPr>
          <p:nvPr/>
        </p:nvSpPr>
        <p:spPr bwMode="auto">
          <a:xfrm>
            <a:off x="22026470" y="12205895"/>
            <a:ext cx="403224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2" name="Rectangle 29"/>
          <p:cNvSpPr>
            <a:spLocks noChangeArrowheads="1"/>
          </p:cNvSpPr>
          <p:nvPr/>
        </p:nvSpPr>
        <p:spPr bwMode="auto">
          <a:xfrm>
            <a:off x="22150460" y="12294796"/>
            <a:ext cx="129843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5</a:t>
            </a:r>
          </a:p>
        </p:txBody>
      </p:sp>
      <p:sp>
        <p:nvSpPr>
          <p:cNvPr id="33823" name="Rectangle 30"/>
          <p:cNvSpPr>
            <a:spLocks noChangeArrowheads="1"/>
          </p:cNvSpPr>
          <p:nvPr/>
        </p:nvSpPr>
        <p:spPr bwMode="auto">
          <a:xfrm>
            <a:off x="12418920" y="8484796"/>
            <a:ext cx="6016624" cy="3435350"/>
          </a:xfrm>
          <a:prstGeom prst="rect">
            <a:avLst/>
          </a:prstGeom>
          <a:solidFill>
            <a:srgbClr val="800000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4" name="Freeform 31"/>
          <p:cNvSpPr>
            <a:spLocks noChangeArrowheads="1"/>
          </p:cNvSpPr>
          <p:nvPr/>
        </p:nvSpPr>
        <p:spPr bwMode="auto">
          <a:xfrm>
            <a:off x="12418921" y="8199046"/>
            <a:ext cx="6772274" cy="285750"/>
          </a:xfrm>
          <a:custGeom>
            <a:avLst/>
            <a:gdLst>
              <a:gd name="T0" fmla="*/ 0 w 2133"/>
              <a:gd name="T1" fmla="*/ 2147483646 h 90"/>
              <a:gd name="T2" fmla="*/ 2147483646 w 2133"/>
              <a:gd name="T3" fmla="*/ 0 h 90"/>
              <a:gd name="T4" fmla="*/ 2147483646 w 2133"/>
              <a:gd name="T5" fmla="*/ 0 h 90"/>
              <a:gd name="T6" fmla="*/ 2147483646 w 2133"/>
              <a:gd name="T7" fmla="*/ 2147483646 h 90"/>
              <a:gd name="T8" fmla="*/ 0 w 2133"/>
              <a:gd name="T9" fmla="*/ 2147483646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33"/>
              <a:gd name="T16" fmla="*/ 0 h 90"/>
              <a:gd name="T17" fmla="*/ 2133 w 2133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33" h="90">
                <a:moveTo>
                  <a:pt x="0" y="90"/>
                </a:moveTo>
                <a:lnTo>
                  <a:pt x="237" y="0"/>
                </a:lnTo>
                <a:lnTo>
                  <a:pt x="2133" y="0"/>
                </a:lnTo>
                <a:lnTo>
                  <a:pt x="1895" y="90"/>
                </a:lnTo>
                <a:lnTo>
                  <a:pt x="0" y="90"/>
                </a:lnTo>
                <a:close/>
              </a:path>
            </a:pathLst>
          </a:custGeom>
          <a:solidFill>
            <a:srgbClr val="B90000"/>
          </a:solidFill>
          <a:ln w="648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25" name="Freeform 32"/>
          <p:cNvSpPr>
            <a:spLocks noChangeArrowheads="1"/>
          </p:cNvSpPr>
          <p:nvPr/>
        </p:nvSpPr>
        <p:spPr bwMode="auto">
          <a:xfrm>
            <a:off x="18435545" y="8199045"/>
            <a:ext cx="755650" cy="3721100"/>
          </a:xfrm>
          <a:custGeom>
            <a:avLst/>
            <a:gdLst>
              <a:gd name="T0" fmla="*/ 0 w 238"/>
              <a:gd name="T1" fmla="*/ 2147483646 h 1172"/>
              <a:gd name="T2" fmla="*/ 2147483646 w 238"/>
              <a:gd name="T3" fmla="*/ 2147483646 h 1172"/>
              <a:gd name="T4" fmla="*/ 2147483646 w 238"/>
              <a:gd name="T5" fmla="*/ 0 h 1172"/>
              <a:gd name="T6" fmla="*/ 0 w 238"/>
              <a:gd name="T7" fmla="*/ 2147483646 h 1172"/>
              <a:gd name="T8" fmla="*/ 0 w 238"/>
              <a:gd name="T9" fmla="*/ 2147483646 h 1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8"/>
              <a:gd name="T16" fmla="*/ 0 h 1172"/>
              <a:gd name="T17" fmla="*/ 238 w 238"/>
              <a:gd name="T18" fmla="*/ 1172 h 1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8" h="1172">
                <a:moveTo>
                  <a:pt x="0" y="1172"/>
                </a:moveTo>
                <a:lnTo>
                  <a:pt x="238" y="1081"/>
                </a:lnTo>
                <a:lnTo>
                  <a:pt x="238" y="0"/>
                </a:lnTo>
                <a:lnTo>
                  <a:pt x="0" y="90"/>
                </a:lnTo>
                <a:lnTo>
                  <a:pt x="0" y="1172"/>
                </a:lnTo>
                <a:close/>
              </a:path>
            </a:pathLst>
          </a:custGeom>
          <a:solidFill>
            <a:srgbClr val="D50000"/>
          </a:solidFill>
          <a:ln w="648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26" name="Rectangle 33"/>
          <p:cNvSpPr>
            <a:spLocks noChangeArrowheads="1"/>
          </p:cNvSpPr>
          <p:nvPr/>
        </p:nvSpPr>
        <p:spPr bwMode="auto">
          <a:xfrm>
            <a:off x="13041220" y="10891446"/>
            <a:ext cx="377824" cy="18097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7" name="Rectangle 34"/>
          <p:cNvSpPr>
            <a:spLocks noChangeArrowheads="1"/>
          </p:cNvSpPr>
          <p:nvPr/>
        </p:nvSpPr>
        <p:spPr bwMode="auto">
          <a:xfrm>
            <a:off x="12768170" y="11256569"/>
            <a:ext cx="365124" cy="193676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8" name="Rectangle 35"/>
          <p:cNvSpPr>
            <a:spLocks noChangeArrowheads="1"/>
          </p:cNvSpPr>
          <p:nvPr/>
        </p:nvSpPr>
        <p:spPr bwMode="auto">
          <a:xfrm>
            <a:off x="13326970" y="11256569"/>
            <a:ext cx="365124" cy="193676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9" name="Rectangle 36"/>
          <p:cNvSpPr>
            <a:spLocks noChangeArrowheads="1"/>
          </p:cNvSpPr>
          <p:nvPr/>
        </p:nvSpPr>
        <p:spPr bwMode="auto">
          <a:xfrm>
            <a:off x="13041220" y="11631220"/>
            <a:ext cx="377824" cy="184150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0" name="Rectangle 37"/>
          <p:cNvSpPr>
            <a:spLocks noChangeArrowheads="1"/>
          </p:cNvSpPr>
          <p:nvPr/>
        </p:nvSpPr>
        <p:spPr bwMode="auto">
          <a:xfrm>
            <a:off x="13600020" y="11631220"/>
            <a:ext cx="377824" cy="184150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1" name="Freeform 38"/>
          <p:cNvSpPr>
            <a:spLocks noChangeArrowheads="1"/>
          </p:cNvSpPr>
          <p:nvPr/>
        </p:nvSpPr>
        <p:spPr bwMode="auto">
          <a:xfrm>
            <a:off x="12949144" y="11072420"/>
            <a:ext cx="558800" cy="184150"/>
          </a:xfrm>
          <a:custGeom>
            <a:avLst/>
            <a:gdLst>
              <a:gd name="T0" fmla="*/ 2147483646 w 176"/>
              <a:gd name="T1" fmla="*/ 2147483646 h 58"/>
              <a:gd name="T2" fmla="*/ 2147483646 w 176"/>
              <a:gd name="T3" fmla="*/ 0 h 58"/>
              <a:gd name="T4" fmla="*/ 0 w 176"/>
              <a:gd name="T5" fmla="*/ 2147483646 h 58"/>
              <a:gd name="T6" fmla="*/ 0 60000 65536"/>
              <a:gd name="T7" fmla="*/ 0 60000 65536"/>
              <a:gd name="T8" fmla="*/ 0 60000 65536"/>
              <a:gd name="T9" fmla="*/ 0 w 176"/>
              <a:gd name="T10" fmla="*/ 0 h 58"/>
              <a:gd name="T11" fmla="*/ 176 w 176"/>
              <a:gd name="T12" fmla="*/ 58 h 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58">
                <a:moveTo>
                  <a:pt x="176" y="58"/>
                </a:moveTo>
                <a:lnTo>
                  <a:pt x="86" y="0"/>
                </a:lnTo>
                <a:lnTo>
                  <a:pt x="0" y="58"/>
                </a:lnTo>
              </a:path>
            </a:pathLst>
          </a:custGeom>
          <a:noFill/>
          <a:ln w="126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32" name="Freeform 39"/>
          <p:cNvSpPr>
            <a:spLocks noChangeArrowheads="1"/>
          </p:cNvSpPr>
          <p:nvPr/>
        </p:nvSpPr>
        <p:spPr bwMode="auto">
          <a:xfrm>
            <a:off x="13222194" y="11450246"/>
            <a:ext cx="558800" cy="180974"/>
          </a:xfrm>
          <a:custGeom>
            <a:avLst/>
            <a:gdLst>
              <a:gd name="T0" fmla="*/ 2147483646 w 176"/>
              <a:gd name="T1" fmla="*/ 2147483646 h 57"/>
              <a:gd name="T2" fmla="*/ 2147483646 w 176"/>
              <a:gd name="T3" fmla="*/ 0 h 57"/>
              <a:gd name="T4" fmla="*/ 0 w 176"/>
              <a:gd name="T5" fmla="*/ 2147483646 h 57"/>
              <a:gd name="T6" fmla="*/ 0 60000 65536"/>
              <a:gd name="T7" fmla="*/ 0 60000 65536"/>
              <a:gd name="T8" fmla="*/ 0 60000 65536"/>
              <a:gd name="T9" fmla="*/ 0 w 176"/>
              <a:gd name="T10" fmla="*/ 0 h 57"/>
              <a:gd name="T11" fmla="*/ 176 w 176"/>
              <a:gd name="T12" fmla="*/ 57 h 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57">
                <a:moveTo>
                  <a:pt x="176" y="57"/>
                </a:moveTo>
                <a:lnTo>
                  <a:pt x="90" y="0"/>
                </a:lnTo>
                <a:lnTo>
                  <a:pt x="0" y="57"/>
                </a:lnTo>
              </a:path>
            </a:pathLst>
          </a:custGeom>
          <a:noFill/>
          <a:ln w="126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33" name="Rectangle 40"/>
          <p:cNvSpPr>
            <a:spLocks noChangeArrowheads="1"/>
          </p:cNvSpPr>
          <p:nvPr/>
        </p:nvSpPr>
        <p:spPr bwMode="auto">
          <a:xfrm>
            <a:off x="17267145" y="10891446"/>
            <a:ext cx="377826" cy="18097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4" name="Rectangle 41"/>
          <p:cNvSpPr>
            <a:spLocks noChangeArrowheads="1"/>
          </p:cNvSpPr>
          <p:nvPr/>
        </p:nvSpPr>
        <p:spPr bwMode="auto">
          <a:xfrm>
            <a:off x="16994095" y="11256569"/>
            <a:ext cx="365126" cy="193676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5" name="Rectangle 42"/>
          <p:cNvSpPr>
            <a:spLocks noChangeArrowheads="1"/>
          </p:cNvSpPr>
          <p:nvPr/>
        </p:nvSpPr>
        <p:spPr bwMode="auto">
          <a:xfrm>
            <a:off x="17552895" y="11256569"/>
            <a:ext cx="365126" cy="193676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6" name="Rectangle 43"/>
          <p:cNvSpPr>
            <a:spLocks noChangeArrowheads="1"/>
          </p:cNvSpPr>
          <p:nvPr/>
        </p:nvSpPr>
        <p:spPr bwMode="auto">
          <a:xfrm>
            <a:off x="17267145" y="11631220"/>
            <a:ext cx="377826" cy="184150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7" name="Rectangle 44"/>
          <p:cNvSpPr>
            <a:spLocks noChangeArrowheads="1"/>
          </p:cNvSpPr>
          <p:nvPr/>
        </p:nvSpPr>
        <p:spPr bwMode="auto">
          <a:xfrm>
            <a:off x="17825945" y="11631220"/>
            <a:ext cx="377826" cy="184150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8" name="Freeform 45"/>
          <p:cNvSpPr>
            <a:spLocks noChangeArrowheads="1"/>
          </p:cNvSpPr>
          <p:nvPr/>
        </p:nvSpPr>
        <p:spPr bwMode="auto">
          <a:xfrm>
            <a:off x="17175070" y="11072420"/>
            <a:ext cx="558800" cy="184150"/>
          </a:xfrm>
          <a:custGeom>
            <a:avLst/>
            <a:gdLst>
              <a:gd name="T0" fmla="*/ 2147483646 w 176"/>
              <a:gd name="T1" fmla="*/ 2147483646 h 58"/>
              <a:gd name="T2" fmla="*/ 2147483646 w 176"/>
              <a:gd name="T3" fmla="*/ 0 h 58"/>
              <a:gd name="T4" fmla="*/ 0 w 176"/>
              <a:gd name="T5" fmla="*/ 2147483646 h 58"/>
              <a:gd name="T6" fmla="*/ 0 60000 65536"/>
              <a:gd name="T7" fmla="*/ 0 60000 65536"/>
              <a:gd name="T8" fmla="*/ 0 60000 65536"/>
              <a:gd name="T9" fmla="*/ 0 w 176"/>
              <a:gd name="T10" fmla="*/ 0 h 58"/>
              <a:gd name="T11" fmla="*/ 176 w 176"/>
              <a:gd name="T12" fmla="*/ 58 h 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58">
                <a:moveTo>
                  <a:pt x="176" y="58"/>
                </a:moveTo>
                <a:lnTo>
                  <a:pt x="86" y="0"/>
                </a:lnTo>
                <a:lnTo>
                  <a:pt x="0" y="58"/>
                </a:lnTo>
              </a:path>
            </a:pathLst>
          </a:custGeom>
          <a:noFill/>
          <a:ln w="126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39" name="Freeform 46"/>
          <p:cNvSpPr>
            <a:spLocks noChangeArrowheads="1"/>
          </p:cNvSpPr>
          <p:nvPr/>
        </p:nvSpPr>
        <p:spPr bwMode="auto">
          <a:xfrm>
            <a:off x="17448120" y="11450246"/>
            <a:ext cx="558800" cy="180974"/>
          </a:xfrm>
          <a:custGeom>
            <a:avLst/>
            <a:gdLst>
              <a:gd name="T0" fmla="*/ 2147483646 w 176"/>
              <a:gd name="T1" fmla="*/ 2147483646 h 57"/>
              <a:gd name="T2" fmla="*/ 2147483646 w 176"/>
              <a:gd name="T3" fmla="*/ 0 h 57"/>
              <a:gd name="T4" fmla="*/ 0 w 176"/>
              <a:gd name="T5" fmla="*/ 2147483646 h 57"/>
              <a:gd name="T6" fmla="*/ 0 60000 65536"/>
              <a:gd name="T7" fmla="*/ 0 60000 65536"/>
              <a:gd name="T8" fmla="*/ 0 60000 65536"/>
              <a:gd name="T9" fmla="*/ 0 w 176"/>
              <a:gd name="T10" fmla="*/ 0 h 57"/>
              <a:gd name="T11" fmla="*/ 176 w 176"/>
              <a:gd name="T12" fmla="*/ 57 h 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57">
                <a:moveTo>
                  <a:pt x="176" y="57"/>
                </a:moveTo>
                <a:lnTo>
                  <a:pt x="90" y="0"/>
                </a:lnTo>
                <a:lnTo>
                  <a:pt x="0" y="57"/>
                </a:lnTo>
              </a:path>
            </a:pathLst>
          </a:custGeom>
          <a:noFill/>
          <a:ln w="126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40" name="Line 47"/>
          <p:cNvSpPr>
            <a:spLocks noChangeShapeType="1"/>
          </p:cNvSpPr>
          <p:nvPr/>
        </p:nvSpPr>
        <p:spPr bwMode="auto">
          <a:xfrm>
            <a:off x="14108021" y="11294669"/>
            <a:ext cx="117474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1" name="Line 48"/>
          <p:cNvSpPr>
            <a:spLocks noChangeShapeType="1"/>
          </p:cNvSpPr>
          <p:nvPr/>
        </p:nvSpPr>
        <p:spPr bwMode="auto">
          <a:xfrm>
            <a:off x="14342970" y="11294669"/>
            <a:ext cx="114300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2" name="Line 49"/>
          <p:cNvSpPr>
            <a:spLocks noChangeShapeType="1"/>
          </p:cNvSpPr>
          <p:nvPr/>
        </p:nvSpPr>
        <p:spPr bwMode="auto">
          <a:xfrm>
            <a:off x="14574744" y="11294669"/>
            <a:ext cx="117476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3" name="Line 50"/>
          <p:cNvSpPr>
            <a:spLocks noChangeShapeType="1"/>
          </p:cNvSpPr>
          <p:nvPr/>
        </p:nvSpPr>
        <p:spPr bwMode="auto">
          <a:xfrm>
            <a:off x="14809694" y="11294669"/>
            <a:ext cx="117476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4" name="Line 51"/>
          <p:cNvSpPr>
            <a:spLocks noChangeShapeType="1"/>
          </p:cNvSpPr>
          <p:nvPr/>
        </p:nvSpPr>
        <p:spPr bwMode="auto">
          <a:xfrm>
            <a:off x="15044644" y="11294669"/>
            <a:ext cx="117476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5" name="Line 52"/>
          <p:cNvSpPr>
            <a:spLocks noChangeShapeType="1"/>
          </p:cNvSpPr>
          <p:nvPr/>
        </p:nvSpPr>
        <p:spPr bwMode="auto">
          <a:xfrm>
            <a:off x="15276421" y="11294669"/>
            <a:ext cx="117474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6" name="Line 53"/>
          <p:cNvSpPr>
            <a:spLocks noChangeShapeType="1"/>
          </p:cNvSpPr>
          <p:nvPr/>
        </p:nvSpPr>
        <p:spPr bwMode="auto">
          <a:xfrm>
            <a:off x="15511371" y="11294669"/>
            <a:ext cx="117474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7" name="Line 54"/>
          <p:cNvSpPr>
            <a:spLocks noChangeShapeType="1"/>
          </p:cNvSpPr>
          <p:nvPr/>
        </p:nvSpPr>
        <p:spPr bwMode="auto">
          <a:xfrm>
            <a:off x="15746321" y="11294669"/>
            <a:ext cx="117474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8" name="Line 55"/>
          <p:cNvSpPr>
            <a:spLocks noChangeShapeType="1"/>
          </p:cNvSpPr>
          <p:nvPr/>
        </p:nvSpPr>
        <p:spPr bwMode="auto">
          <a:xfrm>
            <a:off x="15981270" y="11294669"/>
            <a:ext cx="114300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9" name="Line 56"/>
          <p:cNvSpPr>
            <a:spLocks noChangeShapeType="1"/>
          </p:cNvSpPr>
          <p:nvPr/>
        </p:nvSpPr>
        <p:spPr bwMode="auto">
          <a:xfrm>
            <a:off x="16213044" y="11294669"/>
            <a:ext cx="117476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50" name="Line 57"/>
          <p:cNvSpPr>
            <a:spLocks noChangeShapeType="1"/>
          </p:cNvSpPr>
          <p:nvPr/>
        </p:nvSpPr>
        <p:spPr bwMode="auto">
          <a:xfrm>
            <a:off x="16447994" y="11294669"/>
            <a:ext cx="117476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pic>
        <p:nvPicPr>
          <p:cNvPr id="33851" name="Picture 5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76094" y="8719745"/>
            <a:ext cx="5638800" cy="2006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33852" name="Line 59"/>
          <p:cNvSpPr>
            <a:spLocks noChangeShapeType="1"/>
          </p:cNvSpPr>
          <p:nvPr/>
        </p:nvSpPr>
        <p:spPr bwMode="auto">
          <a:xfrm>
            <a:off x="18435544" y="11555019"/>
            <a:ext cx="1587500" cy="3176"/>
          </a:xfrm>
          <a:prstGeom prst="line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53" name="Freeform 60"/>
          <p:cNvSpPr>
            <a:spLocks noChangeArrowheads="1"/>
          </p:cNvSpPr>
          <p:nvPr/>
        </p:nvSpPr>
        <p:spPr bwMode="auto">
          <a:xfrm>
            <a:off x="19997645" y="11450246"/>
            <a:ext cx="311150" cy="209550"/>
          </a:xfrm>
          <a:custGeom>
            <a:avLst/>
            <a:gdLst>
              <a:gd name="T0" fmla="*/ 0 w 98"/>
              <a:gd name="T1" fmla="*/ 0 h 66"/>
              <a:gd name="T2" fmla="*/ 2147483646 w 98"/>
              <a:gd name="T3" fmla="*/ 2147483646 h 66"/>
              <a:gd name="T4" fmla="*/ 0 w 98"/>
              <a:gd name="T5" fmla="*/ 2147483646 h 66"/>
              <a:gd name="T6" fmla="*/ 0 w 98"/>
              <a:gd name="T7" fmla="*/ 0 h 66"/>
              <a:gd name="T8" fmla="*/ 0 60000 65536"/>
              <a:gd name="T9" fmla="*/ 0 60000 65536"/>
              <a:gd name="T10" fmla="*/ 0 60000 65536"/>
              <a:gd name="T11" fmla="*/ 0 60000 65536"/>
              <a:gd name="T12" fmla="*/ 0 w 98"/>
              <a:gd name="T13" fmla="*/ 0 h 66"/>
              <a:gd name="T14" fmla="*/ 98 w 98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8" h="66">
                <a:moveTo>
                  <a:pt x="0" y="0"/>
                </a:moveTo>
                <a:lnTo>
                  <a:pt x="98" y="33"/>
                </a:lnTo>
                <a:lnTo>
                  <a:pt x="0" y="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89" name="Rectangle 49"/>
          <p:cNvSpPr>
            <a:spLocks noChangeArrowheads="1"/>
          </p:cNvSpPr>
          <p:nvPr/>
        </p:nvSpPr>
        <p:spPr bwMode="auto">
          <a:xfrm>
            <a:off x="21281310" y="5646343"/>
            <a:ext cx="193482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825626"/>
            <a:r>
              <a:rPr lang="en-US" sz="3600"/>
              <a:t>Databases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90" name="Freeform 58"/>
          <p:cNvSpPr>
            <a:spLocks/>
          </p:cNvSpPr>
          <p:nvPr/>
        </p:nvSpPr>
        <p:spPr bwMode="auto">
          <a:xfrm>
            <a:off x="17194120" y="6128944"/>
            <a:ext cx="2057400" cy="1838326"/>
          </a:xfrm>
          <a:custGeom>
            <a:avLst/>
            <a:gdLst/>
            <a:ahLst/>
            <a:cxnLst>
              <a:cxn ang="0">
                <a:pos x="0" y="597"/>
              </a:cxn>
              <a:cxn ang="0">
                <a:pos x="33" y="498"/>
              </a:cxn>
              <a:cxn ang="0">
                <a:pos x="83" y="400"/>
              </a:cxn>
              <a:cxn ang="0">
                <a:pos x="156" y="313"/>
              </a:cxn>
              <a:cxn ang="0">
                <a:pos x="239" y="232"/>
              </a:cxn>
              <a:cxn ang="0">
                <a:pos x="339" y="156"/>
              </a:cxn>
              <a:cxn ang="0">
                <a:pos x="455" y="98"/>
              </a:cxn>
              <a:cxn ang="0">
                <a:pos x="577" y="52"/>
              </a:cxn>
              <a:cxn ang="0">
                <a:pos x="711" y="17"/>
              </a:cxn>
              <a:cxn ang="0">
                <a:pos x="844" y="0"/>
              </a:cxn>
            </a:cxnLst>
            <a:rect l="0" t="0" r="r" b="b"/>
            <a:pathLst>
              <a:path w="844" h="597">
                <a:moveTo>
                  <a:pt x="0" y="597"/>
                </a:moveTo>
                <a:lnTo>
                  <a:pt x="33" y="498"/>
                </a:lnTo>
                <a:lnTo>
                  <a:pt x="83" y="400"/>
                </a:lnTo>
                <a:lnTo>
                  <a:pt x="156" y="313"/>
                </a:lnTo>
                <a:lnTo>
                  <a:pt x="239" y="232"/>
                </a:lnTo>
                <a:lnTo>
                  <a:pt x="339" y="156"/>
                </a:lnTo>
                <a:lnTo>
                  <a:pt x="455" y="98"/>
                </a:lnTo>
                <a:lnTo>
                  <a:pt x="577" y="52"/>
                </a:lnTo>
                <a:lnTo>
                  <a:pt x="711" y="17"/>
                </a:lnTo>
                <a:lnTo>
                  <a:pt x="844" y="0"/>
                </a:lnTo>
              </a:path>
            </a:pathLst>
          </a:custGeom>
          <a:noFill/>
          <a:ln w="34925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0000"/>
          </a:p>
        </p:txBody>
      </p:sp>
      <p:sp>
        <p:nvSpPr>
          <p:cNvPr id="91" name="Freeform 59"/>
          <p:cNvSpPr>
            <a:spLocks/>
          </p:cNvSpPr>
          <p:nvPr/>
        </p:nvSpPr>
        <p:spPr bwMode="auto">
          <a:xfrm>
            <a:off x="17016321" y="7935519"/>
            <a:ext cx="282574" cy="457200"/>
          </a:xfrm>
          <a:custGeom>
            <a:avLst/>
            <a:gdLst/>
            <a:ahLst/>
            <a:cxnLst>
              <a:cxn ang="0">
                <a:pos x="89" y="11"/>
              </a:cxn>
              <a:cxn ang="0">
                <a:pos x="27" y="144"/>
              </a:cxn>
              <a:cxn ang="0">
                <a:pos x="0" y="0"/>
              </a:cxn>
              <a:cxn ang="0">
                <a:pos x="89" y="11"/>
              </a:cxn>
            </a:cxnLst>
            <a:rect l="0" t="0" r="r" b="b"/>
            <a:pathLst>
              <a:path w="89" h="144">
                <a:moveTo>
                  <a:pt x="89" y="11"/>
                </a:moveTo>
                <a:lnTo>
                  <a:pt x="27" y="144"/>
                </a:lnTo>
                <a:lnTo>
                  <a:pt x="0" y="0"/>
                </a:lnTo>
                <a:lnTo>
                  <a:pt x="89" y="1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92" name="AutoShape 60"/>
          <p:cNvSpPr>
            <a:spLocks noChangeArrowheads="1"/>
          </p:cNvSpPr>
          <p:nvPr/>
        </p:nvSpPr>
        <p:spPr bwMode="auto">
          <a:xfrm>
            <a:off x="19553144" y="5420919"/>
            <a:ext cx="1460500" cy="1152524"/>
          </a:xfrm>
          <a:prstGeom prst="can">
            <a:avLst>
              <a:gd name="adj" fmla="val 25000"/>
            </a:avLst>
          </a:prstGeom>
          <a:solidFill>
            <a:srgbClr val="33CCCC"/>
          </a:solidFill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93" name="Freeform 61"/>
          <p:cNvSpPr>
            <a:spLocks/>
          </p:cNvSpPr>
          <p:nvPr/>
        </p:nvSpPr>
        <p:spPr bwMode="auto">
          <a:xfrm flipH="1">
            <a:off x="14768421" y="6208319"/>
            <a:ext cx="2089150" cy="2120900"/>
          </a:xfrm>
          <a:custGeom>
            <a:avLst/>
            <a:gdLst/>
            <a:ahLst/>
            <a:cxnLst>
              <a:cxn ang="0">
                <a:pos x="0" y="597"/>
              </a:cxn>
              <a:cxn ang="0">
                <a:pos x="33" y="498"/>
              </a:cxn>
              <a:cxn ang="0">
                <a:pos x="83" y="400"/>
              </a:cxn>
              <a:cxn ang="0">
                <a:pos x="156" y="313"/>
              </a:cxn>
              <a:cxn ang="0">
                <a:pos x="239" y="232"/>
              </a:cxn>
              <a:cxn ang="0">
                <a:pos x="339" y="156"/>
              </a:cxn>
              <a:cxn ang="0">
                <a:pos x="455" y="98"/>
              </a:cxn>
              <a:cxn ang="0">
                <a:pos x="577" y="52"/>
              </a:cxn>
              <a:cxn ang="0">
                <a:pos x="711" y="17"/>
              </a:cxn>
              <a:cxn ang="0">
                <a:pos x="844" y="0"/>
              </a:cxn>
            </a:cxnLst>
            <a:rect l="0" t="0" r="r" b="b"/>
            <a:pathLst>
              <a:path w="844" h="597">
                <a:moveTo>
                  <a:pt x="0" y="597"/>
                </a:moveTo>
                <a:lnTo>
                  <a:pt x="33" y="498"/>
                </a:lnTo>
                <a:lnTo>
                  <a:pt x="83" y="400"/>
                </a:lnTo>
                <a:lnTo>
                  <a:pt x="156" y="313"/>
                </a:lnTo>
                <a:lnTo>
                  <a:pt x="239" y="232"/>
                </a:lnTo>
                <a:lnTo>
                  <a:pt x="339" y="156"/>
                </a:lnTo>
                <a:lnTo>
                  <a:pt x="455" y="98"/>
                </a:lnTo>
                <a:lnTo>
                  <a:pt x="577" y="52"/>
                </a:lnTo>
                <a:lnTo>
                  <a:pt x="711" y="17"/>
                </a:lnTo>
                <a:lnTo>
                  <a:pt x="844" y="0"/>
                </a:lnTo>
              </a:path>
            </a:pathLst>
          </a:custGeom>
          <a:noFill/>
          <a:ln w="349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94" name="Freeform 62"/>
          <p:cNvSpPr>
            <a:spLocks/>
          </p:cNvSpPr>
          <p:nvPr/>
        </p:nvSpPr>
        <p:spPr bwMode="auto">
          <a:xfrm rot="5626722">
            <a:off x="16522607" y="7962507"/>
            <a:ext cx="463550" cy="269876"/>
          </a:xfrm>
          <a:custGeom>
            <a:avLst/>
            <a:gdLst/>
            <a:ahLst/>
            <a:cxnLst>
              <a:cxn ang="0">
                <a:pos x="89" y="11"/>
              </a:cxn>
              <a:cxn ang="0">
                <a:pos x="27" y="144"/>
              </a:cxn>
              <a:cxn ang="0">
                <a:pos x="0" y="0"/>
              </a:cxn>
              <a:cxn ang="0">
                <a:pos x="89" y="11"/>
              </a:cxn>
            </a:cxnLst>
            <a:rect l="0" t="0" r="r" b="b"/>
            <a:pathLst>
              <a:path w="89" h="144">
                <a:moveTo>
                  <a:pt x="89" y="11"/>
                </a:moveTo>
                <a:lnTo>
                  <a:pt x="27" y="144"/>
                </a:lnTo>
                <a:lnTo>
                  <a:pt x="0" y="0"/>
                </a:lnTo>
                <a:lnTo>
                  <a:pt x="89" y="1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grpSp>
        <p:nvGrpSpPr>
          <p:cNvPr id="95" name="Group 63"/>
          <p:cNvGrpSpPr>
            <a:grpSpLocks/>
          </p:cNvGrpSpPr>
          <p:nvPr/>
        </p:nvGrpSpPr>
        <p:grpSpPr bwMode="auto">
          <a:xfrm>
            <a:off x="13669870" y="5452669"/>
            <a:ext cx="1673224" cy="977900"/>
            <a:chOff x="4032" y="1680"/>
            <a:chExt cx="1248" cy="912"/>
          </a:xfrm>
        </p:grpSpPr>
        <p:sp>
          <p:nvSpPr>
            <p:cNvPr id="96" name="Freeform 64"/>
            <p:cNvSpPr>
              <a:spLocks noChangeArrowheads="1"/>
            </p:cNvSpPr>
            <p:nvPr/>
          </p:nvSpPr>
          <p:spPr bwMode="auto">
            <a:xfrm>
              <a:off x="4032" y="1730"/>
              <a:ext cx="1248" cy="580"/>
            </a:xfrm>
            <a:custGeom>
              <a:avLst/>
              <a:gdLst/>
              <a:ahLst/>
              <a:cxnLst>
                <a:cxn ang="0">
                  <a:pos x="1575" y="219"/>
                </a:cxn>
                <a:cxn ang="0">
                  <a:pos x="0" y="435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</a:cxnLst>
              <a:rect l="0" t="0" r="r" b="b"/>
              <a:pathLst>
                <a:path w="1575" h="732">
                  <a:moveTo>
                    <a:pt x="1137" y="0"/>
                  </a:moveTo>
                  <a:lnTo>
                    <a:pt x="1575" y="219"/>
                  </a:lnTo>
                  <a:lnTo>
                    <a:pt x="458" y="732"/>
                  </a:lnTo>
                  <a:lnTo>
                    <a:pt x="0" y="435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97" name="Freeform 65"/>
            <p:cNvSpPr>
              <a:spLocks noChangeArrowheads="1"/>
            </p:cNvSpPr>
            <p:nvPr/>
          </p:nvSpPr>
          <p:spPr bwMode="auto">
            <a:xfrm>
              <a:off x="4290" y="1730"/>
              <a:ext cx="960" cy="580"/>
            </a:xfrm>
            <a:custGeom>
              <a:avLst/>
              <a:gdLst/>
              <a:ahLst/>
              <a:cxnLst>
                <a:cxn ang="0">
                  <a:pos x="811" y="291"/>
                </a:cxn>
                <a:cxn ang="0">
                  <a:pos x="0" y="653"/>
                </a:cxn>
                <a:cxn ang="0">
                  <a:pos x="125" y="732"/>
                </a:cxn>
                <a:cxn ang="0">
                  <a:pos x="1211" y="233"/>
                </a:cxn>
                <a:cxn ang="0">
                  <a:pos x="811" y="0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</a:cxnLst>
              <a:rect l="0" t="0" r="r" b="b"/>
              <a:pathLst>
                <a:path w="1211" h="732">
                  <a:moveTo>
                    <a:pt x="811" y="291"/>
                  </a:moveTo>
                  <a:lnTo>
                    <a:pt x="0" y="653"/>
                  </a:lnTo>
                  <a:lnTo>
                    <a:pt x="125" y="732"/>
                  </a:lnTo>
                  <a:lnTo>
                    <a:pt x="1211" y="233"/>
                  </a:lnTo>
                  <a:lnTo>
                    <a:pt x="811" y="0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close/>
                </a:path>
              </a:pathLst>
            </a:custGeom>
            <a:solidFill>
              <a:srgbClr val="7FA25F"/>
            </a:solidFill>
            <a:ln w="15875">
              <a:solidFill>
                <a:srgbClr val="7FA25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98" name="Freeform 66"/>
            <p:cNvSpPr>
              <a:spLocks noChangeArrowheads="1"/>
            </p:cNvSpPr>
            <p:nvPr/>
          </p:nvSpPr>
          <p:spPr bwMode="auto">
            <a:xfrm>
              <a:off x="4032" y="1730"/>
              <a:ext cx="902" cy="633"/>
            </a:xfrm>
            <a:custGeom>
              <a:avLst/>
              <a:gdLst/>
              <a:ahLst/>
              <a:cxnLst>
                <a:cxn ang="0">
                  <a:pos x="1137" y="291"/>
                </a:cxn>
                <a:cxn ang="0">
                  <a:pos x="1137" y="0"/>
                </a:cxn>
                <a:cxn ang="0">
                  <a:pos x="3" y="432"/>
                </a:cxn>
                <a:cxn ang="0">
                  <a:pos x="0" y="794"/>
                </a:cxn>
                <a:cxn ang="0">
                  <a:pos x="3" y="799"/>
                </a:cxn>
                <a:cxn ang="0">
                  <a:pos x="3" y="799"/>
                </a:cxn>
                <a:cxn ang="0">
                  <a:pos x="1137" y="291"/>
                </a:cxn>
                <a:cxn ang="0">
                  <a:pos x="3" y="799"/>
                </a:cxn>
                <a:cxn ang="0">
                  <a:pos x="1137" y="291"/>
                </a:cxn>
                <a:cxn ang="0">
                  <a:pos x="3" y="799"/>
                </a:cxn>
              </a:cxnLst>
              <a:rect l="0" t="0" r="r" b="b"/>
              <a:pathLst>
                <a:path w="1137" h="799">
                  <a:moveTo>
                    <a:pt x="1137" y="291"/>
                  </a:moveTo>
                  <a:lnTo>
                    <a:pt x="1137" y="0"/>
                  </a:lnTo>
                  <a:lnTo>
                    <a:pt x="3" y="432"/>
                  </a:lnTo>
                  <a:lnTo>
                    <a:pt x="0" y="794"/>
                  </a:lnTo>
                  <a:lnTo>
                    <a:pt x="3" y="799"/>
                  </a:lnTo>
                  <a:lnTo>
                    <a:pt x="3" y="799"/>
                  </a:lnTo>
                  <a:lnTo>
                    <a:pt x="1137" y="291"/>
                  </a:lnTo>
                  <a:lnTo>
                    <a:pt x="3" y="799"/>
                  </a:lnTo>
                  <a:lnTo>
                    <a:pt x="1137" y="291"/>
                  </a:lnTo>
                  <a:lnTo>
                    <a:pt x="3" y="799"/>
                  </a:lnTo>
                  <a:close/>
                </a:path>
              </a:pathLst>
            </a:custGeom>
            <a:solidFill>
              <a:srgbClr val="0080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99" name="Freeform 67"/>
            <p:cNvSpPr>
              <a:spLocks noChangeArrowheads="1"/>
            </p:cNvSpPr>
            <p:nvPr/>
          </p:nvSpPr>
          <p:spPr bwMode="auto">
            <a:xfrm>
              <a:off x="4934" y="1728"/>
              <a:ext cx="345" cy="290"/>
            </a:xfrm>
            <a:custGeom>
              <a:avLst/>
              <a:gdLst/>
              <a:ahLst/>
              <a:cxnLst>
                <a:cxn ang="0">
                  <a:pos x="107" y="365"/>
                </a:cxn>
                <a:cxn ang="0">
                  <a:pos x="435" y="221"/>
                </a:cxn>
                <a:cxn ang="0">
                  <a:pos x="0" y="0"/>
                </a:cxn>
                <a:cxn ang="0">
                  <a:pos x="0" y="293"/>
                </a:cxn>
                <a:cxn ang="0">
                  <a:pos x="0" y="293"/>
                </a:cxn>
                <a:cxn ang="0">
                  <a:pos x="107" y="365"/>
                </a:cxn>
                <a:cxn ang="0">
                  <a:pos x="0" y="293"/>
                </a:cxn>
                <a:cxn ang="0">
                  <a:pos x="107" y="365"/>
                </a:cxn>
                <a:cxn ang="0">
                  <a:pos x="0" y="293"/>
                </a:cxn>
              </a:cxnLst>
              <a:rect l="0" t="0" r="r" b="b"/>
              <a:pathLst>
                <a:path w="435" h="365">
                  <a:moveTo>
                    <a:pt x="107" y="365"/>
                  </a:moveTo>
                  <a:lnTo>
                    <a:pt x="435" y="221"/>
                  </a:lnTo>
                  <a:lnTo>
                    <a:pt x="0" y="0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107" y="365"/>
                  </a:lnTo>
                  <a:lnTo>
                    <a:pt x="0" y="293"/>
                  </a:lnTo>
                  <a:lnTo>
                    <a:pt x="107" y="365"/>
                  </a:lnTo>
                  <a:lnTo>
                    <a:pt x="0" y="293"/>
                  </a:lnTo>
                  <a:close/>
                </a:path>
              </a:pathLst>
            </a:custGeom>
            <a:solidFill>
              <a:srgbClr val="0080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0" name="Freeform 68"/>
            <p:cNvSpPr>
              <a:spLocks noChangeArrowheads="1"/>
            </p:cNvSpPr>
            <p:nvPr/>
          </p:nvSpPr>
          <p:spPr bwMode="auto">
            <a:xfrm>
              <a:off x="4704" y="1680"/>
              <a:ext cx="361" cy="446"/>
            </a:xfrm>
            <a:custGeom>
              <a:avLst/>
              <a:gdLst/>
              <a:ahLst/>
              <a:cxnLst>
                <a:cxn ang="0">
                  <a:pos x="455" y="564"/>
                </a:cxn>
                <a:cxn ang="0">
                  <a:pos x="455" y="274"/>
                </a:cxn>
                <a:cxn ang="0">
                  <a:pos x="0" y="0"/>
                </a:cxn>
                <a:cxn ang="0">
                  <a:pos x="0" y="362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</a:cxnLst>
              <a:rect l="0" t="0" r="r" b="b"/>
              <a:pathLst>
                <a:path w="455" h="564">
                  <a:moveTo>
                    <a:pt x="455" y="564"/>
                  </a:moveTo>
                  <a:lnTo>
                    <a:pt x="455" y="274"/>
                  </a:lnTo>
                  <a:lnTo>
                    <a:pt x="0" y="0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FF0000"/>
            </a:solidFill>
            <a:ln w="158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1" name="Freeform 69"/>
            <p:cNvSpPr>
              <a:spLocks noChangeArrowheads="1"/>
            </p:cNvSpPr>
            <p:nvPr/>
          </p:nvSpPr>
          <p:spPr bwMode="auto">
            <a:xfrm>
              <a:off x="4608" y="1728"/>
              <a:ext cx="361" cy="446"/>
            </a:xfrm>
            <a:custGeom>
              <a:avLst/>
              <a:gdLst/>
              <a:ahLst/>
              <a:cxnLst>
                <a:cxn ang="0">
                  <a:pos x="455" y="564"/>
                </a:cxn>
                <a:cxn ang="0">
                  <a:pos x="455" y="274"/>
                </a:cxn>
                <a:cxn ang="0">
                  <a:pos x="0" y="0"/>
                </a:cxn>
                <a:cxn ang="0">
                  <a:pos x="0" y="362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</a:cxnLst>
              <a:rect l="0" t="0" r="r" b="b"/>
              <a:pathLst>
                <a:path w="455" h="564">
                  <a:moveTo>
                    <a:pt x="455" y="564"/>
                  </a:moveTo>
                  <a:lnTo>
                    <a:pt x="455" y="274"/>
                  </a:lnTo>
                  <a:lnTo>
                    <a:pt x="0" y="0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99CC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2" name="Freeform 70"/>
            <p:cNvSpPr>
              <a:spLocks noChangeArrowheads="1"/>
            </p:cNvSpPr>
            <p:nvPr/>
          </p:nvSpPr>
          <p:spPr bwMode="auto">
            <a:xfrm>
              <a:off x="4512" y="1783"/>
              <a:ext cx="361" cy="446"/>
            </a:xfrm>
            <a:custGeom>
              <a:avLst/>
              <a:gdLst/>
              <a:ahLst/>
              <a:cxnLst>
                <a:cxn ang="0">
                  <a:pos x="455" y="564"/>
                </a:cxn>
                <a:cxn ang="0">
                  <a:pos x="455" y="274"/>
                </a:cxn>
                <a:cxn ang="0">
                  <a:pos x="0" y="0"/>
                </a:cxn>
                <a:cxn ang="0">
                  <a:pos x="0" y="362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</a:cxnLst>
              <a:rect l="0" t="0" r="r" b="b"/>
              <a:pathLst>
                <a:path w="455" h="564">
                  <a:moveTo>
                    <a:pt x="455" y="564"/>
                  </a:moveTo>
                  <a:lnTo>
                    <a:pt x="455" y="274"/>
                  </a:lnTo>
                  <a:lnTo>
                    <a:pt x="0" y="0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FF00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3" name="Freeform 71"/>
            <p:cNvSpPr>
              <a:spLocks noChangeArrowheads="1"/>
            </p:cNvSpPr>
            <p:nvPr/>
          </p:nvSpPr>
          <p:spPr bwMode="auto">
            <a:xfrm>
              <a:off x="4439" y="1824"/>
              <a:ext cx="361" cy="446"/>
            </a:xfrm>
            <a:custGeom>
              <a:avLst/>
              <a:gdLst/>
              <a:ahLst/>
              <a:cxnLst>
                <a:cxn ang="0">
                  <a:pos x="455" y="564"/>
                </a:cxn>
                <a:cxn ang="0">
                  <a:pos x="455" y="274"/>
                </a:cxn>
                <a:cxn ang="0">
                  <a:pos x="0" y="0"/>
                </a:cxn>
                <a:cxn ang="0">
                  <a:pos x="0" y="362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</a:cxnLst>
              <a:rect l="0" t="0" r="r" b="b"/>
              <a:pathLst>
                <a:path w="455" h="564">
                  <a:moveTo>
                    <a:pt x="455" y="564"/>
                  </a:moveTo>
                  <a:lnTo>
                    <a:pt x="455" y="274"/>
                  </a:lnTo>
                  <a:lnTo>
                    <a:pt x="0" y="0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4C4CD2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4" name="Freeform 72"/>
            <p:cNvSpPr>
              <a:spLocks noChangeArrowheads="1"/>
            </p:cNvSpPr>
            <p:nvPr/>
          </p:nvSpPr>
          <p:spPr bwMode="auto">
            <a:xfrm>
              <a:off x="4320" y="1857"/>
              <a:ext cx="361" cy="447"/>
            </a:xfrm>
            <a:custGeom>
              <a:avLst/>
              <a:gdLst/>
              <a:ahLst/>
              <a:cxnLst>
                <a:cxn ang="0">
                  <a:pos x="455" y="565"/>
                </a:cxn>
                <a:cxn ang="0">
                  <a:pos x="455" y="276"/>
                </a:cxn>
                <a:cxn ang="0">
                  <a:pos x="0" y="0"/>
                </a:cxn>
                <a:cxn ang="0">
                  <a:pos x="0" y="364"/>
                </a:cxn>
                <a:cxn ang="0">
                  <a:pos x="0" y="364"/>
                </a:cxn>
                <a:cxn ang="0">
                  <a:pos x="455" y="565"/>
                </a:cxn>
                <a:cxn ang="0">
                  <a:pos x="0" y="364"/>
                </a:cxn>
                <a:cxn ang="0">
                  <a:pos x="455" y="565"/>
                </a:cxn>
                <a:cxn ang="0">
                  <a:pos x="0" y="364"/>
                </a:cxn>
                <a:cxn ang="0">
                  <a:pos x="455" y="565"/>
                </a:cxn>
                <a:cxn ang="0">
                  <a:pos x="0" y="364"/>
                </a:cxn>
                <a:cxn ang="0">
                  <a:pos x="455" y="565"/>
                </a:cxn>
                <a:cxn ang="0">
                  <a:pos x="0" y="364"/>
                </a:cxn>
              </a:cxnLst>
              <a:rect l="0" t="0" r="r" b="b"/>
              <a:pathLst>
                <a:path w="455" h="565">
                  <a:moveTo>
                    <a:pt x="455" y="565"/>
                  </a:moveTo>
                  <a:lnTo>
                    <a:pt x="455" y="276"/>
                  </a:lnTo>
                  <a:lnTo>
                    <a:pt x="0" y="0"/>
                  </a:lnTo>
                  <a:lnTo>
                    <a:pt x="0" y="364"/>
                  </a:lnTo>
                  <a:lnTo>
                    <a:pt x="0" y="364"/>
                  </a:lnTo>
                  <a:lnTo>
                    <a:pt x="455" y="565"/>
                  </a:lnTo>
                  <a:lnTo>
                    <a:pt x="0" y="364"/>
                  </a:lnTo>
                  <a:lnTo>
                    <a:pt x="455" y="565"/>
                  </a:lnTo>
                  <a:lnTo>
                    <a:pt x="0" y="364"/>
                  </a:lnTo>
                  <a:lnTo>
                    <a:pt x="455" y="565"/>
                  </a:lnTo>
                  <a:lnTo>
                    <a:pt x="0" y="364"/>
                  </a:lnTo>
                  <a:lnTo>
                    <a:pt x="455" y="565"/>
                  </a:lnTo>
                  <a:lnTo>
                    <a:pt x="0" y="364"/>
                  </a:lnTo>
                  <a:close/>
                </a:path>
              </a:pathLst>
            </a:custGeom>
            <a:solidFill>
              <a:srgbClr val="969696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5" name="Freeform 73"/>
            <p:cNvSpPr>
              <a:spLocks noChangeArrowheads="1"/>
            </p:cNvSpPr>
            <p:nvPr/>
          </p:nvSpPr>
          <p:spPr bwMode="auto">
            <a:xfrm>
              <a:off x="4246" y="1906"/>
              <a:ext cx="362" cy="448"/>
            </a:xfrm>
            <a:custGeom>
              <a:avLst/>
              <a:gdLst/>
              <a:ahLst/>
              <a:cxnLst>
                <a:cxn ang="0">
                  <a:pos x="456" y="565"/>
                </a:cxn>
                <a:cxn ang="0">
                  <a:pos x="456" y="274"/>
                </a:cxn>
                <a:cxn ang="0">
                  <a:pos x="0" y="0"/>
                </a:cxn>
                <a:cxn ang="0">
                  <a:pos x="0" y="363"/>
                </a:cxn>
                <a:cxn ang="0">
                  <a:pos x="0" y="363"/>
                </a:cxn>
                <a:cxn ang="0">
                  <a:pos x="456" y="565"/>
                </a:cxn>
                <a:cxn ang="0">
                  <a:pos x="0" y="363"/>
                </a:cxn>
                <a:cxn ang="0">
                  <a:pos x="456" y="565"/>
                </a:cxn>
                <a:cxn ang="0">
                  <a:pos x="0" y="363"/>
                </a:cxn>
                <a:cxn ang="0">
                  <a:pos x="456" y="565"/>
                </a:cxn>
                <a:cxn ang="0">
                  <a:pos x="0" y="363"/>
                </a:cxn>
                <a:cxn ang="0">
                  <a:pos x="456" y="565"/>
                </a:cxn>
                <a:cxn ang="0">
                  <a:pos x="0" y="363"/>
                </a:cxn>
              </a:cxnLst>
              <a:rect l="0" t="0" r="r" b="b"/>
              <a:pathLst>
                <a:path w="456" h="565">
                  <a:moveTo>
                    <a:pt x="456" y="565"/>
                  </a:moveTo>
                  <a:lnTo>
                    <a:pt x="456" y="274"/>
                  </a:lnTo>
                  <a:lnTo>
                    <a:pt x="0" y="0"/>
                  </a:lnTo>
                  <a:lnTo>
                    <a:pt x="0" y="363"/>
                  </a:lnTo>
                  <a:lnTo>
                    <a:pt x="0" y="363"/>
                  </a:lnTo>
                  <a:lnTo>
                    <a:pt x="456" y="565"/>
                  </a:lnTo>
                  <a:lnTo>
                    <a:pt x="0" y="363"/>
                  </a:lnTo>
                  <a:lnTo>
                    <a:pt x="456" y="565"/>
                  </a:lnTo>
                  <a:lnTo>
                    <a:pt x="0" y="363"/>
                  </a:lnTo>
                  <a:lnTo>
                    <a:pt x="456" y="565"/>
                  </a:lnTo>
                  <a:lnTo>
                    <a:pt x="0" y="363"/>
                  </a:lnTo>
                  <a:lnTo>
                    <a:pt x="456" y="565"/>
                  </a:lnTo>
                  <a:lnTo>
                    <a:pt x="0" y="363"/>
                  </a:ln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6" name="Freeform 74"/>
            <p:cNvSpPr>
              <a:spLocks noChangeArrowheads="1"/>
            </p:cNvSpPr>
            <p:nvPr/>
          </p:nvSpPr>
          <p:spPr bwMode="auto">
            <a:xfrm>
              <a:off x="4156" y="1942"/>
              <a:ext cx="353" cy="458"/>
            </a:xfrm>
            <a:custGeom>
              <a:avLst/>
              <a:gdLst/>
              <a:ahLst/>
              <a:cxnLst>
                <a:cxn ang="0">
                  <a:pos x="442" y="577"/>
                </a:cxn>
                <a:cxn ang="0">
                  <a:pos x="445" y="272"/>
                </a:cxn>
                <a:cxn ang="0">
                  <a:pos x="3" y="0"/>
                </a:cxn>
                <a:cxn ang="0">
                  <a:pos x="0" y="34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</a:cxnLst>
              <a:rect l="0" t="0" r="r" b="b"/>
              <a:pathLst>
                <a:path w="445" h="577">
                  <a:moveTo>
                    <a:pt x="442" y="577"/>
                  </a:moveTo>
                  <a:lnTo>
                    <a:pt x="445" y="272"/>
                  </a:lnTo>
                  <a:lnTo>
                    <a:pt x="3" y="0"/>
                  </a:lnTo>
                  <a:lnTo>
                    <a:pt x="0" y="34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close/>
                </a:path>
              </a:pathLst>
            </a:custGeom>
            <a:solidFill>
              <a:srgbClr val="FFFF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7" name="Freeform 75"/>
            <p:cNvSpPr>
              <a:spLocks noChangeArrowheads="1"/>
            </p:cNvSpPr>
            <p:nvPr/>
          </p:nvSpPr>
          <p:spPr bwMode="auto">
            <a:xfrm>
              <a:off x="4045" y="1995"/>
              <a:ext cx="358" cy="489"/>
            </a:xfrm>
            <a:custGeom>
              <a:avLst/>
              <a:gdLst/>
              <a:ahLst/>
              <a:cxnLst>
                <a:cxn ang="0">
                  <a:pos x="452" y="617"/>
                </a:cxn>
                <a:cxn ang="0">
                  <a:pos x="452" y="284"/>
                </a:cxn>
                <a:cxn ang="0">
                  <a:pos x="0" y="0"/>
                </a:cxn>
                <a:cxn ang="0">
                  <a:pos x="2" y="386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</a:cxnLst>
              <a:rect l="0" t="0" r="r" b="b"/>
              <a:pathLst>
                <a:path w="452" h="617">
                  <a:moveTo>
                    <a:pt x="452" y="617"/>
                  </a:moveTo>
                  <a:lnTo>
                    <a:pt x="452" y="284"/>
                  </a:lnTo>
                  <a:lnTo>
                    <a:pt x="0" y="0"/>
                  </a:lnTo>
                  <a:lnTo>
                    <a:pt x="2" y="386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close/>
                </a:path>
              </a:pathLst>
            </a:custGeom>
            <a:solidFill>
              <a:srgbClr val="0000FF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8" name="Freeform 76"/>
            <p:cNvSpPr>
              <a:spLocks noChangeArrowheads="1"/>
            </p:cNvSpPr>
            <p:nvPr/>
          </p:nvSpPr>
          <p:spPr bwMode="auto">
            <a:xfrm>
              <a:off x="4035" y="2082"/>
              <a:ext cx="360" cy="510"/>
            </a:xfrm>
            <a:custGeom>
              <a:avLst/>
              <a:gdLst/>
              <a:ahLst/>
              <a:cxnLst>
                <a:cxn ang="0">
                  <a:pos x="0" y="350"/>
                </a:cxn>
                <a:cxn ang="0">
                  <a:pos x="455" y="644"/>
                </a:cxn>
                <a:cxn ang="0">
                  <a:pos x="455" y="288"/>
                </a:cxn>
                <a:cxn ang="0">
                  <a:pos x="0" y="0"/>
                </a:cxn>
                <a:cxn ang="0">
                  <a:pos x="0" y="89"/>
                </a:cxn>
                <a:cxn ang="0">
                  <a:pos x="0" y="52"/>
                </a:cxn>
                <a:cxn ang="0">
                  <a:pos x="0" y="52"/>
                </a:cxn>
                <a:cxn ang="0">
                  <a:pos x="0" y="350"/>
                </a:cxn>
                <a:cxn ang="0">
                  <a:pos x="0" y="52"/>
                </a:cxn>
                <a:cxn ang="0">
                  <a:pos x="0" y="350"/>
                </a:cxn>
                <a:cxn ang="0">
                  <a:pos x="0" y="52"/>
                </a:cxn>
              </a:cxnLst>
              <a:rect l="0" t="0" r="r" b="b"/>
              <a:pathLst>
                <a:path w="455" h="644">
                  <a:moveTo>
                    <a:pt x="0" y="350"/>
                  </a:moveTo>
                  <a:lnTo>
                    <a:pt x="455" y="644"/>
                  </a:lnTo>
                  <a:lnTo>
                    <a:pt x="455" y="288"/>
                  </a:lnTo>
                  <a:lnTo>
                    <a:pt x="0" y="0"/>
                  </a:lnTo>
                  <a:lnTo>
                    <a:pt x="0" y="89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350"/>
                  </a:lnTo>
                  <a:lnTo>
                    <a:pt x="0" y="52"/>
                  </a:lnTo>
                  <a:lnTo>
                    <a:pt x="0" y="35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CE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9" name="Freeform 77"/>
            <p:cNvSpPr>
              <a:spLocks noChangeArrowheads="1"/>
            </p:cNvSpPr>
            <p:nvPr/>
          </p:nvSpPr>
          <p:spPr bwMode="auto">
            <a:xfrm>
              <a:off x="4390" y="1903"/>
              <a:ext cx="890" cy="684"/>
            </a:xfrm>
            <a:custGeom>
              <a:avLst/>
              <a:gdLst/>
              <a:ahLst/>
              <a:cxnLst>
                <a:cxn ang="0">
                  <a:pos x="0" y="862"/>
                </a:cxn>
                <a:cxn ang="0">
                  <a:pos x="0" y="515"/>
                </a:cxn>
                <a:cxn ang="0">
                  <a:pos x="1124" y="0"/>
                </a:cxn>
                <a:cxn ang="0">
                  <a:pos x="1124" y="330"/>
                </a:cxn>
                <a:cxn ang="0">
                  <a:pos x="1124" y="330"/>
                </a:cxn>
                <a:cxn ang="0">
                  <a:pos x="0" y="862"/>
                </a:cxn>
                <a:cxn ang="0">
                  <a:pos x="1124" y="330"/>
                </a:cxn>
                <a:cxn ang="0">
                  <a:pos x="0" y="862"/>
                </a:cxn>
                <a:cxn ang="0">
                  <a:pos x="1124" y="330"/>
                </a:cxn>
                <a:cxn ang="0">
                  <a:pos x="0" y="862"/>
                </a:cxn>
                <a:cxn ang="0">
                  <a:pos x="1124" y="330"/>
                </a:cxn>
                <a:cxn ang="0">
                  <a:pos x="0" y="862"/>
                </a:cxn>
                <a:cxn ang="0">
                  <a:pos x="1124" y="330"/>
                </a:cxn>
                <a:cxn ang="0">
                  <a:pos x="0" y="862"/>
                </a:cxn>
                <a:cxn ang="0">
                  <a:pos x="1124" y="330"/>
                </a:cxn>
              </a:cxnLst>
              <a:rect l="0" t="0" r="r" b="b"/>
              <a:pathLst>
                <a:path w="1124" h="862">
                  <a:moveTo>
                    <a:pt x="0" y="862"/>
                  </a:moveTo>
                  <a:lnTo>
                    <a:pt x="0" y="515"/>
                  </a:lnTo>
                  <a:lnTo>
                    <a:pt x="1124" y="0"/>
                  </a:lnTo>
                  <a:lnTo>
                    <a:pt x="1124" y="330"/>
                  </a:lnTo>
                  <a:lnTo>
                    <a:pt x="1124" y="330"/>
                  </a:lnTo>
                  <a:lnTo>
                    <a:pt x="0" y="862"/>
                  </a:lnTo>
                  <a:lnTo>
                    <a:pt x="1124" y="330"/>
                  </a:lnTo>
                  <a:lnTo>
                    <a:pt x="0" y="862"/>
                  </a:lnTo>
                  <a:lnTo>
                    <a:pt x="1124" y="330"/>
                  </a:lnTo>
                  <a:lnTo>
                    <a:pt x="0" y="862"/>
                  </a:lnTo>
                  <a:lnTo>
                    <a:pt x="1124" y="330"/>
                  </a:lnTo>
                  <a:lnTo>
                    <a:pt x="0" y="862"/>
                  </a:lnTo>
                  <a:lnTo>
                    <a:pt x="1124" y="330"/>
                  </a:lnTo>
                  <a:lnTo>
                    <a:pt x="0" y="862"/>
                  </a:lnTo>
                  <a:lnTo>
                    <a:pt x="1124" y="330"/>
                  </a:lnTo>
                  <a:close/>
                </a:path>
              </a:pathLst>
            </a:custGeom>
            <a:solidFill>
              <a:srgbClr val="00CE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</p:grpSp>
      <p:sp>
        <p:nvSpPr>
          <p:cNvPr id="110" name="Rectangle 78"/>
          <p:cNvSpPr>
            <a:spLocks noChangeArrowheads="1"/>
          </p:cNvSpPr>
          <p:nvPr/>
        </p:nvSpPr>
        <p:spPr bwMode="auto">
          <a:xfrm>
            <a:off x="11862646" y="5278043"/>
            <a:ext cx="16430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825626"/>
            <a:r>
              <a:rPr lang="en-US" sz="3600" dirty="0"/>
              <a:t>  Queues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1" name="Freeform 79"/>
          <p:cNvSpPr>
            <a:spLocks/>
          </p:cNvSpPr>
          <p:nvPr/>
        </p:nvSpPr>
        <p:spPr bwMode="auto">
          <a:xfrm>
            <a:off x="18940371" y="5992420"/>
            <a:ext cx="561974" cy="371474"/>
          </a:xfrm>
          <a:custGeom>
            <a:avLst/>
            <a:gdLst/>
            <a:ahLst/>
            <a:cxnLst>
              <a:cxn ang="0">
                <a:pos x="89" y="11"/>
              </a:cxn>
              <a:cxn ang="0">
                <a:pos x="27" y="144"/>
              </a:cxn>
              <a:cxn ang="0">
                <a:pos x="0" y="0"/>
              </a:cxn>
              <a:cxn ang="0">
                <a:pos x="89" y="11"/>
              </a:cxn>
            </a:cxnLst>
            <a:rect l="0" t="0" r="r" b="b"/>
            <a:pathLst>
              <a:path w="89" h="144">
                <a:moveTo>
                  <a:pt x="89" y="11"/>
                </a:moveTo>
                <a:lnTo>
                  <a:pt x="27" y="144"/>
                </a:lnTo>
                <a:lnTo>
                  <a:pt x="0" y="0"/>
                </a:lnTo>
                <a:lnTo>
                  <a:pt x="89" y="1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112" name="Freeform 80"/>
          <p:cNvSpPr>
            <a:spLocks/>
          </p:cNvSpPr>
          <p:nvPr/>
        </p:nvSpPr>
        <p:spPr bwMode="auto">
          <a:xfrm>
            <a:off x="17702121" y="7294170"/>
            <a:ext cx="1870074" cy="958850"/>
          </a:xfrm>
          <a:custGeom>
            <a:avLst/>
            <a:gdLst/>
            <a:ahLst/>
            <a:cxnLst>
              <a:cxn ang="0">
                <a:pos x="0" y="597"/>
              </a:cxn>
              <a:cxn ang="0">
                <a:pos x="33" y="498"/>
              </a:cxn>
              <a:cxn ang="0">
                <a:pos x="83" y="400"/>
              </a:cxn>
              <a:cxn ang="0">
                <a:pos x="156" y="313"/>
              </a:cxn>
              <a:cxn ang="0">
                <a:pos x="239" y="232"/>
              </a:cxn>
              <a:cxn ang="0">
                <a:pos x="339" y="156"/>
              </a:cxn>
              <a:cxn ang="0">
                <a:pos x="455" y="98"/>
              </a:cxn>
              <a:cxn ang="0">
                <a:pos x="577" y="52"/>
              </a:cxn>
              <a:cxn ang="0">
                <a:pos x="711" y="17"/>
              </a:cxn>
              <a:cxn ang="0">
                <a:pos x="844" y="0"/>
              </a:cxn>
            </a:cxnLst>
            <a:rect l="0" t="0" r="r" b="b"/>
            <a:pathLst>
              <a:path w="844" h="597">
                <a:moveTo>
                  <a:pt x="0" y="597"/>
                </a:moveTo>
                <a:lnTo>
                  <a:pt x="33" y="498"/>
                </a:lnTo>
                <a:lnTo>
                  <a:pt x="83" y="400"/>
                </a:lnTo>
                <a:lnTo>
                  <a:pt x="156" y="313"/>
                </a:lnTo>
                <a:lnTo>
                  <a:pt x="239" y="232"/>
                </a:lnTo>
                <a:lnTo>
                  <a:pt x="339" y="156"/>
                </a:lnTo>
                <a:lnTo>
                  <a:pt x="455" y="98"/>
                </a:lnTo>
                <a:lnTo>
                  <a:pt x="577" y="52"/>
                </a:lnTo>
                <a:lnTo>
                  <a:pt x="711" y="17"/>
                </a:lnTo>
                <a:lnTo>
                  <a:pt x="844" y="0"/>
                </a:lnTo>
              </a:path>
            </a:pathLst>
          </a:custGeom>
          <a:noFill/>
          <a:ln w="34925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  <p:txBody>
          <a:bodyPr/>
          <a:lstStyle/>
          <a:p>
            <a:endParaRPr lang="en-US" sz="10000"/>
          </a:p>
        </p:txBody>
      </p:sp>
      <p:sp>
        <p:nvSpPr>
          <p:cNvPr id="113" name="Rectangle 82"/>
          <p:cNvSpPr>
            <a:spLocks noChangeArrowheads="1"/>
          </p:cNvSpPr>
          <p:nvPr/>
        </p:nvSpPr>
        <p:spPr bwMode="auto">
          <a:xfrm>
            <a:off x="19572195" y="6862370"/>
            <a:ext cx="1441450" cy="1298574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1828800"/>
            <a:endParaRPr lang="pt-BR" sz="2800"/>
          </a:p>
        </p:txBody>
      </p:sp>
      <p:sp>
        <p:nvSpPr>
          <p:cNvPr id="114" name="Text Box 83"/>
          <p:cNvSpPr txBox="1">
            <a:spLocks noChangeArrowheads="1"/>
          </p:cNvSpPr>
          <p:nvPr/>
        </p:nvSpPr>
        <p:spPr bwMode="auto">
          <a:xfrm>
            <a:off x="21031574" y="6862370"/>
            <a:ext cx="3600450" cy="2062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defTabSz="1828800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 SAP</a:t>
            </a:r>
          </a:p>
          <a:p>
            <a:pPr algn="l" defTabSz="1828800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 People Soft</a:t>
            </a:r>
          </a:p>
          <a:p>
            <a:pPr algn="l" defTabSz="1828800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 CICS</a:t>
            </a:r>
          </a:p>
          <a:p>
            <a:pPr algn="l" defTabSz="1828800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 HTTP/REST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8796814" y="9343205"/>
            <a:ext cx="2730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MQ / HTTP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FILE /  TCP/IP</a:t>
            </a:r>
          </a:p>
        </p:txBody>
      </p:sp>
      <p:sp>
        <p:nvSpPr>
          <p:cNvPr id="116" name="Rectangle 115"/>
          <p:cNvSpPr/>
          <p:nvPr/>
        </p:nvSpPr>
        <p:spPr bwMode="auto">
          <a:xfrm>
            <a:off x="6427695" y="8414945"/>
            <a:ext cx="2025650" cy="1104900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2880" tIns="91440" rIns="182880" bIns="91440" numCol="1" rtlCol="0" anchor="ctr" anchorCtr="0" compatLnSpc="1">
            <a:prstTxWarp prst="textNoShape">
              <a:avLst/>
            </a:prstTxWarp>
          </a:bodyPr>
          <a:lstStyle/>
          <a:p>
            <a:pPr defTabSz="1857376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r>
              <a:rPr lang="en-US" sz="3000" b="1" dirty="0">
                <a:solidFill>
                  <a:schemeClr val="tx1"/>
                </a:solidFill>
                <a:latin typeface="Arial" charset="0"/>
                <a:cs typeface="Arial" charset="0"/>
              </a:rPr>
              <a:t>App Client</a:t>
            </a:r>
          </a:p>
        </p:txBody>
      </p:sp>
      <p:cxnSp>
        <p:nvCxnSpPr>
          <p:cNvPr id="117" name="Straight Arrow Connector 116"/>
          <p:cNvCxnSpPr/>
          <p:nvPr/>
        </p:nvCxnSpPr>
        <p:spPr bwMode="auto">
          <a:xfrm rot="16200000" flipH="1">
            <a:off x="8453345" y="9519844"/>
            <a:ext cx="1657350" cy="1657350"/>
          </a:xfrm>
          <a:prstGeom prst="straightConnector1">
            <a:avLst/>
          </a:prstGeom>
          <a:solidFill>
            <a:srgbClr val="EAEAEA"/>
          </a:solidFill>
          <a:ln w="22225" cap="flat" cmpd="sng" algn="ctr">
            <a:solidFill>
              <a:schemeClr val="tx1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C45E0084-F41A-47A3-99E6-2C0ED19A3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mensagens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B4C78-011B-40F1-AF76-05C203E4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54" y="2510026"/>
            <a:ext cx="22788282" cy="6362118"/>
          </a:xfrm>
        </p:spPr>
        <p:txBody>
          <a:bodyPr>
            <a:normAutofit/>
          </a:bodyPr>
          <a:lstStyle/>
          <a:p>
            <a:r>
              <a:rPr lang="pt-BR" altLang="pt-BR" sz="3600" dirty="0"/>
              <a:t>Uma sequência de passos de processamento para transformar / rotear mensagens assim que elas entram no ACE</a:t>
            </a:r>
          </a:p>
          <a:p>
            <a:r>
              <a:rPr lang="pt-BR" altLang="pt-BR" sz="3600" dirty="0"/>
              <a:t>Criadas usando funções predefinidas (“nodes”) em um palette que podem ser conectadas para formar um “fluxo de mensagens”</a:t>
            </a:r>
          </a:p>
          <a:p>
            <a:r>
              <a:rPr lang="pt-BR" altLang="pt-BR" sz="3600" dirty="0"/>
              <a:t>Fluxos podem ser transacionais ou não</a:t>
            </a:r>
          </a:p>
          <a:p>
            <a:r>
              <a:rPr lang="pt-BR" altLang="pt-BR" sz="3600" dirty="0"/>
              <a:t>Fluxos podem ser reutilizáveis  </a:t>
            </a:r>
            <a:br>
              <a:rPr lang="pt-BR" altLang="pt-BR" sz="3600" dirty="0"/>
            </a:br>
            <a:r>
              <a:rPr lang="pt-BR" altLang="pt-BR" sz="3600" dirty="0"/>
              <a:t>(também como subfluxos)</a:t>
            </a:r>
          </a:p>
          <a:p>
            <a:r>
              <a:rPr lang="pt-BR" altLang="pt-BR" sz="3600" dirty="0"/>
              <a:t>Fluxos são construídos em uma interface </a:t>
            </a:r>
            <a:br>
              <a:rPr lang="pt-BR" altLang="pt-BR" sz="3600" dirty="0"/>
            </a:br>
            <a:r>
              <a:rPr lang="pt-BR" altLang="pt-BR" sz="3600" dirty="0"/>
              <a:t>amigável e fácil de usar</a:t>
            </a:r>
          </a:p>
          <a:p>
            <a:endParaRPr lang="pt-BR" sz="3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>
            <a:extLst>
              <a:ext uri="{FF2B5EF4-FFF2-40B4-BE49-F238E27FC236}">
                <a16:creationId xmlns:a16="http://schemas.microsoft.com/office/drawing/2014/main" id="{FEA49C39-61A3-4C9A-8152-EF5FAEE82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9640" y="3243303"/>
            <a:ext cx="19616862" cy="3165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153770D8-AC7C-4839-93DA-E091FBB49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35099" y="5898963"/>
            <a:ext cx="11068277" cy="2883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9E15A104-2868-4DAB-BECE-54C9A24EC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35099" y="8694047"/>
            <a:ext cx="19175411" cy="245961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1D8DB7BF-475E-1DA4-F828-F47F6916FEF8}"/>
              </a:ext>
            </a:extLst>
          </p:cNvPr>
          <p:cNvSpPr txBox="1">
            <a:spLocks/>
          </p:cNvSpPr>
          <p:nvPr/>
        </p:nvSpPr>
        <p:spPr>
          <a:xfrm>
            <a:off x="788894" y="479238"/>
            <a:ext cx="21156706" cy="2263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8288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8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Fluxo de mensagens e código fonte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5E0084-F41A-47A3-99E6-2C0ED19A3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Mensagens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B4C78-011B-40F1-AF76-05C203E4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54" y="2510026"/>
            <a:ext cx="22788282" cy="6362118"/>
          </a:xfrm>
        </p:spPr>
        <p:txBody>
          <a:bodyPr>
            <a:normAutofit/>
          </a:bodyPr>
          <a:lstStyle/>
          <a:p>
            <a:r>
              <a:rPr lang="pt-BR" altLang="pt-BR" sz="3600" dirty="0"/>
              <a:t>As mensagens são os dados recebidos de forma estruturada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2B0D5E-BEAA-AE23-DABB-60BCEC28100A}"/>
              </a:ext>
            </a:extLst>
          </p:cNvPr>
          <p:cNvCxnSpPr>
            <a:cxnSpLocks/>
          </p:cNvCxnSpPr>
          <p:nvPr/>
        </p:nvCxnSpPr>
        <p:spPr>
          <a:xfrm>
            <a:off x="15084615" y="4385678"/>
            <a:ext cx="0" cy="70594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EA7419-76A0-4338-21DB-7BEBFBF40536}"/>
              </a:ext>
            </a:extLst>
          </p:cNvPr>
          <p:cNvGrpSpPr/>
          <p:nvPr/>
        </p:nvGrpSpPr>
        <p:grpSpPr>
          <a:xfrm>
            <a:off x="9030447" y="4094418"/>
            <a:ext cx="5904750" cy="6341819"/>
            <a:chOff x="9245599" y="3102093"/>
            <a:chExt cx="5904750" cy="63418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848194-67D0-AF40-43A4-921F85EF2C1E}"/>
                </a:ext>
              </a:extLst>
            </p:cNvPr>
            <p:cNvSpPr txBox="1"/>
            <p:nvPr/>
          </p:nvSpPr>
          <p:spPr>
            <a:xfrm>
              <a:off x="9245599" y="5412039"/>
              <a:ext cx="5904750" cy="40318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&lt;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  <a:p>
              <a:pPr algn="just"/>
              <a:r>
                <a:rPr lang="en-US" sz="3200" dirty="0"/>
                <a:t>    &lt;Grupo1&gt;</a:t>
              </a:r>
            </a:p>
            <a:p>
              <a:pPr algn="just"/>
              <a:r>
                <a:rPr lang="en-US" sz="3200" dirty="0"/>
                <a:t>        &lt;Campo1&gt;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&lt;/Campo1&gt;</a:t>
              </a:r>
            </a:p>
            <a:p>
              <a:pPr algn="just"/>
              <a:r>
                <a:rPr lang="en-US" sz="3200" dirty="0"/>
                <a:t>        &lt;Campo2&gt;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/>
                <a:t>&lt;/Campo2&gt;</a:t>
              </a:r>
            </a:p>
            <a:p>
              <a:pPr algn="just"/>
              <a:r>
                <a:rPr lang="en-US" sz="3200" dirty="0"/>
                <a:t>    &lt;/Grupo1&gt;</a:t>
              </a:r>
            </a:p>
            <a:p>
              <a:pPr algn="just"/>
              <a:r>
                <a:rPr lang="en-US" sz="3200" dirty="0"/>
                <a:t>    &lt;Campo3&gt;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&lt;/Campo3&gt;</a:t>
              </a:r>
            </a:p>
            <a:p>
              <a:pPr algn="just"/>
              <a:r>
                <a:rPr lang="en-US" sz="3200" dirty="0"/>
                <a:t>    &lt;Campo4&gt;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r>
                <a:rPr lang="en-US" sz="3200" dirty="0"/>
                <a:t>&lt;/Campo4&gt;</a:t>
              </a:r>
            </a:p>
            <a:p>
              <a:pPr algn="just"/>
              <a:r>
                <a:rPr lang="en-US" sz="3200" dirty="0"/>
                <a:t>&lt;/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4BCC9EA-F7C2-9192-9A85-E5AD49E90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2264" y="3102093"/>
              <a:ext cx="1686160" cy="1962424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065239-FADF-7BFA-F5FB-51C3755C8C2B}"/>
              </a:ext>
            </a:extLst>
          </p:cNvPr>
          <p:cNvGrpSpPr/>
          <p:nvPr/>
        </p:nvGrpSpPr>
        <p:grpSpPr>
          <a:xfrm>
            <a:off x="16014339" y="4222884"/>
            <a:ext cx="4882779" cy="7216168"/>
            <a:chOff x="16686306" y="3230559"/>
            <a:chExt cx="4882779" cy="721616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F62E10-A6F8-9CC8-A7DE-AA7C8D549A94}"/>
                </a:ext>
              </a:extLst>
            </p:cNvPr>
            <p:cNvSpPr txBox="1"/>
            <p:nvPr/>
          </p:nvSpPr>
          <p:spPr>
            <a:xfrm>
              <a:off x="16686306" y="5429969"/>
              <a:ext cx="4882779" cy="5016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{</a:t>
              </a:r>
            </a:p>
            <a:p>
              <a:pPr algn="just"/>
              <a:r>
                <a:rPr lang="en-US" sz="3200" dirty="0"/>
                <a:t>  "</a:t>
              </a:r>
              <a:r>
                <a:rPr lang="en-US" sz="3200" dirty="0" err="1"/>
                <a:t>ACE_Workshop</a:t>
              </a:r>
              <a:r>
                <a:rPr lang="en-US" sz="3200" dirty="0"/>
                <a:t>": {</a:t>
              </a:r>
            </a:p>
            <a:p>
              <a:pPr algn="just"/>
              <a:r>
                <a:rPr lang="en-US" sz="3200" dirty="0"/>
                <a:t>    "Grupo1": {</a:t>
              </a:r>
            </a:p>
            <a:p>
              <a:pPr algn="just"/>
              <a:r>
                <a:rPr lang="en-US" sz="3200" dirty="0"/>
                <a:t>      "Campo1": "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  "Campo2": 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</a:p>
            <a:p>
              <a:pPr algn="just"/>
              <a:r>
                <a:rPr lang="en-US" sz="3200" dirty="0"/>
                <a:t>    },</a:t>
              </a:r>
            </a:p>
            <a:p>
              <a:pPr algn="just"/>
              <a:r>
                <a:rPr lang="en-US" sz="3200" dirty="0"/>
                <a:t>    "Campo3": "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"Campo4": 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</a:p>
            <a:p>
              <a:pPr algn="just"/>
              <a:r>
                <a:rPr lang="en-US" sz="3200" dirty="0"/>
                <a:t>  }</a:t>
              </a:r>
            </a:p>
            <a:p>
              <a:pPr algn="just"/>
              <a:r>
                <a:rPr lang="en-US" sz="3200" dirty="0"/>
                <a:t>}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6731DA1-1BB4-0C79-EEAC-E10A13C5F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47513" y="3230559"/>
              <a:ext cx="1724266" cy="1876687"/>
            </a:xfrm>
            <a:prstGeom prst="rect">
              <a:avLst/>
            </a:prstGeom>
          </p:spPr>
        </p:pic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73A899-D534-D619-FC6C-3A516B82D192}"/>
              </a:ext>
            </a:extLst>
          </p:cNvPr>
          <p:cNvCxnSpPr>
            <a:cxnSpLocks/>
          </p:cNvCxnSpPr>
          <p:nvPr/>
        </p:nvCxnSpPr>
        <p:spPr>
          <a:xfrm>
            <a:off x="8441770" y="4222884"/>
            <a:ext cx="0" cy="69877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FD297A1-44C1-495B-579A-CDA99030324B}"/>
              </a:ext>
            </a:extLst>
          </p:cNvPr>
          <p:cNvGrpSpPr/>
          <p:nvPr/>
        </p:nvGrpSpPr>
        <p:grpSpPr>
          <a:xfrm>
            <a:off x="3988191" y="4222884"/>
            <a:ext cx="3427499" cy="2786386"/>
            <a:chOff x="1825817" y="3230559"/>
            <a:chExt cx="3427499" cy="278638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BDA85D-2B69-83A5-F9C1-02F66731A964}"/>
                </a:ext>
              </a:extLst>
            </p:cNvPr>
            <p:cNvSpPr txBox="1"/>
            <p:nvPr/>
          </p:nvSpPr>
          <p:spPr>
            <a:xfrm>
              <a:off x="1825817" y="5432170"/>
              <a:ext cx="342749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endParaRPr lang="en-US" sz="3200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A9E977C-CD25-475B-6B36-98D7D4A6C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1735" y="3230559"/>
              <a:ext cx="1655208" cy="1827061"/>
            </a:xfrm>
            <a:prstGeom prst="rect">
              <a:avLst/>
            </a:prstGeom>
          </p:spPr>
        </p:pic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3A48451-1E9B-48BC-772C-29F4C78752D3}"/>
              </a:ext>
            </a:extLst>
          </p:cNvPr>
          <p:cNvCxnSpPr/>
          <p:nvPr/>
        </p:nvCxnSpPr>
        <p:spPr>
          <a:xfrm>
            <a:off x="3693459" y="6316920"/>
            <a:ext cx="1696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4267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B837-99CC-45AC-927B-946721E2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mensagens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054F7-4FB1-4676-B46A-84CF37A43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264901"/>
            <a:ext cx="22788282" cy="1008902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 importante conceito no ACE é a </a:t>
            </a:r>
            <a:r>
              <a:rPr lang="pt-BR" b="1" dirty="0"/>
              <a:t>Árvore de Mensagem</a:t>
            </a:r>
            <a:r>
              <a:rPr lang="pt-BR" dirty="0"/>
              <a:t>. </a:t>
            </a:r>
          </a:p>
          <a:p>
            <a:r>
              <a:rPr lang="pt-BR" dirty="0"/>
              <a:t>Árvore de mensagem é a representação lógica da estrutura física (bitstream) da mensagem. </a:t>
            </a:r>
          </a:p>
          <a:p>
            <a:r>
              <a:rPr lang="pt-BR" dirty="0"/>
              <a:t>A árvore de mensagem possui as principais estruturas:</a:t>
            </a:r>
          </a:p>
          <a:p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A representação da árvore de mensagens contém um nó raiz chamado </a:t>
            </a:r>
            <a:r>
              <a:rPr lang="pt-BR" b="1" dirty="0">
                <a:solidFill>
                  <a:srgbClr val="0070C0"/>
                </a:solidFill>
              </a:rPr>
              <a:t>Root</a:t>
            </a:r>
            <a:r>
              <a:rPr lang="pt-BR" dirty="0"/>
              <a:t>, que é o primeiro nó da mensagem. </a:t>
            </a:r>
          </a:p>
          <a:p>
            <a:pPr lvl="1"/>
            <a:r>
              <a:rPr lang="pt-BR" dirty="0"/>
              <a:t>Informações do fluxo sobre chamado </a:t>
            </a:r>
            <a:r>
              <a:rPr lang="pt-BR" b="1" dirty="0" err="1">
                <a:solidFill>
                  <a:srgbClr val="0070C0"/>
                </a:solidFill>
              </a:rPr>
              <a:t>Environment</a:t>
            </a:r>
            <a:r>
              <a:rPr lang="pt-BR" b="1" dirty="0">
                <a:solidFill>
                  <a:srgbClr val="0070C0"/>
                </a:solidFill>
              </a:rPr>
              <a:t> </a:t>
            </a:r>
            <a:r>
              <a:rPr lang="pt-BR" dirty="0"/>
              <a:t>que um fluxo pode gravar/acessar</a:t>
            </a:r>
          </a:p>
          <a:p>
            <a:pPr lvl="1"/>
            <a:r>
              <a:rPr lang="pt-BR" dirty="0"/>
              <a:t>Informações passadas entre nós no fluxo chamado </a:t>
            </a:r>
            <a:r>
              <a:rPr lang="pt-BR" b="1" dirty="0" err="1">
                <a:solidFill>
                  <a:srgbClr val="0070C0"/>
                </a:solidFill>
              </a:rPr>
              <a:t>LocalEnvironment</a:t>
            </a:r>
            <a:r>
              <a:rPr lang="pt-BR" b="1" dirty="0">
                <a:solidFill>
                  <a:srgbClr val="0070C0"/>
                </a:solidFill>
              </a:rPr>
              <a:t> </a:t>
            </a:r>
            <a:r>
              <a:rPr lang="pt-BR" dirty="0"/>
              <a:t>que um fluxo pode gravar/acessar</a:t>
            </a:r>
          </a:p>
          <a:p>
            <a:pPr lvl="1"/>
            <a:r>
              <a:rPr lang="pt-BR" dirty="0"/>
              <a:t>Informações caso ocorra algum erro no processamento da mensagem, chamada </a:t>
            </a:r>
            <a:r>
              <a:rPr lang="pt-BR" b="1" dirty="0" err="1">
                <a:solidFill>
                  <a:srgbClr val="0070C0"/>
                </a:solidFill>
              </a:rPr>
              <a:t>ExceptionList</a:t>
            </a:r>
            <a:r>
              <a:rPr lang="pt-BR" dirty="0"/>
              <a:t>. </a:t>
            </a:r>
          </a:p>
          <a:p>
            <a:pPr lvl="1"/>
            <a:endParaRPr lang="pt-BR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858CBD1-AB80-E656-6DCB-7C7375A76BD2}"/>
              </a:ext>
            </a:extLst>
          </p:cNvPr>
          <p:cNvGrpSpPr/>
          <p:nvPr/>
        </p:nvGrpSpPr>
        <p:grpSpPr>
          <a:xfrm>
            <a:off x="1237129" y="5434106"/>
            <a:ext cx="22196612" cy="1657982"/>
            <a:chOff x="1075765" y="2312893"/>
            <a:chExt cx="11761693" cy="8785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C6FD5B9-F97D-8CBC-D99B-0A9B05E593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272" t="7346" r="59178" b="82143"/>
            <a:stretch/>
          </p:blipFill>
          <p:spPr>
            <a:xfrm>
              <a:off x="1075765" y="2420470"/>
              <a:ext cx="2725270" cy="770965"/>
            </a:xfrm>
            <a:prstGeom prst="rect">
              <a:avLst/>
            </a:prstGeom>
            <a:effectLst/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3F407FE-9FAD-EC66-F964-F72AFDEEBB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272" t="32284" r="59178" b="57205"/>
            <a:stretch/>
          </p:blipFill>
          <p:spPr>
            <a:xfrm>
              <a:off x="4087906" y="2420470"/>
              <a:ext cx="2725270" cy="770966"/>
            </a:xfrm>
            <a:prstGeom prst="rect">
              <a:avLst/>
            </a:prstGeom>
            <a:effectLst/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88572F-AD05-61E3-5628-619A43384E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272" t="55261" r="59178" b="34228"/>
            <a:stretch/>
          </p:blipFill>
          <p:spPr>
            <a:xfrm>
              <a:off x="7100047" y="2420470"/>
              <a:ext cx="2725270" cy="770966"/>
            </a:xfrm>
            <a:prstGeom prst="rect">
              <a:avLst/>
            </a:prstGeom>
            <a:effectLst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565411A-FD61-9065-5209-312D532125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272" t="77751" r="59178" b="10515"/>
            <a:stretch/>
          </p:blipFill>
          <p:spPr>
            <a:xfrm>
              <a:off x="10112188" y="2312893"/>
              <a:ext cx="2725270" cy="860612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2156634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2F9E-54DD-4038-992A-2C7BAB24D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Acessando a árvore de mensagens.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F1B7-4BA0-44F1-900B-17FC3EDCC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Qualquer parte da estrutura da árvore de mensagens é acessível pelos nodes de processamento do message flow, o que permite ao desenvolvedor implementar decisões baseadas no contexto do ambiente de execução e outros fatores.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Como a mensagem é estruturada no formato de árvore, é conveniente usar expressões </a:t>
            </a:r>
            <a:r>
              <a:rPr lang="pt-BR" b="1" dirty="0">
                <a:solidFill>
                  <a:srgbClr val="0070C0"/>
                </a:solidFill>
              </a:rPr>
              <a:t>XPath</a:t>
            </a:r>
            <a:r>
              <a:rPr lang="pt-BR" dirty="0"/>
              <a:t> para navegar ou modificar a mensagem.</a:t>
            </a:r>
          </a:p>
          <a:p>
            <a:pPr lvl="1"/>
            <a:r>
              <a:rPr lang="pt-BR" dirty="0"/>
              <a:t>NOTA: Não são todos os nodes de processamento que suportam expressões XPath. Os principais nodes usados em expressões XPath são: Java Compute node, Route node e Map node.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26966D-E885-4427-81D5-19A14E429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202" y="5377556"/>
            <a:ext cx="11191596" cy="324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05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48B66D5-964E-1A56-A021-C015684AD8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" t="11522" r="50884" b="57407"/>
          <a:stretch/>
        </p:blipFill>
        <p:spPr>
          <a:xfrm>
            <a:off x="5040854" y="9116583"/>
            <a:ext cx="12245788" cy="4303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CB7C40-8110-478A-A182-82EE5E94D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Parsing de mensagens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B0D3A-CBA2-453A-B1FD-DE4EF7485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994212"/>
            <a:ext cx="21694588" cy="9359714"/>
          </a:xfrm>
        </p:spPr>
        <p:txBody>
          <a:bodyPr>
            <a:normAutofit/>
          </a:bodyPr>
          <a:lstStyle/>
          <a:p>
            <a:r>
              <a:rPr lang="pt-BR" sz="4800" dirty="0"/>
              <a:t>É comum o cenário onde o fluxo recebe mensagens em um determinado formato, transforma esse formato, faz chamadas a um backend (exemplo: sistema legado), passando o formato esperado pelo backend. </a:t>
            </a:r>
          </a:p>
          <a:p>
            <a:r>
              <a:rPr lang="pt-BR" sz="4800" dirty="0"/>
              <a:t>Como mencionado antes, os message flows recebem mensagens em formato físico de bitstream. Quando a mensagem passa pelo </a:t>
            </a:r>
            <a:r>
              <a:rPr lang="pt-BR" sz="4800" b="1" dirty="0">
                <a:solidFill>
                  <a:srgbClr val="0070C0"/>
                </a:solidFill>
              </a:rPr>
              <a:t>input node </a:t>
            </a:r>
            <a:r>
              <a:rPr lang="pt-BR" sz="4800" dirty="0"/>
              <a:t>do messagem flow, o </a:t>
            </a:r>
            <a:r>
              <a:rPr lang="pt-BR" sz="4800" b="1" dirty="0">
                <a:solidFill>
                  <a:srgbClr val="0070C0"/>
                </a:solidFill>
              </a:rPr>
              <a:t>input node lê e converte a mensagem em um formato lógico de árvore de mensagens</a:t>
            </a:r>
            <a:r>
              <a:rPr lang="pt-BR" sz="4800" dirty="0"/>
              <a:t>.</a:t>
            </a:r>
          </a:p>
          <a:p>
            <a:r>
              <a:rPr lang="pt-BR" sz="4800" dirty="0"/>
              <a:t>Essa operação (transformar bitstream em formato lógico) é chamado </a:t>
            </a:r>
            <a:r>
              <a:rPr lang="pt-BR" sz="4800" b="1" dirty="0">
                <a:solidFill>
                  <a:srgbClr val="0070C0"/>
                </a:solidFill>
              </a:rPr>
              <a:t>parsing</a:t>
            </a:r>
            <a:r>
              <a:rPr lang="pt-BR" sz="4800" dirty="0"/>
              <a:t>. </a:t>
            </a:r>
          </a:p>
          <a:p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781234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B7C40-8110-478A-A182-82EE5E94D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B0D3A-CBA2-453A-B1FD-DE4EF7485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994212"/>
            <a:ext cx="10685930" cy="9359714"/>
          </a:xfrm>
        </p:spPr>
        <p:txBody>
          <a:bodyPr>
            <a:normAutofit/>
          </a:bodyPr>
          <a:lstStyle/>
          <a:p>
            <a:r>
              <a:rPr lang="pt-BR" dirty="0"/>
              <a:t>Por exemplo, uma mensagem exposta como fila MQ, ao ser chamada recebe um bitstream, então o </a:t>
            </a:r>
            <a:r>
              <a:rPr lang="pt-BR" b="1" dirty="0">
                <a:solidFill>
                  <a:srgbClr val="0070C0"/>
                </a:solidFill>
              </a:rPr>
              <a:t>MQInput</a:t>
            </a:r>
            <a:r>
              <a:rPr lang="pt-BR" dirty="0"/>
              <a:t> node pode transformar esse bitstream para um formato lógico, como um XML.</a:t>
            </a:r>
          </a:p>
          <a:p>
            <a:r>
              <a:rPr lang="pt-BR" dirty="0"/>
              <a:t>Após realizar o parsing, o node monta a árvore de mensagens através de serialização.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51717-2023-4C6E-8F38-7FFCC9DF1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627" y="2980318"/>
            <a:ext cx="11924730" cy="775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7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5E0084-F41A-47A3-99E6-2C0ED19A3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Parser x Mensagens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B4C78-011B-40F1-AF76-05C203E4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54" y="2510026"/>
            <a:ext cx="22788282" cy="6362118"/>
          </a:xfrm>
        </p:spPr>
        <p:txBody>
          <a:bodyPr>
            <a:normAutofit/>
          </a:bodyPr>
          <a:lstStyle/>
          <a:p>
            <a:r>
              <a:rPr lang="pt-BR" altLang="pt-BR" sz="3600" dirty="0"/>
              <a:t>As mensagens são os dados recebidos de forma estruturada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EA7419-76A0-4338-21DB-7BEBFBF40536}"/>
              </a:ext>
            </a:extLst>
          </p:cNvPr>
          <p:cNvGrpSpPr/>
          <p:nvPr/>
        </p:nvGrpSpPr>
        <p:grpSpPr>
          <a:xfrm>
            <a:off x="9030447" y="4094418"/>
            <a:ext cx="5904750" cy="6341819"/>
            <a:chOff x="9245599" y="3102093"/>
            <a:chExt cx="5904750" cy="63418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848194-67D0-AF40-43A4-921F85EF2C1E}"/>
                </a:ext>
              </a:extLst>
            </p:cNvPr>
            <p:cNvSpPr txBox="1"/>
            <p:nvPr/>
          </p:nvSpPr>
          <p:spPr>
            <a:xfrm>
              <a:off x="9245599" y="5412039"/>
              <a:ext cx="5904750" cy="40318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&lt;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  <a:p>
              <a:pPr algn="just"/>
              <a:r>
                <a:rPr lang="en-US" sz="3200" dirty="0"/>
                <a:t>    &lt;Grupo1&gt;</a:t>
              </a:r>
            </a:p>
            <a:p>
              <a:pPr algn="just"/>
              <a:r>
                <a:rPr lang="en-US" sz="3200" dirty="0"/>
                <a:t>        &lt;Campo1&gt;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&lt;/Campo1&gt;</a:t>
              </a:r>
            </a:p>
            <a:p>
              <a:pPr algn="just"/>
              <a:r>
                <a:rPr lang="en-US" sz="3200" dirty="0"/>
                <a:t>        &lt;Campo2&gt;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/>
                <a:t>&lt;/Campo2&gt;</a:t>
              </a:r>
            </a:p>
            <a:p>
              <a:pPr algn="just"/>
              <a:r>
                <a:rPr lang="en-US" sz="3200" dirty="0"/>
                <a:t>    &lt;/Grupo1&gt;</a:t>
              </a:r>
            </a:p>
            <a:p>
              <a:pPr algn="just"/>
              <a:r>
                <a:rPr lang="en-US" sz="3200" dirty="0"/>
                <a:t>    &lt;Campo3&gt;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&lt;/Campo3&gt;</a:t>
              </a:r>
            </a:p>
            <a:p>
              <a:pPr algn="just"/>
              <a:r>
                <a:rPr lang="en-US" sz="3200" dirty="0"/>
                <a:t>    &lt;Campo4&gt;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r>
                <a:rPr lang="en-US" sz="3200" dirty="0"/>
                <a:t>&lt;/Campo4&gt;</a:t>
              </a:r>
            </a:p>
            <a:p>
              <a:pPr algn="just"/>
              <a:r>
                <a:rPr lang="en-US" sz="3200" dirty="0"/>
                <a:t>&lt;/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4BCC9EA-F7C2-9192-9A85-E5AD49E90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2264" y="3102093"/>
              <a:ext cx="1686160" cy="1962424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065239-FADF-7BFA-F5FB-51C3755C8C2B}"/>
              </a:ext>
            </a:extLst>
          </p:cNvPr>
          <p:cNvGrpSpPr/>
          <p:nvPr/>
        </p:nvGrpSpPr>
        <p:grpSpPr>
          <a:xfrm>
            <a:off x="16014339" y="4222884"/>
            <a:ext cx="4882779" cy="7216168"/>
            <a:chOff x="16686306" y="3230559"/>
            <a:chExt cx="4882779" cy="721616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F62E10-A6F8-9CC8-A7DE-AA7C8D549A94}"/>
                </a:ext>
              </a:extLst>
            </p:cNvPr>
            <p:cNvSpPr txBox="1"/>
            <p:nvPr/>
          </p:nvSpPr>
          <p:spPr>
            <a:xfrm>
              <a:off x="16686306" y="5429969"/>
              <a:ext cx="4882779" cy="5016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{</a:t>
              </a:r>
            </a:p>
            <a:p>
              <a:pPr algn="just"/>
              <a:r>
                <a:rPr lang="en-US" sz="3200" dirty="0"/>
                <a:t>  "</a:t>
              </a:r>
              <a:r>
                <a:rPr lang="en-US" sz="3200" dirty="0" err="1"/>
                <a:t>ACE_Workshop</a:t>
              </a:r>
              <a:r>
                <a:rPr lang="en-US" sz="3200" dirty="0"/>
                <a:t>": {</a:t>
              </a:r>
            </a:p>
            <a:p>
              <a:pPr algn="just"/>
              <a:r>
                <a:rPr lang="en-US" sz="3200" dirty="0"/>
                <a:t>    "Grupo1": {</a:t>
              </a:r>
            </a:p>
            <a:p>
              <a:pPr algn="just"/>
              <a:r>
                <a:rPr lang="en-US" sz="3200" dirty="0"/>
                <a:t>      "Campo1": "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  "Campo2": 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</a:p>
            <a:p>
              <a:pPr algn="just"/>
              <a:r>
                <a:rPr lang="en-US" sz="3200" dirty="0"/>
                <a:t>    },</a:t>
              </a:r>
            </a:p>
            <a:p>
              <a:pPr algn="just"/>
              <a:r>
                <a:rPr lang="en-US" sz="3200" dirty="0"/>
                <a:t>    "Campo3": "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"Campo4": 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</a:p>
            <a:p>
              <a:pPr algn="just"/>
              <a:r>
                <a:rPr lang="en-US" sz="3200" dirty="0"/>
                <a:t>  }</a:t>
              </a:r>
            </a:p>
            <a:p>
              <a:pPr algn="just"/>
              <a:r>
                <a:rPr lang="en-US" sz="3200" dirty="0"/>
                <a:t>}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6731DA1-1BB4-0C79-EEAC-E10A13C5F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47513" y="3230559"/>
              <a:ext cx="1724266" cy="187668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FD297A1-44C1-495B-579A-CDA99030324B}"/>
              </a:ext>
            </a:extLst>
          </p:cNvPr>
          <p:cNvGrpSpPr/>
          <p:nvPr/>
        </p:nvGrpSpPr>
        <p:grpSpPr>
          <a:xfrm>
            <a:off x="3988191" y="4222884"/>
            <a:ext cx="3427499" cy="2786386"/>
            <a:chOff x="1825817" y="3230559"/>
            <a:chExt cx="3427499" cy="278638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BDA85D-2B69-83A5-F9C1-02F66731A964}"/>
                </a:ext>
              </a:extLst>
            </p:cNvPr>
            <p:cNvSpPr txBox="1"/>
            <p:nvPr/>
          </p:nvSpPr>
          <p:spPr>
            <a:xfrm>
              <a:off x="1825817" y="5432170"/>
              <a:ext cx="342749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endParaRPr lang="en-US" sz="3200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A9E977C-CD25-475B-6B36-98D7D4A6C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1735" y="3230559"/>
              <a:ext cx="1655208" cy="1827061"/>
            </a:xfrm>
            <a:prstGeom prst="rect">
              <a:avLst/>
            </a:prstGeom>
          </p:spPr>
        </p:pic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3A48451-1E9B-48BC-772C-29F4C78752D3}"/>
              </a:ext>
            </a:extLst>
          </p:cNvPr>
          <p:cNvCxnSpPr/>
          <p:nvPr/>
        </p:nvCxnSpPr>
        <p:spPr>
          <a:xfrm>
            <a:off x="3693459" y="6316920"/>
            <a:ext cx="1696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84A100-D64E-2F93-696D-63F1775E8266}"/>
              </a:ext>
            </a:extLst>
          </p:cNvPr>
          <p:cNvGrpSpPr/>
          <p:nvPr/>
        </p:nvGrpSpPr>
        <p:grpSpPr>
          <a:xfrm>
            <a:off x="1097305" y="11205974"/>
            <a:ext cx="22651933" cy="2433826"/>
            <a:chOff x="1097305" y="11205974"/>
            <a:chExt cx="22651933" cy="243382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5E4E260-3FA3-F004-5E07-57B09B09F14C}"/>
                </a:ext>
              </a:extLst>
            </p:cNvPr>
            <p:cNvSpPr/>
            <p:nvPr/>
          </p:nvSpPr>
          <p:spPr>
            <a:xfrm>
              <a:off x="1097305" y="11205974"/>
              <a:ext cx="22651933" cy="24338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pt-BR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C0C0C0"/>
                  </a:highlight>
                </a:rPr>
                <a:t>Modelo Lógico</a:t>
              </a:r>
              <a:endPara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FC320D9-3E76-7610-6C8F-753D196FD068}"/>
                </a:ext>
              </a:extLst>
            </p:cNvPr>
            <p:cNvGrpSpPr/>
            <p:nvPr/>
          </p:nvGrpSpPr>
          <p:grpSpPr>
            <a:xfrm>
              <a:off x="1283832" y="11322693"/>
              <a:ext cx="21767001" cy="1815882"/>
              <a:chOff x="1283832" y="11322693"/>
              <a:chExt cx="21767001" cy="181588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DE5273-0112-484D-C603-C3BA1D6A0A23}"/>
                  </a:ext>
                </a:extLst>
              </p:cNvPr>
              <p:cNvSpPr txBox="1"/>
              <p:nvPr/>
            </p:nvSpPr>
            <p:spPr>
              <a:xfrm>
                <a:off x="1283832" y="11322693"/>
                <a:ext cx="7049971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/>
                  <a:t>{Parser}.ACE_Workshop.Grupo1.Campo1=</a:t>
                </a:r>
                <a:r>
                  <a:rPr lang="en-US" sz="2800" dirty="0">
                    <a:highlight>
                      <a:srgbClr val="FFFF00"/>
                    </a:highlight>
                  </a:rPr>
                  <a:t>AAA</a:t>
                </a:r>
                <a:r>
                  <a:rPr lang="en-US" sz="2800" dirty="0"/>
                  <a:t>        </a:t>
                </a:r>
              </a:p>
              <a:p>
                <a:pPr algn="just"/>
                <a:r>
                  <a:rPr lang="en-US" sz="2800" dirty="0"/>
                  <a:t>{Parser}.ACE_Workshop.Grupo1.Campo2</a:t>
                </a:r>
                <a:r>
                  <a:rPr lang="en-US" sz="2800" dirty="0">
                    <a:highlight>
                      <a:srgbClr val="00FF00"/>
                    </a:highlight>
                  </a:rPr>
                  <a:t>111</a:t>
                </a:r>
              </a:p>
              <a:p>
                <a:pPr algn="just"/>
                <a:r>
                  <a:rPr lang="en-US" sz="2800" dirty="0"/>
                  <a:t>{Parser}.ACE_Workshop.Campo3=</a:t>
                </a:r>
                <a:r>
                  <a:rPr lang="en-US" sz="2800" dirty="0">
                    <a:highlight>
                      <a:srgbClr val="00FFFF"/>
                    </a:highlight>
                  </a:rPr>
                  <a:t>BBB</a:t>
                </a:r>
                <a:endParaRPr lang="en-US" sz="2800" dirty="0"/>
              </a:p>
              <a:p>
                <a:pPr algn="just"/>
                <a:r>
                  <a:rPr lang="en-US" sz="2800" dirty="0"/>
                  <a:t>{Parser}.ACE_Workshop.Campo4=</a:t>
                </a:r>
                <a:r>
                  <a:rPr lang="en-US" sz="2800" dirty="0">
                    <a:highlight>
                      <a:srgbClr val="FF00FF"/>
                    </a:highlight>
                  </a:rPr>
                  <a:t>222</a:t>
                </a:r>
                <a:endParaRPr lang="en-US" sz="2800" dirty="0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BA0846-AC21-E63D-1FA1-3EFD05DF2BBB}"/>
                  </a:ext>
                </a:extLst>
              </p:cNvPr>
              <p:cNvSpPr txBox="1"/>
              <p:nvPr/>
            </p:nvSpPr>
            <p:spPr>
              <a:xfrm>
                <a:off x="8592309" y="11322693"/>
                <a:ext cx="7049971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/>
                  <a:t>{Parser}.ACE_Workshop.Grupo1.Campo1=</a:t>
                </a:r>
                <a:r>
                  <a:rPr lang="en-US" sz="2800" dirty="0">
                    <a:highlight>
                      <a:srgbClr val="FFFF00"/>
                    </a:highlight>
                  </a:rPr>
                  <a:t>AAA</a:t>
                </a:r>
                <a:r>
                  <a:rPr lang="en-US" sz="2800" dirty="0"/>
                  <a:t>        </a:t>
                </a:r>
              </a:p>
              <a:p>
                <a:pPr algn="just"/>
                <a:r>
                  <a:rPr lang="en-US" sz="2800" dirty="0"/>
                  <a:t>{Parser}.ACE_Workshop.Grupo1.Campo2</a:t>
                </a:r>
                <a:r>
                  <a:rPr lang="en-US" sz="2800" dirty="0">
                    <a:highlight>
                      <a:srgbClr val="00FF00"/>
                    </a:highlight>
                  </a:rPr>
                  <a:t>111</a:t>
                </a:r>
              </a:p>
              <a:p>
                <a:pPr algn="just"/>
                <a:r>
                  <a:rPr lang="en-US" sz="2800" dirty="0"/>
                  <a:t>{Parser}.ACE_Workshop.Campo3=</a:t>
                </a:r>
                <a:r>
                  <a:rPr lang="en-US" sz="2800" dirty="0">
                    <a:highlight>
                      <a:srgbClr val="00FFFF"/>
                    </a:highlight>
                  </a:rPr>
                  <a:t>BBB</a:t>
                </a:r>
                <a:endParaRPr lang="en-US" sz="2800" dirty="0"/>
              </a:p>
              <a:p>
                <a:pPr algn="just"/>
                <a:r>
                  <a:rPr lang="en-US" sz="2800" dirty="0"/>
                  <a:t>{Parser}.ACE_Workshop.Campo4=</a:t>
                </a:r>
                <a:r>
                  <a:rPr lang="en-US" sz="2800" dirty="0">
                    <a:highlight>
                      <a:srgbClr val="FF00FF"/>
                    </a:highlight>
                  </a:rPr>
                  <a:t>222</a:t>
                </a:r>
                <a:endParaRPr lang="en-US" sz="2800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C66FB1-E668-E353-D328-5453B2AF43B5}"/>
                  </a:ext>
                </a:extLst>
              </p:cNvPr>
              <p:cNvSpPr txBox="1"/>
              <p:nvPr/>
            </p:nvSpPr>
            <p:spPr>
              <a:xfrm>
                <a:off x="16000862" y="11322693"/>
                <a:ext cx="7049971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/>
                  <a:t>{Parser}.ACE_Workshop.Grupo1.Campo1=</a:t>
                </a:r>
                <a:r>
                  <a:rPr lang="en-US" sz="2800" dirty="0">
                    <a:highlight>
                      <a:srgbClr val="FFFF00"/>
                    </a:highlight>
                  </a:rPr>
                  <a:t>AAA</a:t>
                </a:r>
                <a:r>
                  <a:rPr lang="en-US" sz="2800" dirty="0"/>
                  <a:t>        </a:t>
                </a:r>
              </a:p>
              <a:p>
                <a:pPr algn="just"/>
                <a:r>
                  <a:rPr lang="en-US" sz="2800" dirty="0"/>
                  <a:t>{Parser}.ACE_Workshop.Grupo1.Campo2</a:t>
                </a:r>
                <a:r>
                  <a:rPr lang="en-US" sz="2800" dirty="0">
                    <a:highlight>
                      <a:srgbClr val="00FF00"/>
                    </a:highlight>
                  </a:rPr>
                  <a:t>111</a:t>
                </a:r>
              </a:p>
              <a:p>
                <a:pPr algn="just"/>
                <a:r>
                  <a:rPr lang="en-US" sz="2800" dirty="0"/>
                  <a:t>{Parser}.ACE_Workshop.Campo3=</a:t>
                </a:r>
                <a:r>
                  <a:rPr lang="en-US" sz="2800" dirty="0">
                    <a:highlight>
                      <a:srgbClr val="00FFFF"/>
                    </a:highlight>
                  </a:rPr>
                  <a:t>BBB</a:t>
                </a:r>
                <a:endParaRPr lang="en-US" sz="2800" dirty="0"/>
              </a:p>
              <a:p>
                <a:pPr algn="just"/>
                <a:r>
                  <a:rPr lang="en-US" sz="2800" dirty="0"/>
                  <a:t>{Parser}.ACE_Workshop.Campo4=</a:t>
                </a:r>
                <a:r>
                  <a:rPr lang="en-US" sz="2800" dirty="0">
                    <a:highlight>
                      <a:srgbClr val="FF00FF"/>
                    </a:highlight>
                  </a:rPr>
                  <a:t>222</a:t>
                </a:r>
                <a:endParaRPr lang="en-US" sz="2800" dirty="0"/>
              </a:p>
            </p:txBody>
          </p:sp>
        </p:grp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2B0D5E-BEAA-AE23-DABB-60BCEC28100A}"/>
              </a:ext>
            </a:extLst>
          </p:cNvPr>
          <p:cNvCxnSpPr>
            <a:cxnSpLocks/>
          </p:cNvCxnSpPr>
          <p:nvPr/>
        </p:nvCxnSpPr>
        <p:spPr>
          <a:xfrm>
            <a:off x="15568704" y="4385678"/>
            <a:ext cx="73576" cy="8595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73A899-D534-D619-FC6C-3A516B82D192}"/>
              </a:ext>
            </a:extLst>
          </p:cNvPr>
          <p:cNvCxnSpPr>
            <a:cxnSpLocks/>
          </p:cNvCxnSpPr>
          <p:nvPr/>
        </p:nvCxnSpPr>
        <p:spPr>
          <a:xfrm flipH="1">
            <a:off x="8369492" y="4222884"/>
            <a:ext cx="72278" cy="8758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5293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AB217-5D68-4CCE-B81C-63A8EE1A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lógico de mensagens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E4386-AB49-4C28-8113-944DECCE9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modelo lógico de mensagens é um modo consistente e conveniente para representar diversos formatos de mensagem. </a:t>
            </a:r>
          </a:p>
          <a:p>
            <a:r>
              <a:rPr lang="pt-BR" dirty="0"/>
              <a:t>Como visto anteriormente, uma mensagem é processada pelo IBM Integration Bus em formato binário, o que torna quase impossivel para o desenvolvedor compreender o conteúdo da mensagem trafegada no message flow. </a:t>
            </a:r>
          </a:p>
          <a:p>
            <a:r>
              <a:rPr lang="pt-BR" dirty="0"/>
              <a:t>O ACE tem um recurso de parsing de mensagens, em que detalhes da mensagem física são representados em formato lógico (por exemplo, uma mensagem que internamente o ACE trata como bitstream, pode ser visualizada pelo desenvolvedor em formato XML ou JSon). </a:t>
            </a:r>
          </a:p>
          <a:p>
            <a:r>
              <a:rPr lang="pt-BR" dirty="0"/>
              <a:t>O resultado do processo de parsing é armazenado numa árvore de mensagens, estruturada em nível hierárquico (raiz fica no topo e níveis mais granulares mais abaixo. Dessa forma a mensagem é representada com os dados e seus relacionamentos.</a:t>
            </a:r>
          </a:p>
        </p:txBody>
      </p:sp>
    </p:spTree>
    <p:extLst>
      <p:ext uri="{BB962C8B-B14F-4D97-AF65-F5344CB8AC3E}">
        <p14:creationId xmlns:p14="http://schemas.microsoft.com/office/powerpoint/2010/main" val="3230167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858" y="1258532"/>
            <a:ext cx="7010990" cy="3244642"/>
          </a:xfrm>
        </p:spPr>
        <p:txBody>
          <a:bodyPr>
            <a:normAutofit/>
          </a:bodyPr>
          <a:lstStyle/>
          <a:p>
            <a:r>
              <a:rPr lang="pt-BR" dirty="0"/>
              <a:t>Recebendo uma mensagem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4E8E-AA8D-42E7-8805-CBB6C2952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862" y="4876800"/>
            <a:ext cx="7010988" cy="7570838"/>
          </a:xfrm>
        </p:spPr>
        <p:txBody>
          <a:bodyPr>
            <a:normAutofit/>
          </a:bodyPr>
          <a:lstStyle/>
          <a:p>
            <a:r>
              <a:rPr lang="pt-BR" sz="4800" dirty="0"/>
              <a:t>Quando um node recebe uma mensagem, é criada uma estrutura com quatro níveis principais: </a:t>
            </a:r>
            <a:r>
              <a:rPr lang="pt-BR" sz="4800" b="1" dirty="0"/>
              <a:t>Root</a:t>
            </a:r>
            <a:r>
              <a:rPr lang="pt-BR" sz="4800" dirty="0"/>
              <a:t>, </a:t>
            </a:r>
            <a:r>
              <a:rPr lang="pt-BR" sz="4800" b="1" dirty="0"/>
              <a:t>Environment</a:t>
            </a:r>
            <a:r>
              <a:rPr lang="pt-BR" sz="4800" dirty="0"/>
              <a:t>, </a:t>
            </a:r>
            <a:r>
              <a:rPr lang="pt-BR" sz="4800" b="1" dirty="0"/>
              <a:t>LocalEnvironment </a:t>
            </a:r>
            <a:r>
              <a:rPr lang="pt-BR" sz="4800" dirty="0"/>
              <a:t>e </a:t>
            </a:r>
            <a:r>
              <a:rPr lang="pt-BR" sz="4800" b="1" dirty="0"/>
              <a:t>ExceptionList</a:t>
            </a:r>
            <a:r>
              <a:rPr lang="pt-BR" sz="4800" dirty="0"/>
              <a:t>. </a:t>
            </a:r>
          </a:p>
          <a:p>
            <a:pPr marL="0" indent="0">
              <a:buNone/>
            </a:pPr>
            <a:endParaRPr lang="pt-BR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29532-E222-40E8-912A-D18069872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833" y="3274625"/>
            <a:ext cx="12646445" cy="733493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20916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Recebendo uma mensagem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4E8E-AA8D-42E7-8805-CBB6C2952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Ao realizar o processo de parsing e serialização (montagem da árvore), a estrutura </a:t>
            </a:r>
            <a:r>
              <a:rPr lang="pt-BR" b="1" dirty="0"/>
              <a:t>Root </a:t>
            </a:r>
            <a:r>
              <a:rPr lang="pt-BR" dirty="0"/>
              <a:t>é preenchida, e as demais estruturas inicialmente são criadas vazias. Em alguns casos essas estruturas vazias são preenchidas:</a:t>
            </a:r>
          </a:p>
          <a:p>
            <a:pPr lvl="1"/>
            <a:r>
              <a:rPr lang="pt-BR" dirty="0"/>
              <a:t>Por nodes alguns nodes que usam o </a:t>
            </a:r>
            <a:r>
              <a:rPr lang="pt-BR" b="1" dirty="0"/>
              <a:t>LocalEnvironment </a:t>
            </a:r>
            <a:r>
              <a:rPr lang="pt-BR" dirty="0"/>
              <a:t>(SoapRequest, HTTPRequest etc.) </a:t>
            </a:r>
          </a:p>
          <a:p>
            <a:pPr lvl="1"/>
            <a:r>
              <a:rPr lang="pt-BR" dirty="0"/>
              <a:t>Pelo integration node quando ocorre alguma exceção (</a:t>
            </a:r>
            <a:r>
              <a:rPr lang="pt-BR" b="1" dirty="0"/>
              <a:t>ExceptionList</a:t>
            </a:r>
            <a:r>
              <a:rPr lang="pt-BR" dirty="0"/>
              <a:t>) </a:t>
            </a:r>
          </a:p>
          <a:p>
            <a:pPr lvl="1"/>
            <a:r>
              <a:rPr lang="pt-BR" dirty="0"/>
              <a:t>Por instruções ESQL ou Java, em nodes Compute, JavaCompute, Filter ou Database (esses nodes podem acessar/alterar qualquer ponto da árvore de mensagens) </a:t>
            </a:r>
          </a:p>
          <a:p>
            <a:pPr lvl="1"/>
            <a:r>
              <a:rPr lang="pt-BR" dirty="0"/>
              <a:t>A estrutura </a:t>
            </a:r>
            <a:r>
              <a:rPr lang="pt-BR" b="1" dirty="0"/>
              <a:t>Root </a:t>
            </a:r>
            <a:r>
              <a:rPr lang="pt-BR" dirty="0"/>
              <a:t>e alguns pontos da estrutura </a:t>
            </a:r>
            <a:r>
              <a:rPr lang="pt-BR" b="1" dirty="0"/>
              <a:t>LocalEnvironment </a:t>
            </a:r>
            <a:r>
              <a:rPr lang="pt-BR" dirty="0"/>
              <a:t>podem ser alterados pelo node </a:t>
            </a:r>
            <a:r>
              <a:rPr lang="pt-BR" b="1" dirty="0"/>
              <a:t>Mapping</a:t>
            </a:r>
            <a:r>
              <a:rPr lang="pt-BR" dirty="0"/>
              <a:t>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15636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82596-3640-F9BC-57D1-BE3F44816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5" y="1913835"/>
            <a:ext cx="21711699" cy="11658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Recebendo uma mensagem BLOB (Binária)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B3CD4E-1CEF-D500-28A8-340311625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269" y="8193739"/>
            <a:ext cx="8122045" cy="4710785"/>
          </a:xfrm>
          <a:prstGeom prst="rect">
            <a:avLst/>
          </a:prstGeom>
          <a:ln>
            <a:solidFill>
              <a:srgbClr val="FF0000"/>
            </a:solidFill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697705-00A2-7174-A06D-35814D70775F}"/>
              </a:ext>
            </a:extLst>
          </p:cNvPr>
          <p:cNvSpPr/>
          <p:nvPr/>
        </p:nvSpPr>
        <p:spPr>
          <a:xfrm>
            <a:off x="16566775" y="3245464"/>
            <a:ext cx="6239435" cy="3962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9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F3BE268-E74C-9D68-84BE-FBF2E9636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5" y="1913835"/>
            <a:ext cx="21648705" cy="11658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Recebendo uma mensagem JSON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B3CD4E-1CEF-D500-28A8-340311625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269" y="8193739"/>
            <a:ext cx="8122045" cy="4710785"/>
          </a:xfrm>
          <a:prstGeom prst="rect">
            <a:avLst/>
          </a:prstGeom>
          <a:ln>
            <a:solidFill>
              <a:srgbClr val="FF0000"/>
            </a:solidFill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5CC12A-231F-7FA1-79B7-ACA5095C6BC2}"/>
              </a:ext>
            </a:extLst>
          </p:cNvPr>
          <p:cNvSpPr/>
          <p:nvPr/>
        </p:nvSpPr>
        <p:spPr>
          <a:xfrm>
            <a:off x="16566775" y="3245464"/>
            <a:ext cx="6239435" cy="3962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227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0F6075E-1A70-BCFA-527C-DD5BAC8C7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5" y="1913835"/>
            <a:ext cx="21669664" cy="11658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Recebendo uma mensagem XML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8A6086-F302-097A-5B8F-EC05C644F984}"/>
              </a:ext>
            </a:extLst>
          </p:cNvPr>
          <p:cNvSpPr/>
          <p:nvPr/>
        </p:nvSpPr>
        <p:spPr>
          <a:xfrm>
            <a:off x="16566775" y="3245464"/>
            <a:ext cx="6239435" cy="3962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4576CB-C1DA-C765-82E4-4AC3A2CC1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269" y="8193739"/>
            <a:ext cx="8122045" cy="4710785"/>
          </a:xfrm>
          <a:prstGeom prst="rect">
            <a:avLst/>
          </a:prstGeom>
          <a:ln>
            <a:solidFill>
              <a:srgbClr val="FF000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4454993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79B791-AAB4-FC21-A221-A1DFD4900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7" y="1913835"/>
            <a:ext cx="21627789" cy="11658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Recebendo uma mensagem DFDL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5CC12A-231F-7FA1-79B7-ACA5095C6BC2}"/>
              </a:ext>
            </a:extLst>
          </p:cNvPr>
          <p:cNvSpPr/>
          <p:nvPr/>
        </p:nvSpPr>
        <p:spPr>
          <a:xfrm>
            <a:off x="16566775" y="3245464"/>
            <a:ext cx="6239435" cy="3962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94C61C-AABA-42D3-9E1D-D380390CC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269" y="8193739"/>
            <a:ext cx="8122045" cy="4710785"/>
          </a:xfrm>
          <a:prstGeom prst="rect">
            <a:avLst/>
          </a:prstGeom>
          <a:ln>
            <a:solidFill>
              <a:srgbClr val="FF000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860034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810DAF0-220D-6512-2E55-151C6ED47404}"/>
              </a:ext>
            </a:extLst>
          </p:cNvPr>
          <p:cNvGrpSpPr/>
          <p:nvPr/>
        </p:nvGrpSpPr>
        <p:grpSpPr>
          <a:xfrm>
            <a:off x="654402" y="1913835"/>
            <a:ext cx="22818920" cy="5885459"/>
            <a:chOff x="-298976" y="1913835"/>
            <a:chExt cx="24417756" cy="629783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0F6075E-1A70-BCFA-527C-DD5BAC8C71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2569" b="54594"/>
            <a:stretch/>
          </p:blipFill>
          <p:spPr>
            <a:xfrm>
              <a:off x="12117512" y="2128983"/>
              <a:ext cx="5944294" cy="529378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DB716A-A2A0-97B5-5230-54D673F995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2516" b="47827"/>
            <a:stretch/>
          </p:blipFill>
          <p:spPr>
            <a:xfrm>
              <a:off x="18174486" y="2128983"/>
              <a:ext cx="5944294" cy="6082683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ABEB092-9EF4-BC1C-5879-CCD7948756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542" b="51979"/>
            <a:stretch/>
          </p:blipFill>
          <p:spPr>
            <a:xfrm>
              <a:off x="6060538" y="1913835"/>
              <a:ext cx="5944294" cy="559858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F578A1D-824F-BEE7-8870-0025E70094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1988" b="52749"/>
            <a:stretch/>
          </p:blipFill>
          <p:spPr>
            <a:xfrm>
              <a:off x="-298976" y="2128984"/>
              <a:ext cx="6081912" cy="550893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Lógico de Mensagem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C528A6-8000-91DA-58FA-AD41396D684F}"/>
              </a:ext>
            </a:extLst>
          </p:cNvPr>
          <p:cNvSpPr/>
          <p:nvPr/>
        </p:nvSpPr>
        <p:spPr>
          <a:xfrm>
            <a:off x="6597504" y="4141698"/>
            <a:ext cx="16747809" cy="1237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D880C0-8B69-C8A7-5623-06DB49B2EC6E}"/>
              </a:ext>
            </a:extLst>
          </p:cNvPr>
          <p:cNvSpPr/>
          <p:nvPr/>
        </p:nvSpPr>
        <p:spPr>
          <a:xfrm>
            <a:off x="7845933" y="6091520"/>
            <a:ext cx="2259106" cy="941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JSON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C8EE0E-07F3-447A-78E1-633724732964}"/>
              </a:ext>
            </a:extLst>
          </p:cNvPr>
          <p:cNvSpPr/>
          <p:nvPr/>
        </p:nvSpPr>
        <p:spPr>
          <a:xfrm>
            <a:off x="13814171" y="6091520"/>
            <a:ext cx="2259106" cy="941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XML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E0C97E-F5E4-B2DB-81EC-1D1F2C702354}"/>
              </a:ext>
            </a:extLst>
          </p:cNvPr>
          <p:cNvSpPr/>
          <p:nvPr/>
        </p:nvSpPr>
        <p:spPr>
          <a:xfrm>
            <a:off x="19285489" y="6091520"/>
            <a:ext cx="2259106" cy="941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Cobol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7FFB23-01CF-CE04-58F9-CEEFE13DB843}"/>
              </a:ext>
            </a:extLst>
          </p:cNvPr>
          <p:cNvSpPr/>
          <p:nvPr/>
        </p:nvSpPr>
        <p:spPr>
          <a:xfrm>
            <a:off x="2290862" y="6044563"/>
            <a:ext cx="2259106" cy="941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Binário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5CFB0D-94B2-462C-94DA-6352C5D933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23269" y="8193739"/>
            <a:ext cx="8122045" cy="4710785"/>
          </a:xfrm>
          <a:prstGeom prst="rect">
            <a:avLst/>
          </a:prstGeom>
          <a:ln>
            <a:solidFill>
              <a:srgbClr val="FF000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6374835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1150EBA-C08D-1585-F3ED-01548C54ABD2}"/>
              </a:ext>
            </a:extLst>
          </p:cNvPr>
          <p:cNvSpPr/>
          <p:nvPr/>
        </p:nvSpPr>
        <p:spPr>
          <a:xfrm>
            <a:off x="60760" y="98695"/>
            <a:ext cx="10732746" cy="13716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AB19F3-D1A9-413D-BF2E-3B4ADF63B701}"/>
              </a:ext>
            </a:extLst>
          </p:cNvPr>
          <p:cNvSpPr/>
          <p:nvPr/>
        </p:nvSpPr>
        <p:spPr>
          <a:xfrm>
            <a:off x="298146" y="367154"/>
            <a:ext cx="10208490" cy="1313369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547712-F58C-D0B6-01C3-CAE59802C7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746764"/>
              </p:ext>
            </p:extLst>
          </p:nvPr>
        </p:nvGraphicFramePr>
        <p:xfrm>
          <a:off x="11117680" y="1788651"/>
          <a:ext cx="12845696" cy="914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9F1FE841-7B87-A6C5-24C1-1BE58A7927D4}"/>
              </a:ext>
            </a:extLst>
          </p:cNvPr>
          <p:cNvGrpSpPr/>
          <p:nvPr/>
        </p:nvGrpSpPr>
        <p:grpSpPr>
          <a:xfrm>
            <a:off x="581014" y="592459"/>
            <a:ext cx="9607195" cy="12531081"/>
            <a:chOff x="1350393" y="1258533"/>
            <a:chExt cx="8692998" cy="113386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06BC45F-3DED-E6C5-A5B9-13765920DD00}"/>
                </a:ext>
              </a:extLst>
            </p:cNvPr>
            <p:cNvGrpSpPr/>
            <p:nvPr/>
          </p:nvGrpSpPr>
          <p:grpSpPr>
            <a:xfrm>
              <a:off x="1350393" y="1258533"/>
              <a:ext cx="4207940" cy="11338654"/>
              <a:chOff x="1368321" y="1258532"/>
              <a:chExt cx="5770215" cy="15548339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B744332-C3DC-D92C-D592-078BC58087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b="29980"/>
              <a:stretch/>
            </p:blipFill>
            <p:spPr>
              <a:xfrm>
                <a:off x="1368321" y="1258532"/>
                <a:ext cx="5770215" cy="8530927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08637D23-4FDD-16EC-5949-FEAAC61EBD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t="41063" r="2677"/>
              <a:stretch/>
            </p:blipFill>
            <p:spPr>
              <a:xfrm>
                <a:off x="1368321" y="9725958"/>
                <a:ext cx="5770215" cy="7080913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424CBFB-23A6-AE57-440C-E56AE7D9C2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382" r="3356"/>
            <a:stretch/>
          </p:blipFill>
          <p:spPr>
            <a:xfrm>
              <a:off x="6072102" y="2545943"/>
              <a:ext cx="3961910" cy="118836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011C3E0-57C5-02B8-0B95-7461073F13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3206"/>
            <a:stretch/>
          </p:blipFill>
          <p:spPr>
            <a:xfrm>
              <a:off x="6062562" y="3993948"/>
              <a:ext cx="3971449" cy="175127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360AC3E-DF74-9C79-6B32-26880E92FD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945" r="4539"/>
            <a:stretch/>
          </p:blipFill>
          <p:spPr>
            <a:xfrm>
              <a:off x="6056674" y="5958882"/>
              <a:ext cx="3977337" cy="163869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BDB1833-D80D-5A8C-8988-7BA5AEDA88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1352" r="6321"/>
            <a:stretch/>
          </p:blipFill>
          <p:spPr>
            <a:xfrm>
              <a:off x="6047293" y="7854693"/>
              <a:ext cx="3996098" cy="2251636"/>
            </a:xfrm>
            <a:prstGeom prst="rect">
              <a:avLst/>
            </a:prstGeom>
          </p:spPr>
        </p:pic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445A9EF0-394C-E101-F8E2-1510393EE168}"/>
                </a:ext>
              </a:extLst>
            </p:cNvPr>
            <p:cNvSpPr/>
            <p:nvPr/>
          </p:nvSpPr>
          <p:spPr>
            <a:xfrm>
              <a:off x="5835451" y="2506009"/>
              <a:ext cx="354590" cy="1274276"/>
            </a:xfrm>
            <a:prstGeom prst="leftBrac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Left Brace 13">
              <a:extLst>
                <a:ext uri="{FF2B5EF4-FFF2-40B4-BE49-F238E27FC236}">
                  <a16:creationId xmlns:a16="http://schemas.microsoft.com/office/drawing/2014/main" id="{5584DFA0-5BBF-6683-C793-9A3D51F804E8}"/>
                </a:ext>
              </a:extLst>
            </p:cNvPr>
            <p:cNvSpPr/>
            <p:nvPr/>
          </p:nvSpPr>
          <p:spPr>
            <a:xfrm>
              <a:off x="5835451" y="3973544"/>
              <a:ext cx="354590" cy="1816657"/>
            </a:xfrm>
            <a:prstGeom prst="leftBrac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eft Brace 14">
              <a:extLst>
                <a:ext uri="{FF2B5EF4-FFF2-40B4-BE49-F238E27FC236}">
                  <a16:creationId xmlns:a16="http://schemas.microsoft.com/office/drawing/2014/main" id="{4E058842-EC15-5F4B-D732-E7B936B75800}"/>
                </a:ext>
              </a:extLst>
            </p:cNvPr>
            <p:cNvSpPr/>
            <p:nvPr/>
          </p:nvSpPr>
          <p:spPr>
            <a:xfrm>
              <a:off x="5835451" y="5900520"/>
              <a:ext cx="354590" cy="1765094"/>
            </a:xfrm>
            <a:prstGeom prst="leftBrac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Left Brace 15">
              <a:extLst>
                <a:ext uri="{FF2B5EF4-FFF2-40B4-BE49-F238E27FC236}">
                  <a16:creationId xmlns:a16="http://schemas.microsoft.com/office/drawing/2014/main" id="{9739BFD9-8F44-CAA0-58FD-C2CC4F95B864}"/>
                </a:ext>
              </a:extLst>
            </p:cNvPr>
            <p:cNvSpPr/>
            <p:nvPr/>
          </p:nvSpPr>
          <p:spPr>
            <a:xfrm>
              <a:off x="5835451" y="7808769"/>
              <a:ext cx="354590" cy="2349185"/>
            </a:xfrm>
            <a:prstGeom prst="leftBrac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A12661C-F82C-CBC9-AF63-8AD9A9685064}"/>
                </a:ext>
              </a:extLst>
            </p:cNvPr>
            <p:cNvCxnSpPr>
              <a:endCxn id="13" idx="1"/>
            </p:cNvCxnSpPr>
            <p:nvPr/>
          </p:nvCxnSpPr>
          <p:spPr>
            <a:xfrm>
              <a:off x="2689412" y="2886635"/>
              <a:ext cx="3146039" cy="256512"/>
            </a:xfrm>
            <a:prstGeom prst="straightConnector1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F054849-A6AB-4FA4-E844-43725518C238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2689410" y="4378109"/>
              <a:ext cx="3146041" cy="503764"/>
            </a:xfrm>
            <a:prstGeom prst="straightConnector1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370A301-4078-77D8-ABF9-81C242DF6ABA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1927414" y="6262723"/>
              <a:ext cx="3908037" cy="520344"/>
            </a:xfrm>
            <a:prstGeom prst="straightConnector1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1C59D26-473B-0948-5641-0A9293344D31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2241176" y="7253247"/>
              <a:ext cx="3594275" cy="1730115"/>
            </a:xfrm>
            <a:prstGeom prst="straightConnector1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07226773-0862-58CB-6375-C6A5E28BE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3892" y="420235"/>
            <a:ext cx="9605358" cy="1448809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sym typeface="Helvetica Light"/>
              </a:rPr>
              <a:t>Nós (Nodes) do ACE</a:t>
            </a:r>
          </a:p>
        </p:txBody>
      </p:sp>
    </p:spTree>
    <p:extLst>
      <p:ext uri="{BB962C8B-B14F-4D97-AF65-F5344CB8AC3E}">
        <p14:creationId xmlns:p14="http://schemas.microsoft.com/office/powerpoint/2010/main" val="7662733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306E-1479-46E3-BB22-6F614812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 do node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29CCD-A213-4551-82E4-F42B72582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724" y="3140763"/>
            <a:ext cx="14156551" cy="743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015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306E-1479-46E3-BB22-6F614812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</a:t>
            </a:r>
          </a:p>
        </p:txBody>
      </p:sp>
      <p:pic>
        <p:nvPicPr>
          <p:cNvPr id="3" name="Picture 2" descr="Java Compute Node | TransformaTech">
            <a:extLst>
              <a:ext uri="{FF2B5EF4-FFF2-40B4-BE49-F238E27FC236}">
                <a16:creationId xmlns:a16="http://schemas.microsoft.com/office/drawing/2014/main" id="{9BD4F8B0-1197-C1AB-1FBF-3BD91BC6B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895" y="2228320"/>
            <a:ext cx="15186210" cy="1050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9386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DB4546-86D9-84E3-3FCB-CA7EBE75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5" y="1951940"/>
            <a:ext cx="21661749" cy="116206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B97EE1-D02E-7850-9D45-F91389D7942E}"/>
              </a:ext>
            </a:extLst>
          </p:cNvPr>
          <p:cNvSpPr/>
          <p:nvPr/>
        </p:nvSpPr>
        <p:spPr>
          <a:xfrm>
            <a:off x="6992470" y="8050305"/>
            <a:ext cx="6239435" cy="44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37BFEE-1BB6-EEED-89B9-5F48AF049C35}"/>
              </a:ext>
            </a:extLst>
          </p:cNvPr>
          <p:cNvSpPr/>
          <p:nvPr/>
        </p:nvSpPr>
        <p:spPr>
          <a:xfrm>
            <a:off x="14029764" y="8095128"/>
            <a:ext cx="6239435" cy="44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758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2867EF-49C6-550E-7BED-A28BD7302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4" y="1951940"/>
            <a:ext cx="21523419" cy="116206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822FE8-0740-BD6B-531B-7F52ACE42EE4}"/>
              </a:ext>
            </a:extLst>
          </p:cNvPr>
          <p:cNvSpPr/>
          <p:nvPr/>
        </p:nvSpPr>
        <p:spPr>
          <a:xfrm>
            <a:off x="13196047" y="3334870"/>
            <a:ext cx="376518" cy="627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746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D2E29A-1360-059A-3BA3-FD1F81B86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5" y="1951939"/>
            <a:ext cx="21523418" cy="115688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BD084-D2A5-1168-1EC8-905E90017B59}"/>
              </a:ext>
            </a:extLst>
          </p:cNvPr>
          <p:cNvSpPr/>
          <p:nvPr/>
        </p:nvSpPr>
        <p:spPr>
          <a:xfrm>
            <a:off x="6418729" y="6544235"/>
            <a:ext cx="10183906" cy="627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747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462D3F-0776-4419-D05E-41184CF76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4" y="1951939"/>
            <a:ext cx="21594411" cy="11568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BD084-D2A5-1168-1EC8-905E90017B59}"/>
              </a:ext>
            </a:extLst>
          </p:cNvPr>
          <p:cNvSpPr/>
          <p:nvPr/>
        </p:nvSpPr>
        <p:spPr>
          <a:xfrm>
            <a:off x="7243482" y="4836088"/>
            <a:ext cx="10183906" cy="627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14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CA2CDC-99F9-3486-331A-2D58C7F75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4" y="1942414"/>
            <a:ext cx="21594411" cy="115957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 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BD084-D2A5-1168-1EC8-905E90017B59}"/>
              </a:ext>
            </a:extLst>
          </p:cNvPr>
          <p:cNvSpPr/>
          <p:nvPr/>
        </p:nvSpPr>
        <p:spPr>
          <a:xfrm>
            <a:off x="6598023" y="3688605"/>
            <a:ext cx="14038730" cy="2263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194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C5DC10-B961-AB94-A859-D98629610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4" y="1942414"/>
            <a:ext cx="21594411" cy="115620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 (JSON) 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34EBE7-2E9B-29FE-AEF7-75A49F84B8A2}"/>
              </a:ext>
            </a:extLst>
          </p:cNvPr>
          <p:cNvSpPr/>
          <p:nvPr/>
        </p:nvSpPr>
        <p:spPr>
          <a:xfrm>
            <a:off x="6544234" y="3634817"/>
            <a:ext cx="14038730" cy="96019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549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F68F-2140-9DDB-2AB0-F2B78F48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Designer 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43409C-3109-1BC5-FDE8-4A684425E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7944"/>
            <a:ext cx="18322738" cy="1274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4492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9"/>
            <a:ext cx="21156706" cy="1151604"/>
          </a:xfrm>
        </p:spPr>
        <p:txBody>
          <a:bodyPr>
            <a:normAutofit/>
          </a:bodyPr>
          <a:lstStyle/>
          <a:p>
            <a:r>
              <a:rPr lang="pt-BR" sz="6000" dirty="0"/>
              <a:t>Conectores inteligentes nativos do IBM App Connect e Comunidade</a:t>
            </a: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08D1864C-2535-4272-E9F5-EEB17C53EA9F}"/>
              </a:ext>
            </a:extLst>
          </p:cNvPr>
          <p:cNvSpPr/>
          <p:nvPr/>
        </p:nvSpPr>
        <p:spPr>
          <a:xfrm>
            <a:off x="5109113" y="1618006"/>
            <a:ext cx="4289899" cy="4263253"/>
          </a:xfrm>
          <a:custGeom>
            <a:avLst/>
            <a:gdLst/>
            <a:ahLst/>
            <a:cxnLst/>
            <a:rect l="l" t="t" r="r" b="b"/>
            <a:pathLst>
              <a:path w="2146935" h="2133600">
                <a:moveTo>
                  <a:pt x="2146719" y="0"/>
                </a:moveTo>
                <a:lnTo>
                  <a:pt x="0" y="0"/>
                </a:lnTo>
                <a:lnTo>
                  <a:pt x="0" y="2133460"/>
                </a:lnTo>
                <a:lnTo>
                  <a:pt x="2146719" y="2133460"/>
                </a:lnTo>
                <a:lnTo>
                  <a:pt x="2146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857D9EFB-03D3-3E71-84E8-432D261E58B0}"/>
              </a:ext>
            </a:extLst>
          </p:cNvPr>
          <p:cNvSpPr/>
          <p:nvPr/>
        </p:nvSpPr>
        <p:spPr>
          <a:xfrm>
            <a:off x="5109113" y="5998827"/>
            <a:ext cx="4289899" cy="4263253"/>
          </a:xfrm>
          <a:custGeom>
            <a:avLst/>
            <a:gdLst/>
            <a:ahLst/>
            <a:cxnLst/>
            <a:rect l="l" t="t" r="r" b="b"/>
            <a:pathLst>
              <a:path w="2146935" h="2133600">
                <a:moveTo>
                  <a:pt x="2146706" y="0"/>
                </a:moveTo>
                <a:lnTo>
                  <a:pt x="0" y="0"/>
                </a:lnTo>
                <a:lnTo>
                  <a:pt x="0" y="2133460"/>
                </a:lnTo>
                <a:lnTo>
                  <a:pt x="2146706" y="2133460"/>
                </a:lnTo>
                <a:lnTo>
                  <a:pt x="21467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624B0AF2-4E4A-AC3B-EF97-2E6FE73E4519}"/>
              </a:ext>
            </a:extLst>
          </p:cNvPr>
          <p:cNvSpPr/>
          <p:nvPr/>
        </p:nvSpPr>
        <p:spPr>
          <a:xfrm>
            <a:off x="19645612" y="1610241"/>
            <a:ext cx="4289899" cy="3427097"/>
          </a:xfrm>
          <a:custGeom>
            <a:avLst/>
            <a:gdLst/>
            <a:ahLst/>
            <a:cxnLst/>
            <a:rect l="l" t="t" r="r" b="b"/>
            <a:pathLst>
              <a:path w="2146934" h="1715135">
                <a:moveTo>
                  <a:pt x="2146719" y="0"/>
                </a:moveTo>
                <a:lnTo>
                  <a:pt x="0" y="0"/>
                </a:lnTo>
                <a:lnTo>
                  <a:pt x="0" y="1714728"/>
                </a:lnTo>
                <a:lnTo>
                  <a:pt x="2146719" y="1714728"/>
                </a:lnTo>
                <a:lnTo>
                  <a:pt x="2146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2224205D-3D32-3EB4-3C07-1568ED0FE0BD}"/>
              </a:ext>
            </a:extLst>
          </p:cNvPr>
          <p:cNvSpPr/>
          <p:nvPr/>
        </p:nvSpPr>
        <p:spPr>
          <a:xfrm>
            <a:off x="10047280" y="1608819"/>
            <a:ext cx="4289899" cy="6262921"/>
          </a:xfrm>
          <a:custGeom>
            <a:avLst/>
            <a:gdLst/>
            <a:ahLst/>
            <a:cxnLst/>
            <a:rect l="l" t="t" r="r" b="b"/>
            <a:pathLst>
              <a:path w="2146934" h="3134360">
                <a:moveTo>
                  <a:pt x="2146719" y="0"/>
                </a:moveTo>
                <a:lnTo>
                  <a:pt x="0" y="0"/>
                </a:lnTo>
                <a:lnTo>
                  <a:pt x="0" y="3133940"/>
                </a:lnTo>
                <a:lnTo>
                  <a:pt x="2146719" y="3133940"/>
                </a:lnTo>
                <a:lnTo>
                  <a:pt x="2146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0" name="object 22">
            <a:extLst>
              <a:ext uri="{FF2B5EF4-FFF2-40B4-BE49-F238E27FC236}">
                <a16:creationId xmlns:a16="http://schemas.microsoft.com/office/drawing/2014/main" id="{AC9BD65C-001D-3826-4219-B664B877CC82}"/>
              </a:ext>
            </a:extLst>
          </p:cNvPr>
          <p:cNvSpPr/>
          <p:nvPr/>
        </p:nvSpPr>
        <p:spPr>
          <a:xfrm>
            <a:off x="13008057" y="8428941"/>
            <a:ext cx="1347592" cy="1324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1" name="object 26">
            <a:extLst>
              <a:ext uri="{FF2B5EF4-FFF2-40B4-BE49-F238E27FC236}">
                <a16:creationId xmlns:a16="http://schemas.microsoft.com/office/drawing/2014/main" id="{8BF88C17-AEE2-1466-682A-BBCFE5D12D9C}"/>
              </a:ext>
            </a:extLst>
          </p:cNvPr>
          <p:cNvSpPr/>
          <p:nvPr/>
        </p:nvSpPr>
        <p:spPr>
          <a:xfrm>
            <a:off x="13478599" y="11516599"/>
            <a:ext cx="901372" cy="8952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2" name="object 27">
            <a:extLst>
              <a:ext uri="{FF2B5EF4-FFF2-40B4-BE49-F238E27FC236}">
                <a16:creationId xmlns:a16="http://schemas.microsoft.com/office/drawing/2014/main" id="{9CEF5243-5AA2-D206-C2BB-3D82F206FFBD}"/>
              </a:ext>
            </a:extLst>
          </p:cNvPr>
          <p:cNvSpPr/>
          <p:nvPr/>
        </p:nvSpPr>
        <p:spPr>
          <a:xfrm>
            <a:off x="19633788" y="2821639"/>
            <a:ext cx="4452308" cy="5051194"/>
          </a:xfrm>
          <a:custGeom>
            <a:avLst/>
            <a:gdLst/>
            <a:ahLst/>
            <a:cxnLst/>
            <a:rect l="l" t="t" r="r" b="b"/>
            <a:pathLst>
              <a:path w="2228215" h="2527935">
                <a:moveTo>
                  <a:pt x="2227719" y="0"/>
                </a:moveTo>
                <a:lnTo>
                  <a:pt x="0" y="0"/>
                </a:lnTo>
                <a:lnTo>
                  <a:pt x="0" y="2527604"/>
                </a:lnTo>
                <a:lnTo>
                  <a:pt x="2227719" y="2527604"/>
                </a:lnTo>
                <a:lnTo>
                  <a:pt x="2227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3" name="object 30">
            <a:extLst>
              <a:ext uri="{FF2B5EF4-FFF2-40B4-BE49-F238E27FC236}">
                <a16:creationId xmlns:a16="http://schemas.microsoft.com/office/drawing/2014/main" id="{102B5F9D-1523-553A-321D-578BE5A2871E}"/>
              </a:ext>
            </a:extLst>
          </p:cNvPr>
          <p:cNvSpPr/>
          <p:nvPr/>
        </p:nvSpPr>
        <p:spPr>
          <a:xfrm>
            <a:off x="23008482" y="5061343"/>
            <a:ext cx="1157169" cy="1157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4" name="object 31">
            <a:extLst>
              <a:ext uri="{FF2B5EF4-FFF2-40B4-BE49-F238E27FC236}">
                <a16:creationId xmlns:a16="http://schemas.microsoft.com/office/drawing/2014/main" id="{3A67B0DB-5CFA-2471-4DD5-40082D2D86BD}"/>
              </a:ext>
            </a:extLst>
          </p:cNvPr>
          <p:cNvSpPr/>
          <p:nvPr/>
        </p:nvSpPr>
        <p:spPr>
          <a:xfrm>
            <a:off x="22578806" y="3018662"/>
            <a:ext cx="1462498" cy="5687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5" name="object 37">
            <a:extLst>
              <a:ext uri="{FF2B5EF4-FFF2-40B4-BE49-F238E27FC236}">
                <a16:creationId xmlns:a16="http://schemas.microsoft.com/office/drawing/2014/main" id="{FA81682F-EE81-2B57-CD65-0E292821C355}"/>
              </a:ext>
            </a:extLst>
          </p:cNvPr>
          <p:cNvSpPr/>
          <p:nvPr/>
        </p:nvSpPr>
        <p:spPr>
          <a:xfrm>
            <a:off x="22911034" y="9038348"/>
            <a:ext cx="1151078" cy="1151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6" name="object 39">
            <a:extLst>
              <a:ext uri="{FF2B5EF4-FFF2-40B4-BE49-F238E27FC236}">
                <a16:creationId xmlns:a16="http://schemas.microsoft.com/office/drawing/2014/main" id="{B23172F4-5021-CEA3-B9E8-E9AF3E63AA34}"/>
              </a:ext>
            </a:extLst>
          </p:cNvPr>
          <p:cNvSpPr/>
          <p:nvPr/>
        </p:nvSpPr>
        <p:spPr>
          <a:xfrm>
            <a:off x="23025993" y="1637077"/>
            <a:ext cx="1050510" cy="7940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BAE1824A-CDA1-A13B-68D6-F66DE74F02CF}"/>
              </a:ext>
            </a:extLst>
          </p:cNvPr>
          <p:cNvSpPr/>
          <p:nvPr/>
        </p:nvSpPr>
        <p:spPr>
          <a:xfrm>
            <a:off x="13591742" y="6972905"/>
            <a:ext cx="763544" cy="4275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8" name="object 43">
            <a:extLst>
              <a:ext uri="{FF2B5EF4-FFF2-40B4-BE49-F238E27FC236}">
                <a16:creationId xmlns:a16="http://schemas.microsoft.com/office/drawing/2014/main" id="{BDD59518-0946-0055-6FB5-4622E9AF529B}"/>
              </a:ext>
            </a:extLst>
          </p:cNvPr>
          <p:cNvSpPr/>
          <p:nvPr/>
        </p:nvSpPr>
        <p:spPr>
          <a:xfrm>
            <a:off x="18075291" y="4190421"/>
            <a:ext cx="1120625" cy="11145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9" name="object 44">
            <a:extLst>
              <a:ext uri="{FF2B5EF4-FFF2-40B4-BE49-F238E27FC236}">
                <a16:creationId xmlns:a16="http://schemas.microsoft.com/office/drawing/2014/main" id="{85293B2D-A35A-1E6C-A0F6-08050C64EC74}"/>
              </a:ext>
            </a:extLst>
          </p:cNvPr>
          <p:cNvSpPr/>
          <p:nvPr/>
        </p:nvSpPr>
        <p:spPr>
          <a:xfrm>
            <a:off x="12825396" y="3812822"/>
            <a:ext cx="1437325" cy="14373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0" name="object 46">
            <a:extLst>
              <a:ext uri="{FF2B5EF4-FFF2-40B4-BE49-F238E27FC236}">
                <a16:creationId xmlns:a16="http://schemas.microsoft.com/office/drawing/2014/main" id="{BFE603E5-097E-2732-29EA-D6BD593647A9}"/>
              </a:ext>
            </a:extLst>
          </p:cNvPr>
          <p:cNvSpPr/>
          <p:nvPr/>
        </p:nvSpPr>
        <p:spPr>
          <a:xfrm>
            <a:off x="18525974" y="7089434"/>
            <a:ext cx="615126" cy="61512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1" name="object 47">
            <a:extLst>
              <a:ext uri="{FF2B5EF4-FFF2-40B4-BE49-F238E27FC236}">
                <a16:creationId xmlns:a16="http://schemas.microsoft.com/office/drawing/2014/main" id="{1C228B69-264F-2CE7-2FE1-E5DB19218154}"/>
              </a:ext>
            </a:extLst>
          </p:cNvPr>
          <p:cNvSpPr/>
          <p:nvPr/>
        </p:nvSpPr>
        <p:spPr>
          <a:xfrm>
            <a:off x="13733496" y="1812695"/>
            <a:ext cx="667274" cy="66727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2" name="object 49">
            <a:extLst>
              <a:ext uri="{FF2B5EF4-FFF2-40B4-BE49-F238E27FC236}">
                <a16:creationId xmlns:a16="http://schemas.microsoft.com/office/drawing/2014/main" id="{F499665E-87E0-69EE-9AC0-5E3C69BC7764}"/>
              </a:ext>
            </a:extLst>
          </p:cNvPr>
          <p:cNvSpPr/>
          <p:nvPr/>
        </p:nvSpPr>
        <p:spPr>
          <a:xfrm>
            <a:off x="18398076" y="2091657"/>
            <a:ext cx="870922" cy="86483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3" name="object 50">
            <a:extLst>
              <a:ext uri="{FF2B5EF4-FFF2-40B4-BE49-F238E27FC236}">
                <a16:creationId xmlns:a16="http://schemas.microsoft.com/office/drawing/2014/main" id="{D74566A5-AF9B-5298-9324-B57D28ABF7D2}"/>
              </a:ext>
            </a:extLst>
          </p:cNvPr>
          <p:cNvSpPr/>
          <p:nvPr/>
        </p:nvSpPr>
        <p:spPr>
          <a:xfrm>
            <a:off x="22387212" y="8216737"/>
            <a:ext cx="1678446" cy="8392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4" name="object 51">
            <a:extLst>
              <a:ext uri="{FF2B5EF4-FFF2-40B4-BE49-F238E27FC236}">
                <a16:creationId xmlns:a16="http://schemas.microsoft.com/office/drawing/2014/main" id="{7D76C230-B8C0-6EE6-DB9C-F03F8C3AD6D0}"/>
              </a:ext>
            </a:extLst>
          </p:cNvPr>
          <p:cNvSpPr/>
          <p:nvPr/>
        </p:nvSpPr>
        <p:spPr>
          <a:xfrm>
            <a:off x="13721426" y="11074107"/>
            <a:ext cx="659745" cy="53285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5" name="object 52">
            <a:extLst>
              <a:ext uri="{FF2B5EF4-FFF2-40B4-BE49-F238E27FC236}">
                <a16:creationId xmlns:a16="http://schemas.microsoft.com/office/drawing/2014/main" id="{D6F1E928-476B-45F4-034D-B634D385C268}"/>
              </a:ext>
            </a:extLst>
          </p:cNvPr>
          <p:cNvSpPr/>
          <p:nvPr/>
        </p:nvSpPr>
        <p:spPr>
          <a:xfrm>
            <a:off x="18268504" y="7745328"/>
            <a:ext cx="949028" cy="56793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6" name="object 54">
            <a:extLst>
              <a:ext uri="{FF2B5EF4-FFF2-40B4-BE49-F238E27FC236}">
                <a16:creationId xmlns:a16="http://schemas.microsoft.com/office/drawing/2014/main" id="{2607E653-369B-C3AF-F6BC-3B9AED78A876}"/>
              </a:ext>
            </a:extLst>
          </p:cNvPr>
          <p:cNvSpPr/>
          <p:nvPr/>
        </p:nvSpPr>
        <p:spPr>
          <a:xfrm>
            <a:off x="8690041" y="1943079"/>
            <a:ext cx="919644" cy="91964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7" name="object 55">
            <a:extLst>
              <a:ext uri="{FF2B5EF4-FFF2-40B4-BE49-F238E27FC236}">
                <a16:creationId xmlns:a16="http://schemas.microsoft.com/office/drawing/2014/main" id="{EF9B18AF-6638-EC8A-17A2-66FBAE320794}"/>
              </a:ext>
            </a:extLst>
          </p:cNvPr>
          <p:cNvSpPr/>
          <p:nvPr/>
        </p:nvSpPr>
        <p:spPr>
          <a:xfrm>
            <a:off x="3580228" y="3222054"/>
            <a:ext cx="956187" cy="95618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8" name="object 61">
            <a:extLst>
              <a:ext uri="{FF2B5EF4-FFF2-40B4-BE49-F238E27FC236}">
                <a16:creationId xmlns:a16="http://schemas.microsoft.com/office/drawing/2014/main" id="{F1A32132-622C-3413-9AA4-F1D33403AC05}"/>
              </a:ext>
            </a:extLst>
          </p:cNvPr>
          <p:cNvSpPr/>
          <p:nvPr/>
        </p:nvSpPr>
        <p:spPr>
          <a:xfrm>
            <a:off x="8665680" y="3496120"/>
            <a:ext cx="919644" cy="91964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9" name="object 64">
            <a:extLst>
              <a:ext uri="{FF2B5EF4-FFF2-40B4-BE49-F238E27FC236}">
                <a16:creationId xmlns:a16="http://schemas.microsoft.com/office/drawing/2014/main" id="{36DF09B5-3D67-9BE2-F109-AD94B889903F}"/>
              </a:ext>
            </a:extLst>
          </p:cNvPr>
          <p:cNvSpPr/>
          <p:nvPr/>
        </p:nvSpPr>
        <p:spPr>
          <a:xfrm>
            <a:off x="8702225" y="7735014"/>
            <a:ext cx="870920" cy="86483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30" name="object 68">
            <a:extLst>
              <a:ext uri="{FF2B5EF4-FFF2-40B4-BE49-F238E27FC236}">
                <a16:creationId xmlns:a16="http://schemas.microsoft.com/office/drawing/2014/main" id="{E061A2AD-8332-F182-7DAB-C2CA66915025}"/>
              </a:ext>
            </a:extLst>
          </p:cNvPr>
          <p:cNvSpPr/>
          <p:nvPr/>
        </p:nvSpPr>
        <p:spPr>
          <a:xfrm>
            <a:off x="3747796" y="2075391"/>
            <a:ext cx="786203" cy="74784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31" name="object 69">
            <a:extLst>
              <a:ext uri="{FF2B5EF4-FFF2-40B4-BE49-F238E27FC236}">
                <a16:creationId xmlns:a16="http://schemas.microsoft.com/office/drawing/2014/main" id="{467CB393-CBCD-90E6-DEBB-5C001C79A8D8}"/>
              </a:ext>
            </a:extLst>
          </p:cNvPr>
          <p:cNvSpPr/>
          <p:nvPr/>
        </p:nvSpPr>
        <p:spPr>
          <a:xfrm>
            <a:off x="8560267" y="6434601"/>
            <a:ext cx="1016203" cy="45164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C03FEC-B525-9B68-9A46-F0141E9E47C9}"/>
              </a:ext>
            </a:extLst>
          </p:cNvPr>
          <p:cNvSpPr/>
          <p:nvPr/>
        </p:nvSpPr>
        <p:spPr>
          <a:xfrm>
            <a:off x="415364" y="1590914"/>
            <a:ext cx="4543164" cy="55614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BR" sz="2398" dirty="0">
                <a:latin typeface="IBM Plex Sans" panose="020B0503050203000203" pitchFamily="34" charset="0"/>
              </a:rPr>
              <a:t>Plataforma de Serviços de Conteúdo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Box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IBM FileNet 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MS SharePoint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CMIS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MS One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Drive  IBM MDM AE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Confluence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Dropbox 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Google Drive 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Google Sheets 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Salesforce Files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Salesforce Libraries 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WordPress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B196E2-1B04-A2E3-471F-7EB9FE8A619E}"/>
              </a:ext>
            </a:extLst>
          </p:cNvPr>
          <p:cNvSpPr/>
          <p:nvPr/>
        </p:nvSpPr>
        <p:spPr>
          <a:xfrm>
            <a:off x="5182267" y="1590915"/>
            <a:ext cx="4543164" cy="392424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>
                <a:latin typeface="IBM Plex Sans" panose="020B0503050203000203" pitchFamily="34" charset="0"/>
              </a:rPr>
              <a:t>Cognitive &amp; AI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Weather Data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Watson</a:t>
            </a:r>
          </a:p>
          <a:p>
            <a:r>
              <a:rPr lang="en-US" sz="2398">
                <a:latin typeface="IBM Plex Sans" panose="020B0503050203000203" pitchFamily="34" charset="0"/>
              </a:rPr>
              <a:t>Language  Translator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Watson Discovery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Watson Natural  </a:t>
            </a:r>
          </a:p>
          <a:p>
            <a:r>
              <a:rPr lang="en-US" sz="2398">
                <a:latin typeface="IBM Plex Sans" panose="020B0503050203000203" pitchFamily="34" charset="0"/>
              </a:rPr>
              <a:t>Language Classifier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Watson Tone Analyzer  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Watson Visual  Recognition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E56517-E7F0-FB21-0F76-68832BBB1FBD}"/>
              </a:ext>
            </a:extLst>
          </p:cNvPr>
          <p:cNvSpPr/>
          <p:nvPr/>
        </p:nvSpPr>
        <p:spPr>
          <a:xfrm>
            <a:off x="5182267" y="5708394"/>
            <a:ext cx="4543164" cy="58082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 dirty="0">
                <a:latin typeface="IBM Plex Sans" panose="020B0503050203000203" pitchFamily="34" charset="0"/>
              </a:rPr>
              <a:t>Banco de Dados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IBM Db2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Oracle DB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MS SQL Server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My SQL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IBM </a:t>
            </a:r>
            <a:r>
              <a:rPr lang="en-US" sz="2398" dirty="0" err="1">
                <a:latin typeface="IBM Plex Sans" panose="020B0503050203000203" pitchFamily="34" charset="0"/>
              </a:rPr>
              <a:t>Cloudant</a:t>
            </a:r>
            <a:endParaRPr lang="en-US" sz="2398" dirty="0">
              <a:latin typeface="IBM Plex Sans" panose="020B0503050203000203" pitchFamily="34" charset="0"/>
            </a:endParaRPr>
          </a:p>
          <a:p>
            <a:r>
              <a:rPr lang="en-US" sz="2398" dirty="0">
                <a:latin typeface="IBM Plex Sans" panose="020B0503050203000203" pitchFamily="34" charset="0"/>
              </a:rPr>
              <a:t>Redis (Azure, AWS, IBM)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Google Big Query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Couch DB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Couchbase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EISQL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HBase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HDFS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MongoDB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PostgreSQL</a:t>
            </a:r>
          </a:p>
          <a:p>
            <a:endParaRPr lang="en-US" sz="2398" dirty="0">
              <a:latin typeface="IBM Plex Sans" panose="020B050305020300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3DAD7C-2470-DE62-1A6B-42B0016A479C}"/>
              </a:ext>
            </a:extLst>
          </p:cNvPr>
          <p:cNvSpPr/>
          <p:nvPr/>
        </p:nvSpPr>
        <p:spPr>
          <a:xfrm>
            <a:off x="19657282" y="7317705"/>
            <a:ext cx="4543164" cy="49101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Collaboration &amp; Communication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MS Exchange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MS Office 365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MS Teams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Domino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Cisco WebEx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Slack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Gmail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Twilio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Twitter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Email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62ED2D-E8BF-0311-9811-8E209ADED4F3}"/>
              </a:ext>
            </a:extLst>
          </p:cNvPr>
          <p:cNvSpPr/>
          <p:nvPr/>
        </p:nvSpPr>
        <p:spPr>
          <a:xfrm>
            <a:off x="9984054" y="1644087"/>
            <a:ext cx="4543164" cy="47451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>
                <a:latin typeface="IBM Plex Sans" panose="020B0503050203000203" pitchFamily="34" charset="0"/>
              </a:rPr>
              <a:t>CRM</a:t>
            </a:r>
          </a:p>
          <a:p>
            <a:r>
              <a:rPr lang="en-US" sz="2398">
                <a:latin typeface="IBM Plex Sans" panose="020B0503050203000203" pitchFamily="34" charset="0"/>
              </a:rPr>
              <a:t>Salesforce</a:t>
            </a:r>
          </a:p>
          <a:p>
            <a:r>
              <a:rPr lang="en-US" sz="2398">
                <a:latin typeface="IBM Plex Sans" panose="020B0503050203000203" pitchFamily="34" charset="0"/>
              </a:rPr>
              <a:t>MS Dynamics 365 for Sales</a:t>
            </a:r>
          </a:p>
          <a:p>
            <a:r>
              <a:rPr lang="en-US" sz="2398">
                <a:latin typeface="IBM Plex Sans" panose="020B0503050203000203" pitchFamily="34" charset="0"/>
              </a:rPr>
              <a:t>Sugar CRM  </a:t>
            </a:r>
          </a:p>
          <a:p>
            <a:r>
              <a:rPr lang="en-US" sz="2398">
                <a:latin typeface="IBM Plex Sans" panose="020B0503050203000203" pitchFamily="34" charset="0"/>
              </a:rPr>
              <a:t>NetSuite CRM</a:t>
            </a:r>
          </a:p>
          <a:p>
            <a:r>
              <a:rPr lang="en-US" sz="2398">
                <a:latin typeface="IBM Plex Sans" panose="020B0503050203000203" pitchFamily="34" charset="0"/>
              </a:rPr>
              <a:t>Oracle Sales Cloud  </a:t>
            </a:r>
          </a:p>
          <a:p>
            <a:r>
              <a:rPr lang="en-US" sz="2398">
                <a:latin typeface="IBM Plex Sans" panose="020B0503050203000203" pitchFamily="34" charset="0"/>
              </a:rPr>
              <a:t>Zoho CRM</a:t>
            </a:r>
          </a:p>
          <a:p>
            <a:r>
              <a:rPr lang="en-US" sz="2398">
                <a:latin typeface="IBM Plex Sans" panose="020B0503050203000203" pitchFamily="34" charset="0"/>
              </a:rPr>
              <a:t>Insightly  </a:t>
            </a:r>
          </a:p>
          <a:p>
            <a:r>
              <a:rPr lang="en-US" sz="2398">
                <a:latin typeface="IBM Plex Sans" panose="020B0503050203000203" pitchFamily="34" charset="0"/>
              </a:rPr>
              <a:t>Intactt</a:t>
            </a:r>
          </a:p>
          <a:p>
            <a:r>
              <a:rPr lang="en-US" sz="2398">
                <a:latin typeface="IBM Plex Sans" panose="020B0503050203000203" pitchFamily="34" charset="0"/>
              </a:rPr>
              <a:t>HubSpot  </a:t>
            </a:r>
          </a:p>
          <a:p>
            <a:r>
              <a:rPr lang="en-US" sz="2398">
                <a:latin typeface="IBM Plex Sans" panose="020B0503050203000203" pitchFamily="34" charset="0"/>
              </a:rPr>
              <a:t>Infusionsoft</a:t>
            </a:r>
          </a:p>
          <a:p>
            <a:r>
              <a:rPr lang="en-US" sz="2398">
                <a:latin typeface="IBM Plex Sans" panose="020B0503050203000203" pitchFamily="34" charset="0"/>
              </a:rPr>
              <a:t>Apttus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12EA53-D8FC-2070-A452-9DBBC5D5FBE3}"/>
              </a:ext>
            </a:extLst>
          </p:cNvPr>
          <p:cNvSpPr/>
          <p:nvPr/>
        </p:nvSpPr>
        <p:spPr>
          <a:xfrm>
            <a:off x="9970550" y="6516035"/>
            <a:ext cx="4543164" cy="38621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>
                <a:latin typeface="IBM Plex Sans" panose="020B0503050203000203" pitchFamily="34" charset="0"/>
              </a:rPr>
              <a:t>ITSM</a:t>
            </a:r>
          </a:p>
          <a:p>
            <a:r>
              <a:rPr lang="en-US" sz="2398">
                <a:latin typeface="IBM Plex Sans" panose="020B0503050203000203" pitchFamily="34" charset="0"/>
              </a:rPr>
              <a:t>Service Now</a:t>
            </a:r>
          </a:p>
          <a:p>
            <a:r>
              <a:rPr lang="en-US" sz="2398">
                <a:latin typeface="IBM Plex Sans" panose="020B0503050203000203" pitchFamily="34" charset="0"/>
              </a:rPr>
              <a:t>Salesforce Service Cloud  </a:t>
            </a:r>
          </a:p>
          <a:p>
            <a:r>
              <a:rPr lang="en-US" sz="2398">
                <a:latin typeface="IBM Plex Sans" panose="020B0503050203000203" pitchFamily="34" charset="0"/>
              </a:rPr>
              <a:t>Jira</a:t>
            </a:r>
          </a:p>
          <a:p>
            <a:r>
              <a:rPr lang="en-US" sz="2398">
                <a:latin typeface="IBM Plex Sans" panose="020B0503050203000203" pitchFamily="34" charset="0"/>
              </a:rPr>
              <a:t>Oracle Service Cloud  </a:t>
            </a:r>
          </a:p>
          <a:p>
            <a:r>
              <a:rPr lang="en-US" sz="2398">
                <a:latin typeface="IBM Plex Sans" panose="020B0503050203000203" pitchFamily="34" charset="0"/>
              </a:rPr>
              <a:t>Zendesk</a:t>
            </a:r>
          </a:p>
          <a:p>
            <a:r>
              <a:rPr lang="en-US" sz="2398">
                <a:latin typeface="IBM Plex Sans" panose="020B0503050203000203" pitchFamily="34" charset="0"/>
              </a:rPr>
              <a:t>Fresh desk</a:t>
            </a:r>
          </a:p>
          <a:p>
            <a:r>
              <a:rPr lang="en-US" sz="2398">
                <a:latin typeface="IBM Plex Sans" panose="020B0503050203000203" pitchFamily="34" charset="0"/>
              </a:rPr>
              <a:t>Act-on  </a:t>
            </a:r>
          </a:p>
          <a:p>
            <a:r>
              <a:rPr lang="en-US" sz="2398">
                <a:latin typeface="IBM Plex Sans" panose="020B0503050203000203" pitchFamily="34" charset="0"/>
              </a:rPr>
              <a:t>Asana  </a:t>
            </a:r>
          </a:p>
          <a:p>
            <a:r>
              <a:rPr lang="en-US" sz="2398">
                <a:latin typeface="IBM Plex Sans" panose="020B0503050203000203" pitchFamily="34" charset="0"/>
              </a:rPr>
              <a:t>Trello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B95975-A86B-4C7E-7545-06E0E8BF9F2E}"/>
              </a:ext>
            </a:extLst>
          </p:cNvPr>
          <p:cNvSpPr/>
          <p:nvPr/>
        </p:nvSpPr>
        <p:spPr>
          <a:xfrm>
            <a:off x="19619228" y="1637078"/>
            <a:ext cx="4543164" cy="74001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IBM </a:t>
            </a:r>
            <a:r>
              <a:rPr lang="en-US" sz="2398" spc="40">
                <a:latin typeface="IBM Plex Sans" panose="020B0503050203000203" pitchFamily="34" charset="0"/>
                <a:cs typeface="Trebuchet MS"/>
              </a:rPr>
              <a:t>Food</a:t>
            </a:r>
            <a:r>
              <a:rPr lang="en-US" sz="2398" spc="-550">
                <a:latin typeface="IBM Plex Sans" panose="020B0503050203000203" pitchFamily="34" charset="0"/>
                <a:cs typeface="Trebuchet MS"/>
              </a:rPr>
              <a:t> </a:t>
            </a:r>
            <a:r>
              <a:rPr lang="en-US" sz="2398" spc="-20">
                <a:latin typeface="IBM Plex Sans" panose="020B0503050203000203" pitchFamily="34" charset="0"/>
                <a:cs typeface="Trebuchet MS"/>
              </a:rPr>
              <a:t>Trust</a:t>
            </a:r>
            <a:endParaRPr lang="en-US" sz="2398">
              <a:latin typeface="IBM Plex Sans" panose="020B0503050203000203" pitchFamily="34" charset="0"/>
              <a:cs typeface="Trebuchet M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17C289-A546-C99F-C033-B1346BE5E8F0}"/>
              </a:ext>
            </a:extLst>
          </p:cNvPr>
          <p:cNvSpPr/>
          <p:nvPr/>
        </p:nvSpPr>
        <p:spPr>
          <a:xfrm>
            <a:off x="14795416" y="1650401"/>
            <a:ext cx="4543164" cy="419263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Banking &amp; Finance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MS Dynamics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F&amp;O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NetSuite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Finance  </a:t>
            </a:r>
          </a:p>
          <a:p>
            <a:pPr>
              <a:spcBef>
                <a:spcPts val="200"/>
              </a:spcBef>
            </a:pPr>
            <a:r>
              <a:rPr lang="en-US" sz="2398" dirty="0" err="1">
                <a:latin typeface="IBM Plex Sans" panose="020B0503050203000203" pitchFamily="34" charset="0"/>
              </a:rPr>
              <a:t>Yapily</a:t>
            </a:r>
            <a:endParaRPr lang="en-US" sz="2398" dirty="0">
              <a:latin typeface="IBM Plex Sans" panose="020B0503050203000203" pitchFamily="34" charset="0"/>
            </a:endParaRP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QuickBooks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Online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SAP Concur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Stripe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F97B93-3263-8482-CAF4-81182C3BE987}"/>
              </a:ext>
            </a:extLst>
          </p:cNvPr>
          <p:cNvSpPr/>
          <p:nvPr/>
        </p:nvSpPr>
        <p:spPr>
          <a:xfrm>
            <a:off x="14795416" y="5998952"/>
            <a:ext cx="4543164" cy="663946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Enterprise Messaging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IBM MQ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IBM Event Streams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Kafka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Amazon SQS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Amazon SNS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Pub Sub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ActiveMQ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AMQP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Guava </a:t>
            </a:r>
          </a:p>
          <a:p>
            <a:pPr>
              <a:spcBef>
                <a:spcPts val="200"/>
              </a:spcBef>
            </a:pPr>
            <a:r>
              <a:rPr lang="en-US" sz="2398" dirty="0" err="1">
                <a:latin typeface="IBM Plex Sans" panose="020B0503050203000203" pitchFamily="34" charset="0"/>
              </a:rPr>
              <a:t>EventBus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pPr>
              <a:spcBef>
                <a:spcPts val="200"/>
              </a:spcBef>
            </a:pPr>
            <a:r>
              <a:rPr lang="en-US" sz="2398" dirty="0" err="1">
                <a:latin typeface="IBM Plex Sans" panose="020B0503050203000203" pitchFamily="34" charset="0"/>
              </a:rPr>
              <a:t>IronMQ</a:t>
            </a:r>
            <a:endParaRPr lang="en-US" sz="2398" dirty="0">
              <a:latin typeface="IBM Plex Sans" panose="020B0503050203000203" pitchFamily="34" charset="0"/>
            </a:endParaRP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JMS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RabbitMQ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Simple JMS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Spark</a:t>
            </a:r>
          </a:p>
          <a:p>
            <a:pPr marL="411099">
              <a:spcBef>
                <a:spcPts val="200"/>
              </a:spcBef>
            </a:pPr>
            <a:endParaRPr lang="en-US" sz="2398" spc="210" dirty="0">
              <a:latin typeface="IBM Plex Sans" panose="020B0503050203000203" pitchFamily="34" charset="0"/>
              <a:cs typeface="Trebuchet M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D04943-30DD-6A4C-1530-8F32DB590985}"/>
              </a:ext>
            </a:extLst>
          </p:cNvPr>
          <p:cNvSpPr/>
          <p:nvPr/>
        </p:nvSpPr>
        <p:spPr>
          <a:xfrm>
            <a:off x="9981408" y="10626177"/>
            <a:ext cx="4543164" cy="282184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E-Commerce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Shopify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Magento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Big Commerce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SAP Commerce Cloud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Salesforce Commerce Cloud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4C89A9-BB93-DC3F-7DFB-42AD00351B90}"/>
              </a:ext>
            </a:extLst>
          </p:cNvPr>
          <p:cNvSpPr/>
          <p:nvPr/>
        </p:nvSpPr>
        <p:spPr>
          <a:xfrm>
            <a:off x="19651368" y="2551773"/>
            <a:ext cx="4543164" cy="45861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Marketing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Marketo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Google Analytics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Salesforce Marketing Cloud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Salesforce Pardot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Eventbrite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Infusionsoft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Mailchimp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Wufoo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Acoustic Campaign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3A87D9B-FAB7-BFB9-F275-759722CF1F46}"/>
              </a:ext>
            </a:extLst>
          </p:cNvPr>
          <p:cNvSpPr/>
          <p:nvPr/>
        </p:nvSpPr>
        <p:spPr>
          <a:xfrm>
            <a:off x="423224" y="7317706"/>
            <a:ext cx="4543164" cy="532070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>
              <a:spcBef>
                <a:spcPts val="1099"/>
              </a:spcBef>
            </a:pPr>
            <a:r>
              <a:rPr lang="en-US" sz="2398" dirty="0" err="1">
                <a:latin typeface="IBM Plex Sans" panose="020B0503050203000203" pitchFamily="34" charset="0"/>
              </a:rPr>
              <a:t>Monitorações</a:t>
            </a:r>
            <a:r>
              <a:rPr lang="en-US" sz="2398" dirty="0">
                <a:latin typeface="IBM Plex Sans" panose="020B0503050203000203" pitchFamily="34" charset="0"/>
              </a:rPr>
              <a:t> &amp; </a:t>
            </a:r>
            <a:r>
              <a:rPr lang="en-US" sz="2398" dirty="0" err="1">
                <a:latin typeface="IBM Plex Sans" panose="020B0503050203000203" pitchFamily="34" charset="0"/>
              </a:rPr>
              <a:t>Notificações</a:t>
            </a:r>
            <a:endParaRPr lang="en-US" sz="2398" dirty="0">
              <a:latin typeface="IBM Plex Sans" panose="020B0503050203000203" pitchFamily="34" charset="0"/>
            </a:endParaRPr>
          </a:p>
          <a:p>
            <a:r>
              <a:rPr lang="en-US" sz="2398" dirty="0">
                <a:latin typeface="IBM Plex Sans" panose="020B0503050203000203" pitchFamily="34" charset="0"/>
              </a:rPr>
              <a:t>CM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SMS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Gateway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Facebook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IMAP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POP3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SMTP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SNMP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Splunk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Splunk HEC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Telegram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Twilio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Twitter</a:t>
            </a:r>
          </a:p>
        </p:txBody>
      </p:sp>
    </p:spTree>
    <p:extLst>
      <p:ext uri="{BB962C8B-B14F-4D97-AF65-F5344CB8AC3E}">
        <p14:creationId xmlns:p14="http://schemas.microsoft.com/office/powerpoint/2010/main" val="30781725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9"/>
            <a:ext cx="21156706" cy="1151604"/>
          </a:xfrm>
        </p:spPr>
        <p:txBody>
          <a:bodyPr>
            <a:normAutofit/>
          </a:bodyPr>
          <a:lstStyle/>
          <a:p>
            <a:r>
              <a:rPr lang="pt-BR" sz="6000" dirty="0"/>
              <a:t>Conectores inteligentes nativos do IBM App Connect e Comunidade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3AA571-F61D-AADE-D793-E991E7733E88}"/>
              </a:ext>
            </a:extLst>
          </p:cNvPr>
          <p:cNvSpPr/>
          <p:nvPr/>
        </p:nvSpPr>
        <p:spPr>
          <a:xfrm>
            <a:off x="318342" y="1488165"/>
            <a:ext cx="24074818" cy="12173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0904C923-74FC-A92F-14D6-4E904C029FF5}"/>
              </a:ext>
            </a:extLst>
          </p:cNvPr>
          <p:cNvSpPr/>
          <p:nvPr/>
        </p:nvSpPr>
        <p:spPr>
          <a:xfrm>
            <a:off x="5109113" y="1618006"/>
            <a:ext cx="4289899" cy="4263253"/>
          </a:xfrm>
          <a:custGeom>
            <a:avLst/>
            <a:gdLst/>
            <a:ahLst/>
            <a:cxnLst/>
            <a:rect l="l" t="t" r="r" b="b"/>
            <a:pathLst>
              <a:path w="2146935" h="2133600">
                <a:moveTo>
                  <a:pt x="2146719" y="0"/>
                </a:moveTo>
                <a:lnTo>
                  <a:pt x="0" y="0"/>
                </a:lnTo>
                <a:lnTo>
                  <a:pt x="0" y="2133460"/>
                </a:lnTo>
                <a:lnTo>
                  <a:pt x="2146719" y="2133460"/>
                </a:lnTo>
                <a:lnTo>
                  <a:pt x="2146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" name="object 14">
            <a:extLst>
              <a:ext uri="{FF2B5EF4-FFF2-40B4-BE49-F238E27FC236}">
                <a16:creationId xmlns:a16="http://schemas.microsoft.com/office/drawing/2014/main" id="{B8BEFD54-BD1A-47A4-92F7-E262B9FE6210}"/>
              </a:ext>
            </a:extLst>
          </p:cNvPr>
          <p:cNvSpPr/>
          <p:nvPr/>
        </p:nvSpPr>
        <p:spPr>
          <a:xfrm>
            <a:off x="15025186" y="5959112"/>
            <a:ext cx="4289899" cy="4263253"/>
          </a:xfrm>
          <a:custGeom>
            <a:avLst/>
            <a:gdLst/>
            <a:ahLst/>
            <a:cxnLst/>
            <a:rect l="l" t="t" r="r" b="b"/>
            <a:pathLst>
              <a:path w="2146934" h="2133600">
                <a:moveTo>
                  <a:pt x="2146706" y="0"/>
                </a:moveTo>
                <a:lnTo>
                  <a:pt x="0" y="0"/>
                </a:lnTo>
                <a:lnTo>
                  <a:pt x="0" y="2133460"/>
                </a:lnTo>
                <a:lnTo>
                  <a:pt x="2146706" y="2133460"/>
                </a:lnTo>
                <a:lnTo>
                  <a:pt x="21467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44" name="object 18">
            <a:extLst>
              <a:ext uri="{FF2B5EF4-FFF2-40B4-BE49-F238E27FC236}">
                <a16:creationId xmlns:a16="http://schemas.microsoft.com/office/drawing/2014/main" id="{F20A9AC6-3071-1A80-77EF-87A7527446BD}"/>
              </a:ext>
            </a:extLst>
          </p:cNvPr>
          <p:cNvSpPr/>
          <p:nvPr/>
        </p:nvSpPr>
        <p:spPr>
          <a:xfrm>
            <a:off x="10047280" y="1608819"/>
            <a:ext cx="4289899" cy="6262921"/>
          </a:xfrm>
          <a:custGeom>
            <a:avLst/>
            <a:gdLst/>
            <a:ahLst/>
            <a:cxnLst/>
            <a:rect l="l" t="t" r="r" b="b"/>
            <a:pathLst>
              <a:path w="2146934" h="3134360">
                <a:moveTo>
                  <a:pt x="2146719" y="0"/>
                </a:moveTo>
                <a:lnTo>
                  <a:pt x="0" y="0"/>
                </a:lnTo>
                <a:lnTo>
                  <a:pt x="0" y="3133940"/>
                </a:lnTo>
                <a:lnTo>
                  <a:pt x="2146719" y="3133940"/>
                </a:lnTo>
                <a:lnTo>
                  <a:pt x="2146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45" name="object 27">
            <a:extLst>
              <a:ext uri="{FF2B5EF4-FFF2-40B4-BE49-F238E27FC236}">
                <a16:creationId xmlns:a16="http://schemas.microsoft.com/office/drawing/2014/main" id="{5BD588A4-955B-318F-17E9-90AABF5C7E88}"/>
              </a:ext>
            </a:extLst>
          </p:cNvPr>
          <p:cNvSpPr/>
          <p:nvPr/>
        </p:nvSpPr>
        <p:spPr>
          <a:xfrm>
            <a:off x="19633788" y="2821639"/>
            <a:ext cx="4452308" cy="5051194"/>
          </a:xfrm>
          <a:custGeom>
            <a:avLst/>
            <a:gdLst/>
            <a:ahLst/>
            <a:cxnLst/>
            <a:rect l="l" t="t" r="r" b="b"/>
            <a:pathLst>
              <a:path w="2228215" h="2527935">
                <a:moveTo>
                  <a:pt x="2227719" y="0"/>
                </a:moveTo>
                <a:lnTo>
                  <a:pt x="0" y="0"/>
                </a:lnTo>
                <a:lnTo>
                  <a:pt x="0" y="2527604"/>
                </a:lnTo>
                <a:lnTo>
                  <a:pt x="2227719" y="2527604"/>
                </a:lnTo>
                <a:lnTo>
                  <a:pt x="2227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6FC2278-8860-42AE-2AEB-F540D5762FCD}"/>
              </a:ext>
            </a:extLst>
          </p:cNvPr>
          <p:cNvSpPr/>
          <p:nvPr/>
        </p:nvSpPr>
        <p:spPr>
          <a:xfrm>
            <a:off x="415364" y="1590914"/>
            <a:ext cx="4543164" cy="68380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BR" sz="2398" dirty="0">
                <a:latin typeface="IBM Plex Sans" panose="020B0503050203000203" pitchFamily="34" charset="0"/>
              </a:rPr>
              <a:t>Serviços Kubernetes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</a:t>
            </a:r>
            <a:r>
              <a:rPr lang="en-US" sz="2398" dirty="0" err="1">
                <a:latin typeface="IBM Plex Sans" panose="020B0503050203000203" pitchFamily="34" charset="0"/>
              </a:rPr>
              <a:t>ConfigMap</a:t>
            </a:r>
            <a:r>
              <a:rPr lang="en-US" sz="2398" dirty="0">
                <a:latin typeface="IBM Plex Sans" panose="020B0503050203000203" pitchFamily="34" charset="0"/>
              </a:rPr>
              <a:t>  Kubernetes Custom  Resources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Deployments  Kubernetes HPA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Job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Namespaces  Kubernetes Nodes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Persistent  Volume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Persistent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Volume Claim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Pods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Replication  Controller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Resources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Quota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Secrets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Service  Account</a:t>
            </a:r>
            <a:endParaRPr lang="en-BR" sz="2398" dirty="0">
              <a:latin typeface="IBM Plex Sans" panose="020B0503050203000203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24D033-D9ED-D6E1-5EF0-A592C8F18DE8}"/>
              </a:ext>
            </a:extLst>
          </p:cNvPr>
          <p:cNvSpPr/>
          <p:nvPr/>
        </p:nvSpPr>
        <p:spPr>
          <a:xfrm>
            <a:off x="409283" y="8757294"/>
            <a:ext cx="4543164" cy="275930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 dirty="0" err="1">
                <a:latin typeface="IBM Plex Sans" panose="020B0503050203000203" pitchFamily="34" charset="0"/>
              </a:rPr>
              <a:t>Serviços</a:t>
            </a:r>
            <a:r>
              <a:rPr lang="en-US" sz="2398" dirty="0">
                <a:latin typeface="IBM Plex Sans" panose="020B0503050203000203" pitchFamily="34" charset="0"/>
              </a:rPr>
              <a:t> OpenStack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OpenStack Cinder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OpenStack Glance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OpenStack Keystone  OpenStack Neutron  OpenStack Nova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OpenStack Swift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DA178A-19D1-5B0E-5C7D-26184E8AB2B4}"/>
              </a:ext>
            </a:extLst>
          </p:cNvPr>
          <p:cNvSpPr/>
          <p:nvPr/>
        </p:nvSpPr>
        <p:spPr>
          <a:xfrm>
            <a:off x="5182267" y="1590915"/>
            <a:ext cx="4543164" cy="62808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303250">
              <a:spcBef>
                <a:spcPts val="1250"/>
              </a:spcBef>
            </a:pPr>
            <a:r>
              <a:rPr lang="en-US" sz="2198" spc="-140" dirty="0" err="1">
                <a:latin typeface="Verdana"/>
                <a:cs typeface="Verdana"/>
              </a:rPr>
              <a:t>Serviços</a:t>
            </a:r>
            <a:r>
              <a:rPr lang="en-US" sz="2198" spc="-140" dirty="0">
                <a:latin typeface="Verdana"/>
                <a:cs typeface="Verdana"/>
              </a:rPr>
              <a:t> de Cloud </a:t>
            </a:r>
            <a:r>
              <a:rPr lang="en-US" sz="2198" spc="-140" dirty="0" err="1">
                <a:latin typeface="Verdana"/>
                <a:cs typeface="Verdana"/>
              </a:rPr>
              <a:t>Pública</a:t>
            </a:r>
            <a:r>
              <a:rPr lang="en-US" sz="2198" spc="-140" dirty="0">
                <a:latin typeface="Verdana"/>
                <a:cs typeface="Verdana"/>
              </a:rPr>
              <a:t> AWS</a:t>
            </a:r>
            <a:endParaRPr lang="en-US" sz="2198" dirty="0">
              <a:latin typeface="Verdana"/>
              <a:cs typeface="Verdana"/>
            </a:endParaRPr>
          </a:p>
          <a:p>
            <a:r>
              <a:rPr lang="en-US" sz="2398" dirty="0">
                <a:latin typeface="IBM Plex Sans" panose="020B0503050203000203" pitchFamily="34" charset="0"/>
              </a:rPr>
              <a:t>Athena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CloudWatch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DynamoDB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EC2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ECS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EKS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Event Bridge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Identity Access Management  Key Management Service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Kinesis  Lambda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S3 Storage Service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Security Token Service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Simple Email Service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Simple Notification Service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Simple Queue Service  Translate</a:t>
            </a:r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F9614D0B-B71F-EC93-523C-5C85241DD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506" y="3121068"/>
            <a:ext cx="919644" cy="895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object 52">
            <a:extLst>
              <a:ext uri="{FF2B5EF4-FFF2-40B4-BE49-F238E27FC236}">
                <a16:creationId xmlns:a16="http://schemas.microsoft.com/office/drawing/2014/main" id="{3F914029-84E2-50B1-EF45-5FB07F94FC58}"/>
              </a:ext>
            </a:extLst>
          </p:cNvPr>
          <p:cNvSpPr/>
          <p:nvPr/>
        </p:nvSpPr>
        <p:spPr>
          <a:xfrm>
            <a:off x="8554600" y="2314279"/>
            <a:ext cx="949028" cy="5679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1" name="object 38">
            <a:extLst>
              <a:ext uri="{FF2B5EF4-FFF2-40B4-BE49-F238E27FC236}">
                <a16:creationId xmlns:a16="http://schemas.microsoft.com/office/drawing/2014/main" id="{87959722-4734-8EA4-B238-2B39769C1568}"/>
              </a:ext>
            </a:extLst>
          </p:cNvPr>
          <p:cNvSpPr/>
          <p:nvPr/>
        </p:nvSpPr>
        <p:spPr>
          <a:xfrm>
            <a:off x="3495953" y="9272235"/>
            <a:ext cx="1456494" cy="7617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398"/>
          </a:p>
        </p:txBody>
      </p:sp>
      <p:sp>
        <p:nvSpPr>
          <p:cNvPr id="52" name="object 45">
            <a:extLst>
              <a:ext uri="{FF2B5EF4-FFF2-40B4-BE49-F238E27FC236}">
                <a16:creationId xmlns:a16="http://schemas.microsoft.com/office/drawing/2014/main" id="{A62F2F9A-ECB7-81D3-85E8-50125534837E}"/>
              </a:ext>
            </a:extLst>
          </p:cNvPr>
          <p:cNvSpPr/>
          <p:nvPr/>
        </p:nvSpPr>
        <p:spPr>
          <a:xfrm>
            <a:off x="8434093" y="9230082"/>
            <a:ext cx="1297247" cy="13033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3" name="object 48">
            <a:extLst>
              <a:ext uri="{FF2B5EF4-FFF2-40B4-BE49-F238E27FC236}">
                <a16:creationId xmlns:a16="http://schemas.microsoft.com/office/drawing/2014/main" id="{D2F2802D-345A-1441-C851-407938AB76F8}"/>
              </a:ext>
            </a:extLst>
          </p:cNvPr>
          <p:cNvSpPr/>
          <p:nvPr/>
        </p:nvSpPr>
        <p:spPr>
          <a:xfrm>
            <a:off x="8820148" y="8815709"/>
            <a:ext cx="777804" cy="4054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B063A6C-5795-C4AB-09BE-7CDF411B3101}"/>
              </a:ext>
            </a:extLst>
          </p:cNvPr>
          <p:cNvSpPr/>
          <p:nvPr/>
        </p:nvSpPr>
        <p:spPr>
          <a:xfrm>
            <a:off x="5209170" y="8006446"/>
            <a:ext cx="4543164" cy="306766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Enterprise Resource Planning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SAP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Workday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NetSuite ERP  </a:t>
            </a:r>
          </a:p>
          <a:p>
            <a:pPr>
              <a:spcBef>
                <a:spcPts val="200"/>
              </a:spcBef>
            </a:pPr>
            <a:r>
              <a:rPr lang="en-US" sz="2398" dirty="0" err="1">
                <a:latin typeface="IBM Plex Sans" panose="020B0503050203000203" pitchFamily="34" charset="0"/>
              </a:rPr>
              <a:t>Coupa</a:t>
            </a:r>
            <a:endParaRPr lang="en-US" sz="2398" dirty="0">
              <a:latin typeface="IBM Plex Sans" panose="020B0503050203000203" pitchFamily="34" charset="0"/>
            </a:endParaRP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Zuora</a:t>
            </a:r>
          </a:p>
        </p:txBody>
      </p:sp>
      <p:sp>
        <p:nvSpPr>
          <p:cNvPr id="55" name="object 60">
            <a:extLst>
              <a:ext uri="{FF2B5EF4-FFF2-40B4-BE49-F238E27FC236}">
                <a16:creationId xmlns:a16="http://schemas.microsoft.com/office/drawing/2014/main" id="{2AE54CA2-A371-F7A9-4CA3-D4BA0947D6AB}"/>
              </a:ext>
            </a:extLst>
          </p:cNvPr>
          <p:cNvSpPr/>
          <p:nvPr/>
        </p:nvSpPr>
        <p:spPr>
          <a:xfrm>
            <a:off x="3961087" y="11834070"/>
            <a:ext cx="919644" cy="9196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BB248BA-1E44-6A50-F64A-852DA8B8EB25}"/>
              </a:ext>
            </a:extLst>
          </p:cNvPr>
          <p:cNvSpPr/>
          <p:nvPr/>
        </p:nvSpPr>
        <p:spPr>
          <a:xfrm>
            <a:off x="409283" y="11661648"/>
            <a:ext cx="4543164" cy="119256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>
                <a:latin typeface="IBM Plex Sans" panose="020B0503050203000203" pitchFamily="34" charset="0"/>
              </a:rPr>
              <a:t>Cloud Storage</a:t>
            </a:r>
          </a:p>
          <a:p>
            <a:r>
              <a:rPr lang="en-US" sz="2398">
                <a:latin typeface="IBM Plex Sans" panose="020B0503050203000203" pitchFamily="34" charset="0"/>
              </a:rPr>
              <a:t>Amazon S3</a:t>
            </a:r>
          </a:p>
          <a:p>
            <a:r>
              <a:rPr lang="en-US" sz="2398">
                <a:latin typeface="IBM Plex Sans" panose="020B0503050203000203" pitchFamily="34" charset="0"/>
              </a:rPr>
              <a:t>IBM Cloud Object Store</a:t>
            </a:r>
          </a:p>
        </p:txBody>
      </p:sp>
      <p:sp>
        <p:nvSpPr>
          <p:cNvPr id="57" name="object 62">
            <a:extLst>
              <a:ext uri="{FF2B5EF4-FFF2-40B4-BE49-F238E27FC236}">
                <a16:creationId xmlns:a16="http://schemas.microsoft.com/office/drawing/2014/main" id="{7F5AA56A-9950-297C-B209-32DEAD40419F}"/>
              </a:ext>
            </a:extLst>
          </p:cNvPr>
          <p:cNvSpPr/>
          <p:nvPr/>
        </p:nvSpPr>
        <p:spPr>
          <a:xfrm>
            <a:off x="18358606" y="2211435"/>
            <a:ext cx="615126" cy="61512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8" name="object 63">
            <a:extLst>
              <a:ext uri="{FF2B5EF4-FFF2-40B4-BE49-F238E27FC236}">
                <a16:creationId xmlns:a16="http://schemas.microsoft.com/office/drawing/2014/main" id="{7AF63828-8362-CB48-E81D-2612CA16872F}"/>
              </a:ext>
            </a:extLst>
          </p:cNvPr>
          <p:cNvSpPr/>
          <p:nvPr/>
        </p:nvSpPr>
        <p:spPr>
          <a:xfrm>
            <a:off x="18154303" y="4749091"/>
            <a:ext cx="935301" cy="7700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FC24A9-F648-F3D0-0AF6-1CDE171CB93C}"/>
              </a:ext>
            </a:extLst>
          </p:cNvPr>
          <p:cNvSpPr/>
          <p:nvPr/>
        </p:nvSpPr>
        <p:spPr>
          <a:xfrm>
            <a:off x="14852691" y="1638041"/>
            <a:ext cx="4543164" cy="1180998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BR" sz="2398" dirty="0">
                <a:latin typeface="IBM Plex Sans" panose="020B0503050203000203" pitchFamily="34" charset="0"/>
              </a:rPr>
              <a:t>Endpoints Tecnologias e Protocolos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HTTP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SOAP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MS Active Directory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Website Crawler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SFTP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Open API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IBM Maximo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Siemens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Teamcenter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Generic JDBC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Atmos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Beanstalk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CMIS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CoaP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Docker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DNS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Elasticsearch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Etcd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Geocoder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Github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GraphQL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JT400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LDAP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Micrometer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Microprofile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Nagios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Netty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Paho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Pubnub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REST</a:t>
            </a:r>
            <a:endParaRPr lang="en-BR" sz="2398" dirty="0">
              <a:latin typeface="IBM Plex Sans" panose="020B0503050203000203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A2E972B-9B6D-B97B-D55D-231F8A5C2EF8}"/>
              </a:ext>
            </a:extLst>
          </p:cNvPr>
          <p:cNvSpPr/>
          <p:nvPr/>
        </p:nvSpPr>
        <p:spPr>
          <a:xfrm>
            <a:off x="19713785" y="1618006"/>
            <a:ext cx="4543164" cy="55686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BR" sz="2398" dirty="0">
                <a:latin typeface="IBM Plex Sans" panose="020B0503050203000203" pitchFamily="34" charset="0"/>
              </a:rPr>
              <a:t>Endpoints Tecnologias e Protocolos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Swagger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SSH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Solr</a:t>
            </a:r>
            <a:endParaRPr lang="en-US" sz="2398" dirty="0">
              <a:latin typeface="IBM Plex Sans" panose="020B0503050203000203" pitchFamily="34" charset="0"/>
            </a:endParaRPr>
          </a:p>
          <a:p>
            <a:r>
              <a:rPr lang="en-US" sz="2398" dirty="0">
                <a:latin typeface="IBM Plex Sans" panose="020B0503050203000203" pitchFamily="34" charset="0"/>
              </a:rPr>
              <a:t>Stomp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Vert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Zookeeper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AS2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FHIR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MLLP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OPCUA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Spring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Weather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XMPP</a:t>
            </a:r>
          </a:p>
          <a:p>
            <a:endParaRPr lang="en-US" sz="2398" dirty="0">
              <a:latin typeface="IBM Plex Sans" panose="020B0503050203000203" pitchFamily="34" charset="0"/>
            </a:endParaRPr>
          </a:p>
          <a:p>
            <a:endParaRPr lang="en-BR" sz="2398" dirty="0">
              <a:latin typeface="IBM Plex Sans" panose="020B0503050203000203" pitchFamily="34" charset="0"/>
            </a:endParaRPr>
          </a:p>
        </p:txBody>
      </p:sp>
      <p:sp>
        <p:nvSpPr>
          <p:cNvPr id="61" name="object 66">
            <a:extLst>
              <a:ext uri="{FF2B5EF4-FFF2-40B4-BE49-F238E27FC236}">
                <a16:creationId xmlns:a16="http://schemas.microsoft.com/office/drawing/2014/main" id="{3C7CAE93-EBAD-ABD2-24D9-8189792A12E0}"/>
              </a:ext>
            </a:extLst>
          </p:cNvPr>
          <p:cNvSpPr/>
          <p:nvPr/>
        </p:nvSpPr>
        <p:spPr>
          <a:xfrm>
            <a:off x="13030609" y="3414202"/>
            <a:ext cx="1297247" cy="12911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62" name="object 67">
            <a:extLst>
              <a:ext uri="{FF2B5EF4-FFF2-40B4-BE49-F238E27FC236}">
                <a16:creationId xmlns:a16="http://schemas.microsoft.com/office/drawing/2014/main" id="{472B7756-173B-6594-CD62-6103E0F679D9}"/>
              </a:ext>
            </a:extLst>
          </p:cNvPr>
          <p:cNvSpPr/>
          <p:nvPr/>
        </p:nvSpPr>
        <p:spPr>
          <a:xfrm>
            <a:off x="13129602" y="2458761"/>
            <a:ext cx="1246646" cy="48369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C43E64C-4CAF-8D35-7D8F-B5E41038F8AB}"/>
              </a:ext>
            </a:extLst>
          </p:cNvPr>
          <p:cNvSpPr/>
          <p:nvPr/>
        </p:nvSpPr>
        <p:spPr>
          <a:xfrm>
            <a:off x="9970550" y="1602897"/>
            <a:ext cx="4543164" cy="339427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>
                <a:latin typeface="IBM Plex Sans" panose="020B0503050203000203" pitchFamily="34" charset="0"/>
              </a:rPr>
              <a:t>Gerenciamento de Capital Humano</a:t>
            </a:r>
          </a:p>
          <a:p>
            <a:r>
              <a:rPr lang="en-US" sz="2398">
                <a:latin typeface="IBM Plex Sans" panose="020B0503050203000203" pitchFamily="34" charset="0"/>
              </a:rPr>
              <a:t>Workday  </a:t>
            </a:r>
          </a:p>
          <a:p>
            <a:r>
              <a:rPr lang="en-US" sz="2398">
                <a:latin typeface="IBM Plex Sans" panose="020B0503050203000203" pitchFamily="34" charset="0"/>
              </a:rPr>
              <a:t>Kronos</a:t>
            </a:r>
          </a:p>
          <a:p>
            <a:r>
              <a:rPr lang="en-US" sz="2398">
                <a:latin typeface="IBM Plex Sans" panose="020B0503050203000203" pitchFamily="34" charset="0"/>
              </a:rPr>
              <a:t>NetSuite Suitepeople </a:t>
            </a:r>
          </a:p>
          <a:p>
            <a:r>
              <a:rPr lang="en-US" sz="2398">
                <a:latin typeface="IBM Plex Sans" panose="020B0503050203000203" pitchFamily="34" charset="0"/>
              </a:rPr>
              <a:t>HCM  Peoplesoft</a:t>
            </a:r>
          </a:p>
          <a:p>
            <a:r>
              <a:rPr lang="en-US" sz="2398">
                <a:latin typeface="IBM Plex Sans" panose="020B0503050203000203" pitchFamily="34" charset="0"/>
              </a:rPr>
              <a:t>IBM </a:t>
            </a:r>
          </a:p>
          <a:p>
            <a:r>
              <a:rPr lang="en-US" sz="2398">
                <a:latin typeface="IBM Plex Sans" panose="020B0503050203000203" pitchFamily="34" charset="0"/>
              </a:rPr>
              <a:t>Cloudant  </a:t>
            </a:r>
          </a:p>
          <a:p>
            <a:r>
              <a:rPr lang="en-US" sz="2398">
                <a:latin typeface="IBM Plex Sans" panose="020B0503050203000203" pitchFamily="34" charset="0"/>
              </a:rPr>
              <a:t>Oracle Taleo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48483F6-8BC5-6C81-FD97-5DF6D1566919}"/>
              </a:ext>
            </a:extLst>
          </p:cNvPr>
          <p:cNvSpPr/>
          <p:nvPr/>
        </p:nvSpPr>
        <p:spPr>
          <a:xfrm>
            <a:off x="9976072" y="5177109"/>
            <a:ext cx="4543164" cy="432174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Atomic Number  </a:t>
            </a:r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List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Map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Multimap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Queue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Replicated Map  </a:t>
            </a:r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</a:t>
            </a:r>
            <a:r>
              <a:rPr lang="en-US" sz="2398" dirty="0" err="1">
                <a:latin typeface="IBM Plex Sans" panose="020B0503050203000203" pitchFamily="34" charset="0"/>
              </a:rPr>
              <a:t>Ringbuffer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SEDA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Set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Topic</a:t>
            </a:r>
          </a:p>
          <a:p>
            <a:endParaRPr lang="en-BR" sz="2398" dirty="0">
              <a:latin typeface="IBM Plex Sans" panose="020B0503050203000203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E416F61-65B4-65F6-6B39-2D14FDAEBCA0}"/>
              </a:ext>
            </a:extLst>
          </p:cNvPr>
          <p:cNvSpPr/>
          <p:nvPr/>
        </p:nvSpPr>
        <p:spPr>
          <a:xfrm>
            <a:off x="9965304" y="9689102"/>
            <a:ext cx="4543164" cy="339427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 dirty="0" err="1">
                <a:latin typeface="IBM Plex Sans" panose="020B0503050203000203" pitchFamily="34" charset="0"/>
                <a:cs typeface="Trebuchet MS"/>
              </a:rPr>
              <a:t>Serviços</a:t>
            </a: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 Cloud Google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</a:t>
            </a:r>
            <a:r>
              <a:rPr lang="en-US" sz="2398" dirty="0" err="1">
                <a:latin typeface="IBM Plex Sans" panose="020B0503050203000203" pitchFamily="34" charset="0"/>
              </a:rPr>
              <a:t>BigQuery</a:t>
            </a:r>
            <a:endParaRPr lang="en-US" sz="2398" dirty="0">
              <a:latin typeface="IBM Plex Sans" panose="020B0503050203000203" pitchFamily="34" charset="0"/>
            </a:endParaRP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</a:t>
            </a:r>
            <a:r>
              <a:rPr lang="en-US" sz="2398" dirty="0" err="1">
                <a:latin typeface="IBM Plex Sans" panose="020B0503050203000203" pitchFamily="34" charset="0"/>
              </a:rPr>
              <a:t>BigQuery</a:t>
            </a:r>
            <a:r>
              <a:rPr lang="en-US" sz="2398" dirty="0">
                <a:latin typeface="IBM Plex Sans" panose="020B0503050203000203" pitchFamily="34" charset="0"/>
              </a:rPr>
              <a:t> Standard  SQL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Calendar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Drive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Mail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</a:t>
            </a:r>
            <a:r>
              <a:rPr lang="en-US" sz="2398" dirty="0" err="1">
                <a:latin typeface="IBM Plex Sans" panose="020B0503050203000203" pitchFamily="34" charset="0"/>
              </a:rPr>
              <a:t>Pubsub</a:t>
            </a:r>
            <a:r>
              <a:rPr lang="en-US" sz="2398" dirty="0">
                <a:latin typeface="IBM Plex Sans" panose="020B0503050203000203" pitchFamily="34" charset="0"/>
              </a:rPr>
              <a:t>  Google Sheets</a:t>
            </a:r>
          </a:p>
        </p:txBody>
      </p:sp>
      <p:sp>
        <p:nvSpPr>
          <p:cNvPr id="66" name="object 31">
            <a:extLst>
              <a:ext uri="{FF2B5EF4-FFF2-40B4-BE49-F238E27FC236}">
                <a16:creationId xmlns:a16="http://schemas.microsoft.com/office/drawing/2014/main" id="{BA58485B-DAF9-CF4A-C490-3B827F422301}"/>
              </a:ext>
            </a:extLst>
          </p:cNvPr>
          <p:cNvSpPr/>
          <p:nvPr/>
        </p:nvSpPr>
        <p:spPr>
          <a:xfrm>
            <a:off x="12865358" y="11377280"/>
            <a:ext cx="1462498" cy="56873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83D9F9E-ED78-C532-949A-8F05A9BE9936}"/>
              </a:ext>
            </a:extLst>
          </p:cNvPr>
          <p:cNvSpPr/>
          <p:nvPr/>
        </p:nvSpPr>
        <p:spPr>
          <a:xfrm>
            <a:off x="19713785" y="7465759"/>
            <a:ext cx="4543164" cy="222334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 dirty="0" err="1">
                <a:latin typeface="IBM Plex Sans" panose="020B0503050203000203" pitchFamily="34" charset="0"/>
                <a:cs typeface="Trebuchet MS"/>
              </a:rPr>
              <a:t>Serviços</a:t>
            </a: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 Cloud </a:t>
            </a:r>
            <a:r>
              <a:rPr lang="en-US" sz="2398" spc="210" dirty="0" err="1">
                <a:latin typeface="IBM Plex Sans" panose="020B0503050203000203" pitchFamily="34" charset="0"/>
                <a:cs typeface="Trebuchet MS"/>
              </a:rPr>
              <a:t>Pública</a:t>
            </a: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 Azure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Azure Event Hubs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Azure Storage Blob Service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Azure Storage Queue Service</a:t>
            </a:r>
          </a:p>
        </p:txBody>
      </p:sp>
      <p:sp>
        <p:nvSpPr>
          <p:cNvPr id="68" name="object 50">
            <a:extLst>
              <a:ext uri="{FF2B5EF4-FFF2-40B4-BE49-F238E27FC236}">
                <a16:creationId xmlns:a16="http://schemas.microsoft.com/office/drawing/2014/main" id="{3B459D5E-471A-1548-947F-509D3DD11ABA}"/>
              </a:ext>
            </a:extLst>
          </p:cNvPr>
          <p:cNvSpPr/>
          <p:nvPr/>
        </p:nvSpPr>
        <p:spPr>
          <a:xfrm>
            <a:off x="22407649" y="8006446"/>
            <a:ext cx="1678446" cy="8392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15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A19FE19B-F778-E752-21BA-CF9C594A6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03" y="1811431"/>
            <a:ext cx="18703328" cy="1224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10F68F-2140-9DDB-2AB0-F2B78F48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Designer </a:t>
            </a:r>
            <a:endParaRPr lang="en-US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20D86769-B5B9-F368-4A64-6E52FD89D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8180" y="4572000"/>
            <a:ext cx="10535903" cy="883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4340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F68F-2140-9DDB-2AB0-F2B78F48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Designer </a:t>
            </a:r>
            <a:endParaRPr lang="en-US" dirty="0"/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6C6EE1CD-31B5-5BD0-4C13-4AA71A799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99" y="1811431"/>
            <a:ext cx="18478777" cy="1263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2555B4-F9CF-C750-F9DD-0DCE1D58D29F}"/>
              </a:ext>
            </a:extLst>
          </p:cNvPr>
          <p:cNvSpPr txBox="1"/>
          <p:nvPr/>
        </p:nvSpPr>
        <p:spPr>
          <a:xfrm>
            <a:off x="16925366" y="1166355"/>
            <a:ext cx="69745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IBM App Connect Designer é</a:t>
            </a:r>
          </a:p>
          <a:p>
            <a:r>
              <a:rPr lang="en-US" sz="4000" b="0" i="0" dirty="0" err="1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parte</a:t>
            </a:r>
            <a:r>
              <a:rPr lang="en-US" sz="40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 </a:t>
            </a:r>
            <a:r>
              <a:rPr lang="en-US" sz="4000" b="0" i="0" dirty="0" err="1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integrante</a:t>
            </a:r>
            <a:r>
              <a:rPr lang="en-US" sz="40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 </a:t>
            </a:r>
          </a:p>
          <a:p>
            <a:r>
              <a:rPr lang="en-US" sz="40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do ACE (CP4I)  </a:t>
            </a:r>
          </a:p>
          <a:p>
            <a:r>
              <a:rPr lang="en-US" sz="40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No IBM Cloud.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415551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99FE-AD52-BBBE-7E25-C219459C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6600" dirty="0">
                <a:latin typeface="Arial" panose="020B0604020202020204" pitchFamily="34" charset="0"/>
                <a:cs typeface="Arial" panose="020B0604020202020204" pitchFamily="34" charset="0"/>
              </a:rPr>
              <a:t>Integração de aplicações</a:t>
            </a:r>
            <a:br>
              <a:rPr lang="pt-BR" sz="6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6600" dirty="0">
                <a:latin typeface="Arial" panose="020B0604020202020204" pitchFamily="34" charset="0"/>
                <a:cs typeface="Arial" panose="020B0604020202020204" pitchFamily="34" charset="0"/>
              </a:rPr>
              <a:t>Integre aplicativos, crie APIs e atue em eventos</a:t>
            </a:r>
            <a:endParaRPr lang="en-US" sz="6600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CEC0B87-0EE5-5D7C-FC49-822A62F86468}"/>
              </a:ext>
            </a:extLst>
          </p:cNvPr>
          <p:cNvSpPr txBox="1">
            <a:spLocks/>
          </p:cNvSpPr>
          <p:nvPr/>
        </p:nvSpPr>
        <p:spPr>
          <a:xfrm>
            <a:off x="631022" y="3249014"/>
            <a:ext cx="9929824" cy="9194697"/>
          </a:xfrm>
          <a:prstGeom prst="rect">
            <a:avLst/>
          </a:prstGeom>
        </p:spPr>
        <p:txBody>
          <a:bodyPr/>
          <a:lstStyle>
            <a:lvl1pPr marL="439571" marR="0" indent="-439571" algn="l" defTabSz="619063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.AppleSystemUIFont" charset="-120"/>
              <a:buChar char="-"/>
              <a:tabLst/>
              <a:defRPr sz="21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IBM Plex Sans" charset="0"/>
                <a:cs typeface="IBM Plex Sans" charset="0"/>
                <a:sym typeface="HelvNeue Roman for IBM"/>
              </a:defRPr>
            </a:lvl1pPr>
            <a:lvl2pPr marL="915773" marR="0" indent="-439571" algn="l" defTabSz="619063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.AppleSystemUIFont" charset="-120"/>
              <a:buChar char="-"/>
              <a:tabLst/>
              <a:defRPr sz="21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IBM Plex Sans" charset="0"/>
                <a:cs typeface="IBM Plex Sans" charset="0"/>
                <a:sym typeface="HelvNeue Roman for IBM"/>
              </a:defRPr>
            </a:lvl2pPr>
            <a:lvl3pPr marL="1391975" marR="0" indent="-439571" algn="l" defTabSz="619063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.AppleSystemUIFont" charset="-120"/>
              <a:buChar char="-"/>
              <a:tabLst/>
              <a:defRPr sz="21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IBM Plex Sans" charset="0"/>
                <a:cs typeface="IBM Plex Sans" charset="0"/>
                <a:sym typeface="HelvNeue Roman for IBM"/>
              </a:defRPr>
            </a:lvl3pPr>
            <a:lvl4pPr marL="1868178" marR="0" indent="-439571" algn="l" defTabSz="619063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.AppleSystemUIFont" charset="-120"/>
              <a:buChar char="-"/>
              <a:tabLst/>
              <a:defRPr sz="21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IBM Plex Sans" charset="0"/>
                <a:cs typeface="IBM Plex Sans" charset="0"/>
                <a:sym typeface="HelvNeue Roman for IBM"/>
              </a:defRPr>
            </a:lvl4pPr>
            <a:lvl5pPr marL="2344380" marR="0" indent="-439571" algn="l" defTabSz="619063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.AppleSystemUIFont" charset="-120"/>
              <a:buChar char="-"/>
              <a:tabLst/>
              <a:defRPr sz="21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IBM Plex Sans" charset="0"/>
                <a:cs typeface="IBM Plex Sans" charset="0"/>
                <a:sym typeface="HelvNeue Roman for IBM"/>
              </a:defRPr>
            </a:lvl5pPr>
            <a:lvl6pPr marL="2820583" marR="0" indent="-439571" algn="l" defTabSz="619063" latinLnBrk="0">
              <a:lnSpc>
                <a:spcPct val="100000"/>
              </a:lnSpc>
              <a:spcBef>
                <a:spcPts val="3899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chemeClr val="accent1">
                    <a:hueOff val="-42353"/>
                    <a:satOff val="-12282"/>
                    <a:lumOff val="-14509"/>
                  </a:schemeClr>
                </a:solidFill>
                <a:uFillTx/>
                <a:latin typeface="+mn-lt"/>
                <a:ea typeface="+mn-ea"/>
                <a:cs typeface="+mn-cs"/>
                <a:sym typeface="HelvNeue Roman for IBM"/>
              </a:defRPr>
            </a:lvl6pPr>
            <a:lvl7pPr marL="3296785" marR="0" indent="-439571" algn="l" defTabSz="619063" latinLnBrk="0">
              <a:lnSpc>
                <a:spcPct val="100000"/>
              </a:lnSpc>
              <a:spcBef>
                <a:spcPts val="3899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chemeClr val="accent1">
                    <a:hueOff val="-42353"/>
                    <a:satOff val="-12282"/>
                    <a:lumOff val="-14509"/>
                  </a:schemeClr>
                </a:solidFill>
                <a:uFillTx/>
                <a:latin typeface="+mn-lt"/>
                <a:ea typeface="+mn-ea"/>
                <a:cs typeface="+mn-cs"/>
                <a:sym typeface="HelvNeue Roman for IBM"/>
              </a:defRPr>
            </a:lvl7pPr>
            <a:lvl8pPr marL="3772988" marR="0" indent="-439571" algn="l" defTabSz="619063" latinLnBrk="0">
              <a:lnSpc>
                <a:spcPct val="100000"/>
              </a:lnSpc>
              <a:spcBef>
                <a:spcPts val="3899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chemeClr val="accent1">
                    <a:hueOff val="-42353"/>
                    <a:satOff val="-12282"/>
                    <a:lumOff val="-14509"/>
                  </a:schemeClr>
                </a:solidFill>
                <a:uFillTx/>
                <a:latin typeface="+mn-lt"/>
                <a:ea typeface="+mn-ea"/>
                <a:cs typeface="+mn-cs"/>
                <a:sym typeface="HelvNeue Roman for IBM"/>
              </a:defRPr>
            </a:lvl8pPr>
            <a:lvl9pPr marL="4249190" marR="0" indent="-439571" algn="l" defTabSz="619063" latinLnBrk="0">
              <a:lnSpc>
                <a:spcPct val="100000"/>
              </a:lnSpc>
              <a:spcBef>
                <a:spcPts val="3899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chemeClr val="accent1">
                    <a:hueOff val="-42353"/>
                    <a:satOff val="-12282"/>
                    <a:lumOff val="-14509"/>
                  </a:schemeClr>
                </a:solidFill>
                <a:uFillTx/>
                <a:latin typeface="+mn-lt"/>
                <a:ea typeface="+mn-ea"/>
                <a:cs typeface="+mn-cs"/>
                <a:sym typeface="HelvNeue Roman for IBM"/>
              </a:defRPr>
            </a:lvl9pPr>
          </a:lstStyle>
          <a:p>
            <a:r>
              <a:rPr lang="pt-BR" sz="3197" dirty="0">
                <a:latin typeface="IBM Plex Sans" panose="020B0503050203000203" pitchFamily="34" charset="0"/>
              </a:rPr>
              <a:t>O IBM </a:t>
            </a:r>
            <a:r>
              <a:rPr lang="pt-BR" sz="3197" dirty="0" err="1">
                <a:latin typeface="IBM Plex Sans" panose="020B0503050203000203" pitchFamily="34" charset="0"/>
              </a:rPr>
              <a:t>App</a:t>
            </a:r>
            <a:r>
              <a:rPr lang="pt-BR" sz="3197" dirty="0">
                <a:latin typeface="IBM Plex Sans" panose="020B0503050203000203" pitchFamily="34" charset="0"/>
              </a:rPr>
              <a:t> Connect conecta seus aplicativos, eventos, dados e </a:t>
            </a:r>
            <a:r>
              <a:rPr lang="pt-BR" sz="3197" dirty="0" err="1">
                <a:latin typeface="IBM Plex Sans" panose="020B0503050203000203" pitchFamily="34" charset="0"/>
              </a:rPr>
              <a:t>APIs</a:t>
            </a:r>
            <a:r>
              <a:rPr lang="pt-BR" sz="3197" dirty="0">
                <a:latin typeface="IBM Plex Sans" panose="020B0503050203000203" pitchFamily="34" charset="0"/>
              </a:rPr>
              <a:t> para automatizar rapidamente seu cenário de negócios</a:t>
            </a:r>
          </a:p>
          <a:p>
            <a:pPr marL="456322" indent="-456322">
              <a:buFont typeface="Arial" panose="020B0604020202020204" pitchFamily="34" charset="0"/>
              <a:buChar char="•"/>
            </a:pPr>
            <a:r>
              <a:rPr lang="pt-BR" sz="3197" b="1" dirty="0">
                <a:latin typeface="IBM Plex Sans" panose="020B0503050203000203" pitchFamily="34" charset="0"/>
              </a:rPr>
              <a:t>Conectar</a:t>
            </a:r>
            <a:r>
              <a:rPr lang="pt-BR" sz="3197" dirty="0">
                <a:latin typeface="IBM Plex Sans" panose="020B0503050203000203" pitchFamily="34" charset="0"/>
              </a:rPr>
              <a:t> - conecte-se com segurança a centenas de aplicativos com conectores inteligentes prontos para usar</a:t>
            </a:r>
          </a:p>
          <a:p>
            <a:pPr marL="456322" indent="-456322">
              <a:buFont typeface="Arial" panose="020B0604020202020204" pitchFamily="34" charset="0"/>
              <a:buChar char="•"/>
            </a:pPr>
            <a:r>
              <a:rPr lang="pt-BR" sz="3197" b="1" dirty="0">
                <a:latin typeface="IBM Plex Sans" panose="020B0503050203000203" pitchFamily="34" charset="0"/>
              </a:rPr>
              <a:t>Transformar</a:t>
            </a:r>
            <a:r>
              <a:rPr lang="pt-BR" sz="3197" dirty="0">
                <a:latin typeface="IBM Plex Sans" panose="020B0503050203000203" pitchFamily="34" charset="0"/>
              </a:rPr>
              <a:t> - aproveite a IA para ajudar a mapear campos e estruturar de maneira inteligente o formato de suas informações</a:t>
            </a:r>
          </a:p>
          <a:p>
            <a:pPr marL="456322" indent="-456322">
              <a:buFont typeface="Arial" panose="020B0604020202020204" pitchFamily="34" charset="0"/>
              <a:buChar char="•"/>
            </a:pPr>
            <a:r>
              <a:rPr lang="pt-BR" sz="3197" b="1" dirty="0">
                <a:latin typeface="IBM Plex Sans" panose="020B0503050203000203" pitchFamily="34" charset="0"/>
              </a:rPr>
              <a:t>Testar</a:t>
            </a:r>
            <a:r>
              <a:rPr lang="pt-BR" sz="3197" dirty="0">
                <a:latin typeface="IBM Plex Sans" panose="020B0503050203000203" pitchFamily="34" charset="0"/>
              </a:rPr>
              <a:t> - valide fluxos e garanta a qualidade com depuração visual e casos de teste gerados como parte de pipelines automatizados</a:t>
            </a:r>
          </a:p>
          <a:p>
            <a:pPr marL="456322" indent="-456322">
              <a:buFont typeface="Arial" panose="020B0604020202020204" pitchFamily="34" charset="0"/>
              <a:buChar char="•"/>
            </a:pPr>
            <a:r>
              <a:rPr lang="pt-BR" sz="3197" b="1" dirty="0">
                <a:latin typeface="IBM Plex Sans" panose="020B0503050203000203" pitchFamily="34" charset="0"/>
              </a:rPr>
              <a:t>Operar</a:t>
            </a:r>
            <a:r>
              <a:rPr lang="pt-BR" sz="3197" dirty="0">
                <a:latin typeface="IBM Plex Sans" panose="020B0503050203000203" pitchFamily="34" charset="0"/>
              </a:rPr>
              <a:t> - visibilidade de ponta a ponta das operações de fluxo de integração de qualquer implantação - gerenciado em nuvem, nuvem privada, ESB ou microsserviço</a:t>
            </a:r>
          </a:p>
        </p:txBody>
      </p:sp>
      <p:pic>
        <p:nvPicPr>
          <p:cNvPr id="7" name="Content Placeholder 12">
            <a:extLst>
              <a:ext uri="{FF2B5EF4-FFF2-40B4-BE49-F238E27FC236}">
                <a16:creationId xmlns:a16="http://schemas.microsoft.com/office/drawing/2014/main" id="{577491AD-2172-2E15-075D-7BB523401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831" y="4019048"/>
            <a:ext cx="13349365" cy="7993471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31677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99FE-AD52-BBBE-7E25-C219459C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6600" dirty="0"/>
              <a:t>Assistente de Mapeamento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DD061-ACB2-16D5-009A-F12ED6D4C2F3}"/>
              </a:ext>
            </a:extLst>
          </p:cNvPr>
          <p:cNvSpPr/>
          <p:nvPr/>
        </p:nvSpPr>
        <p:spPr>
          <a:xfrm>
            <a:off x="608683" y="2860605"/>
            <a:ext cx="10860705" cy="8948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197" b="1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Pronto para usar 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– o algoritmo AI / ML é </a:t>
            </a:r>
            <a:r>
              <a:rPr lang="pt-BR" sz="3197" dirty="0" err="1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pré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-treinado para começar a trabalhar assim que você fizer e continua a melhorar as sugestões ao longo do tempo, à medida que adquire conhecimento comportamental de você</a:t>
            </a:r>
          </a:p>
          <a:p>
            <a:pPr>
              <a:defRPr/>
            </a:pPr>
            <a:endParaRPr lang="pt-BR" sz="3197" dirty="0">
              <a:solidFill>
                <a:schemeClr val="bg1">
                  <a:lumMod val="25000"/>
                </a:schemeClr>
              </a:solidFill>
              <a:latin typeface="IBM Plex Sans" panose="020B0503050203000203" pitchFamily="34" charset="0"/>
            </a:endParaRPr>
          </a:p>
          <a:p>
            <a:pPr>
              <a:defRPr/>
            </a:pPr>
            <a:r>
              <a:rPr lang="pt-BR" sz="3197" b="1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Abrangente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– o </a:t>
            </a:r>
            <a:r>
              <a:rPr lang="pt-BR" sz="3197" dirty="0" err="1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Mapping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</a:t>
            </a:r>
            <a:r>
              <a:rPr lang="pt-BR" sz="3197" dirty="0" err="1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Assist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considera todos os aplicativos em um fluxo ao oferecer sugestões de mapeamento, e não apenas o nó anterior em um fluxo</a:t>
            </a:r>
          </a:p>
          <a:p>
            <a:pPr>
              <a:defRPr/>
            </a:pPr>
            <a:endParaRPr lang="pt-BR" sz="3197" dirty="0">
              <a:solidFill>
                <a:schemeClr val="bg1">
                  <a:lumMod val="25000"/>
                </a:schemeClr>
              </a:solidFill>
              <a:latin typeface="IBM Plex Sans" panose="020B0503050203000203" pitchFamily="34" charset="0"/>
            </a:endParaRPr>
          </a:p>
          <a:p>
            <a:pPr>
              <a:defRPr/>
            </a:pPr>
            <a:r>
              <a:rPr lang="pt-BR" sz="3197" b="1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AI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– o algoritmo do </a:t>
            </a:r>
            <a:r>
              <a:rPr lang="pt-BR" sz="3197" dirty="0" err="1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Mapping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</a:t>
            </a:r>
            <a:r>
              <a:rPr lang="pt-BR" sz="3197" dirty="0" err="1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Assist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pode fornecer sugestões não apenas para estruturas planas, mas também para objetos complexos aninhados, matrizes e objetos personalizados</a:t>
            </a:r>
          </a:p>
          <a:p>
            <a:pPr>
              <a:defRPr/>
            </a:pPr>
            <a:endParaRPr lang="pt-BR" sz="3197" dirty="0">
              <a:solidFill>
                <a:schemeClr val="bg1">
                  <a:lumMod val="25000"/>
                </a:schemeClr>
              </a:solidFill>
              <a:latin typeface="IBM Plex Sans" panose="020B0503050203000203" pitchFamily="34" charset="0"/>
            </a:endParaRPr>
          </a:p>
          <a:p>
            <a:pPr>
              <a:defRPr/>
            </a:pPr>
            <a:r>
              <a:rPr lang="pt-BR" sz="3197" b="1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Privado e seguro 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– O modelo de IA é implementado onde suas integrações são executadas, a IBM nunca visualizará ou solicitará o compartilhamento de nenhum de seus dados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CB2F9C-5A6F-C999-C730-627324FB6956}"/>
              </a:ext>
            </a:extLst>
          </p:cNvPr>
          <p:cNvSpPr/>
          <p:nvPr/>
        </p:nvSpPr>
        <p:spPr>
          <a:xfrm>
            <a:off x="670617" y="1779794"/>
            <a:ext cx="23104701" cy="666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730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Aumente muito a produtividade de sua equipe com IA que simplifica o processo de integração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48FB244-1C7B-9703-955E-DFB1B130BAF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83408" y="3570583"/>
            <a:ext cx="10927120" cy="5767397"/>
          </a:xfrm>
          <a:prstGeom prst="rect">
            <a:avLst/>
          </a:prstGeom>
          <a:effectLst>
            <a:outerShdw blurRad="774700" dist="38100" dir="2700000" sx="101000" sy="101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428D685B-3856-F55D-2429-06A1CCAD465A}"/>
              </a:ext>
            </a:extLst>
          </p:cNvPr>
          <p:cNvSpPr/>
          <p:nvPr/>
        </p:nvSpPr>
        <p:spPr bwMode="auto">
          <a:xfrm>
            <a:off x="13271195" y="6604029"/>
            <a:ext cx="3234175" cy="2995052"/>
          </a:xfrm>
          <a:prstGeom prst="wedgeRectCallout">
            <a:avLst>
              <a:gd name="adj1" fmla="val -21248"/>
              <a:gd name="adj2" fmla="val -109442"/>
            </a:avLst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2711" tIns="182711" rIns="182711" bIns="182711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3197" dirty="0">
                <a:latin typeface="IBM Plex Sans Light" panose="020B0403050203000203" pitchFamily="34" charset="0"/>
              </a:rPr>
              <a:t>Dado que sabemos que o usuário está obtendo dados do MS Dynamics ...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5750A00E-C34D-5971-9659-B0992E7E8EF0}"/>
              </a:ext>
            </a:extLst>
          </p:cNvPr>
          <p:cNvSpPr/>
          <p:nvPr/>
        </p:nvSpPr>
        <p:spPr bwMode="auto">
          <a:xfrm>
            <a:off x="18955139" y="9078824"/>
            <a:ext cx="4022378" cy="2995053"/>
          </a:xfrm>
          <a:prstGeom prst="wedgeRectCallout">
            <a:avLst>
              <a:gd name="adj1" fmla="val -21248"/>
              <a:gd name="adj2" fmla="val -109442"/>
            </a:avLst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2711" tIns="182711" rIns="182711" bIns="182711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3197">
                <a:latin typeface="IBM Plex Sans Light" panose="020B0403050203000203" pitchFamily="34" charset="0"/>
              </a:rPr>
              <a:t>… Oferecemos sugestões de outros objetos no sistema de origem que ainda não estão na tela</a:t>
            </a:r>
          </a:p>
        </p:txBody>
      </p:sp>
    </p:spTree>
    <p:extLst>
      <p:ext uri="{BB962C8B-B14F-4D97-AF65-F5344CB8AC3E}">
        <p14:creationId xmlns:p14="http://schemas.microsoft.com/office/powerpoint/2010/main" val="39359009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99FE-AD52-BBBE-7E25-C219459C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6600" dirty="0"/>
              <a:t>Acessar e mover dados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FABE30-2EE8-2623-59EF-129E0EC86EEB}"/>
              </a:ext>
            </a:extLst>
          </p:cNvPr>
          <p:cNvSpPr/>
          <p:nvPr/>
        </p:nvSpPr>
        <p:spPr>
          <a:xfrm>
            <a:off x="11568753" y="2279597"/>
            <a:ext cx="11617387" cy="38167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sz="5398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23D4AC-EA27-67BA-6694-05EB3C9EB5AC}"/>
              </a:ext>
            </a:extLst>
          </p:cNvPr>
          <p:cNvSpPr/>
          <p:nvPr/>
        </p:nvSpPr>
        <p:spPr>
          <a:xfrm>
            <a:off x="11570530" y="6858007"/>
            <a:ext cx="11617387" cy="48920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sz="5398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2FF36B-2D32-156E-28D3-89CF343F6C84}"/>
              </a:ext>
            </a:extLst>
          </p:cNvPr>
          <p:cNvSpPr/>
          <p:nvPr/>
        </p:nvSpPr>
        <p:spPr>
          <a:xfrm>
            <a:off x="1196083" y="2303951"/>
            <a:ext cx="10372670" cy="9850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609036" algn="l"/>
              </a:tabLst>
            </a:pP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usuários podem implementar cópia de dados, sincronização de dados, migração de dados, enriquecimento de dados, padrões de integração de data </a:t>
            </a:r>
            <a:r>
              <a:rPr lang="pt-BR" sz="3730" dirty="0" err="1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lakes</a:t>
            </a:r>
            <a:endParaRPr lang="pt-BR" sz="3730" dirty="0">
              <a:latin typeface="IBM Plex Sans" panose="020B050305020300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6777" indent="-456777">
              <a:buFont typeface="Arial" panose="020B0604020202020204" pitchFamily="34" charset="0"/>
              <a:buChar char="•"/>
              <a:tabLst>
                <a:tab pos="609036" algn="l"/>
              </a:tabLst>
            </a:pP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conectores inteligentes são </a:t>
            </a:r>
            <a:r>
              <a:rPr lang="pt-BR" sz="3730" b="1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otimizados para oferecer suporte a APIs em massa e em batch</a:t>
            </a: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dependendo de qual </a:t>
            </a:r>
            <a:r>
              <a:rPr lang="pt-BR" sz="3730" dirty="0" err="1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endpoint</a:t>
            </a: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oferece suporte</a:t>
            </a:r>
          </a:p>
          <a:p>
            <a:pPr marL="456777" indent="-456777">
              <a:buFont typeface="Arial" panose="020B0604020202020204" pitchFamily="34" charset="0"/>
              <a:buChar char="•"/>
              <a:tabLst>
                <a:tab pos="609036" algn="l"/>
              </a:tabLst>
            </a:pP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Oferece arquitetura nativa em nuvem, </a:t>
            </a:r>
            <a:r>
              <a:rPr lang="pt-BR" sz="3730" b="1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processamento paralelo e alto volume </a:t>
            </a: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 escalonamento automático para oferecer suporte a desempenho de pico garantido</a:t>
            </a:r>
          </a:p>
          <a:p>
            <a:pPr marL="456777" indent="-456777">
              <a:buFont typeface="Arial" panose="020B0604020202020204" pitchFamily="34" charset="0"/>
              <a:buChar char="•"/>
              <a:tabLst>
                <a:tab pos="609036" algn="l"/>
              </a:tabLst>
            </a:pP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Suporta </a:t>
            </a:r>
            <a:r>
              <a:rPr lang="pt-BR" sz="3730" b="1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alta disponibilidade integrada, </a:t>
            </a:r>
            <a:r>
              <a:rPr lang="pt-BR" sz="3730" b="1" dirty="0" err="1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failover</a:t>
            </a:r>
            <a:r>
              <a:rPr lang="pt-BR" sz="3730" b="1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cursores inteligentes</a:t>
            </a: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garantir a eficiência ideal da plataforma</a:t>
            </a:r>
          </a:p>
          <a:p>
            <a:pPr marL="456777" indent="-456777">
              <a:buFont typeface="Arial" panose="020B0604020202020204" pitchFamily="34" charset="0"/>
              <a:buChar char="•"/>
              <a:tabLst>
                <a:tab pos="609036" algn="l"/>
              </a:tabLst>
            </a:pP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Comportamento de conector aprimorado para requisitos de </a:t>
            </a:r>
            <a:r>
              <a:rPr lang="pt-BR" sz="3730" b="1" dirty="0" err="1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crawling</a:t>
            </a:r>
            <a:r>
              <a:rPr lang="pt-BR" sz="3730" b="1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dados</a:t>
            </a:r>
          </a:p>
        </p:txBody>
      </p:sp>
    </p:spTree>
    <p:extLst>
      <p:ext uri="{BB962C8B-B14F-4D97-AF65-F5344CB8AC3E}">
        <p14:creationId xmlns:p14="http://schemas.microsoft.com/office/powerpoint/2010/main" val="5228064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99FE-AD52-BBBE-7E25-C219459C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6600" dirty="0"/>
              <a:t>IBM ACE (App Connect Enterprise) </a:t>
            </a:r>
            <a:r>
              <a:rPr lang="pt-BR" sz="6600" dirty="0">
                <a:sym typeface="Wingdings" panose="05000000000000000000" pitchFamily="2" charset="2"/>
              </a:rPr>
              <a:t> IBM APIC (Api Connect)</a:t>
            </a:r>
            <a:endParaRPr lang="pt-BR" sz="6600" dirty="0"/>
          </a:p>
        </p:txBody>
      </p:sp>
      <p:pic>
        <p:nvPicPr>
          <p:cNvPr id="13314" name="Picture 2" descr="Explore the new features in App Connect Enterprise version 11.0.0.5 -  Integration">
            <a:extLst>
              <a:ext uri="{FF2B5EF4-FFF2-40B4-BE49-F238E27FC236}">
                <a16:creationId xmlns:a16="http://schemas.microsoft.com/office/drawing/2014/main" id="{F8A6E80D-85F1-AC91-EFC7-4C7221B1A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047" y="2014067"/>
            <a:ext cx="18879671" cy="1134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0780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dirty="0" err="1">
                <a:solidFill>
                  <a:srgbClr val="FFFFFF"/>
                </a:solidFill>
              </a:rPr>
              <a:t>Arquitetura</a:t>
            </a:r>
            <a:endParaRPr lang="en-US" sz="9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08A166-767E-49D5-B8F0-1A9A051C6C0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953019" y="8827507"/>
            <a:ext cx="9294957" cy="47734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45562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E7C1-1FA7-4E9C-92D3-5875882C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36" y="1743077"/>
            <a:ext cx="22153032" cy="996950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Arquitetura - Overview</a:t>
            </a:r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68E42-AF8F-4079-99E8-5CE8672B016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74328" y="3221133"/>
            <a:ext cx="11237797" cy="82194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dirty="0"/>
              <a:t>IIB 10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C76D273-EACA-40E7-BB00-4191CB5B63BA}"/>
              </a:ext>
            </a:extLst>
          </p:cNvPr>
          <p:cNvSpPr txBox="1">
            <a:spLocks/>
          </p:cNvSpPr>
          <p:nvPr/>
        </p:nvSpPr>
        <p:spPr>
          <a:xfrm>
            <a:off x="13590493" y="3221134"/>
            <a:ext cx="9287781" cy="821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 lnSpcReduction="10000"/>
          </a:bodyPr>
          <a:lstStyle>
            <a:lvl1pPr marL="63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127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190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254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317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381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444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508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571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algn="ctr" hangingPunct="1">
              <a:buFontTx/>
              <a:buNone/>
            </a:pPr>
            <a:r>
              <a:rPr lang="pt-BR" dirty="0"/>
              <a:t>ACE 12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E0A2F5-EEEC-43C1-86D3-94D1875389FD}"/>
              </a:ext>
            </a:extLst>
          </p:cNvPr>
          <p:cNvCxnSpPr>
            <a:cxnSpLocks/>
          </p:cNvCxnSpPr>
          <p:nvPr/>
        </p:nvCxnSpPr>
        <p:spPr>
          <a:xfrm>
            <a:off x="12227860" y="3632108"/>
            <a:ext cx="0" cy="9833436"/>
          </a:xfrm>
          <a:prstGeom prst="line">
            <a:avLst/>
          </a:prstGeom>
          <a:noFill/>
          <a:ln w="508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5F008981-8DF6-4B4D-9B82-63343AD34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96" y="4101632"/>
            <a:ext cx="11237795" cy="9332256"/>
          </a:xfrm>
          <a:prstGeom prst="rect">
            <a:avLst/>
          </a:prstGeom>
        </p:spPr>
      </p:pic>
      <p:pic>
        <p:nvPicPr>
          <p:cNvPr id="4" name="Picture 2" descr="This diagram shows the main components of IBM App Connect Enterprise and how they interact.">
            <a:extLst>
              <a:ext uri="{FF2B5EF4-FFF2-40B4-BE49-F238E27FC236}">
                <a16:creationId xmlns:a16="http://schemas.microsoft.com/office/drawing/2014/main" id="{DCDDA1FA-EDD0-2D2B-881F-3FEF9B693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9330" y="4043082"/>
            <a:ext cx="10614266" cy="933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5008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E7C1-1FA7-4E9C-92D3-5875882C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36" y="1743077"/>
            <a:ext cx="22153032" cy="996950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Arquitetura - Overview</a:t>
            </a:r>
            <a:endParaRPr lang="pt-BR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C76D273-EACA-40E7-BB00-4191CB5B63BA}"/>
              </a:ext>
            </a:extLst>
          </p:cNvPr>
          <p:cNvSpPr txBox="1">
            <a:spLocks/>
          </p:cNvSpPr>
          <p:nvPr/>
        </p:nvSpPr>
        <p:spPr>
          <a:xfrm>
            <a:off x="1341799" y="3221134"/>
            <a:ext cx="9287781" cy="821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 lnSpcReduction="10000"/>
          </a:bodyPr>
          <a:lstStyle>
            <a:lvl1pPr marL="63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127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190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254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317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381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444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508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571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algn="ctr" hangingPunct="1">
              <a:buFontTx/>
              <a:buNone/>
            </a:pPr>
            <a:r>
              <a:rPr lang="pt-BR" dirty="0"/>
              <a:t>ACE 12</a:t>
            </a:r>
          </a:p>
        </p:txBody>
      </p:sp>
      <p:pic>
        <p:nvPicPr>
          <p:cNvPr id="4" name="Picture 2" descr="This diagram shows the main components of IBM App Connect Enterprise and how they interact.">
            <a:extLst>
              <a:ext uri="{FF2B5EF4-FFF2-40B4-BE49-F238E27FC236}">
                <a16:creationId xmlns:a16="http://schemas.microsoft.com/office/drawing/2014/main" id="{DCDDA1FA-EDD0-2D2B-881F-3FEF9B693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36" y="4043082"/>
            <a:ext cx="10614266" cy="933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BB0E53-87CD-99EC-802A-A933E217CA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5924222" y="6288182"/>
            <a:ext cx="7117977" cy="11116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B662B3-DE17-D3FF-494C-48F9697A4D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17150" r="54538" b="69326"/>
          <a:stretch/>
        </p:blipFill>
        <p:spPr>
          <a:xfrm>
            <a:off x="15924223" y="7420162"/>
            <a:ext cx="7117977" cy="11523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5BCEF9-7003-CD40-1A55-E40E19151F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44123" r="54538" b="42936"/>
          <a:stretch/>
        </p:blipFill>
        <p:spPr>
          <a:xfrm>
            <a:off x="15924222" y="8524400"/>
            <a:ext cx="7117977" cy="11026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1EADF4-0172-9419-FB7D-352B7DC762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82195" r="54538" b="2529"/>
          <a:stretch/>
        </p:blipFill>
        <p:spPr>
          <a:xfrm>
            <a:off x="15924224" y="11773630"/>
            <a:ext cx="7117977" cy="13015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41727A-28E1-75CE-2785-E074BA6149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0397" r="54538" b="56079"/>
          <a:stretch/>
        </p:blipFill>
        <p:spPr>
          <a:xfrm>
            <a:off x="15924222" y="10264702"/>
            <a:ext cx="7117977" cy="11523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CF6082-C04A-015D-2398-2B29506E59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3952" b="53710"/>
          <a:stretch/>
        </p:blipFill>
        <p:spPr>
          <a:xfrm>
            <a:off x="15994777" y="4654065"/>
            <a:ext cx="7978587" cy="10040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4E7F9C5-2800-B705-5948-39EA1CEB57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45533" b="12128"/>
          <a:stretch/>
        </p:blipFill>
        <p:spPr>
          <a:xfrm>
            <a:off x="15994777" y="3160735"/>
            <a:ext cx="7978587" cy="1004047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00D7128-0DBE-B233-411F-5EC185D92151}"/>
              </a:ext>
            </a:extLst>
          </p:cNvPr>
          <p:cNvSpPr/>
          <p:nvPr/>
        </p:nvSpPr>
        <p:spPr>
          <a:xfrm>
            <a:off x="4876800" y="7010400"/>
            <a:ext cx="1595718" cy="247650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FD1DE70-A919-8E77-A46F-D56395D56F8B}"/>
              </a:ext>
            </a:extLst>
          </p:cNvPr>
          <p:cNvSpPr/>
          <p:nvPr/>
        </p:nvSpPr>
        <p:spPr>
          <a:xfrm>
            <a:off x="4655820" y="8400574"/>
            <a:ext cx="746760" cy="51482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E13A25-C46B-E24B-E24A-C00416DF6919}"/>
              </a:ext>
            </a:extLst>
          </p:cNvPr>
          <p:cNvSpPr/>
          <p:nvPr/>
        </p:nvSpPr>
        <p:spPr>
          <a:xfrm>
            <a:off x="3436620" y="6586581"/>
            <a:ext cx="2080260" cy="271419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D81FB0-C76B-71B9-75E3-E6F6BD566A75}"/>
              </a:ext>
            </a:extLst>
          </p:cNvPr>
          <p:cNvSpPr/>
          <p:nvPr/>
        </p:nvSpPr>
        <p:spPr>
          <a:xfrm>
            <a:off x="3436620" y="10283752"/>
            <a:ext cx="2080260" cy="271419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2E811D-27A3-7652-0021-4AB1B22F8B7C}"/>
              </a:ext>
            </a:extLst>
          </p:cNvPr>
          <p:cNvSpPr/>
          <p:nvPr/>
        </p:nvSpPr>
        <p:spPr>
          <a:xfrm>
            <a:off x="7185660" y="7025640"/>
            <a:ext cx="1207098" cy="22860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A5CEAB-4A7D-F115-06D2-39B09B221C63}"/>
              </a:ext>
            </a:extLst>
          </p:cNvPr>
          <p:cNvSpPr/>
          <p:nvPr/>
        </p:nvSpPr>
        <p:spPr>
          <a:xfrm>
            <a:off x="7185660" y="10702449"/>
            <a:ext cx="1207098" cy="232251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7B3853-3C87-5102-D9C5-9C3D2D52A4FF}"/>
              </a:ext>
            </a:extLst>
          </p:cNvPr>
          <p:cNvSpPr/>
          <p:nvPr/>
        </p:nvSpPr>
        <p:spPr>
          <a:xfrm>
            <a:off x="7185660" y="8167981"/>
            <a:ext cx="1207098" cy="276842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97FFE54-C38F-9ABB-0EA5-577EC87F9CE3}"/>
              </a:ext>
            </a:extLst>
          </p:cNvPr>
          <p:cNvSpPr/>
          <p:nvPr/>
        </p:nvSpPr>
        <p:spPr>
          <a:xfrm>
            <a:off x="7185660" y="11834502"/>
            <a:ext cx="1207098" cy="276842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1F42EF5-3C7B-FA0D-0F8C-00EFC2EE5D0B}"/>
              </a:ext>
            </a:extLst>
          </p:cNvPr>
          <p:cNvSpPr/>
          <p:nvPr/>
        </p:nvSpPr>
        <p:spPr>
          <a:xfrm>
            <a:off x="4876800" y="10679516"/>
            <a:ext cx="1595718" cy="247650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243039-478A-F67B-0D9C-493E3B7C3AC3}"/>
              </a:ext>
            </a:extLst>
          </p:cNvPr>
          <p:cNvSpPr/>
          <p:nvPr/>
        </p:nvSpPr>
        <p:spPr>
          <a:xfrm>
            <a:off x="4655820" y="12069690"/>
            <a:ext cx="746760" cy="514825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827D6B-0232-6AED-FABC-5A8CFA651655}"/>
              </a:ext>
            </a:extLst>
          </p:cNvPr>
          <p:cNvSpPr/>
          <p:nvPr/>
        </p:nvSpPr>
        <p:spPr>
          <a:xfrm>
            <a:off x="2872740" y="9689607"/>
            <a:ext cx="2080260" cy="271419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70902BF-41E5-7A28-42DC-3475F0C50541}"/>
              </a:ext>
            </a:extLst>
          </p:cNvPr>
          <p:cNvSpPr/>
          <p:nvPr/>
        </p:nvSpPr>
        <p:spPr>
          <a:xfrm>
            <a:off x="15924221" y="3087051"/>
            <a:ext cx="6877721" cy="1077731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0FBF76F-D2B3-307F-5F79-3DBD62955A52}"/>
              </a:ext>
            </a:extLst>
          </p:cNvPr>
          <p:cNvSpPr/>
          <p:nvPr/>
        </p:nvSpPr>
        <p:spPr>
          <a:xfrm>
            <a:off x="15924221" y="4624722"/>
            <a:ext cx="6877721" cy="1077731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4A6F41-2AD2-91E0-F6E8-B80CF27B3B83}"/>
              </a:ext>
            </a:extLst>
          </p:cNvPr>
          <p:cNvSpPr/>
          <p:nvPr/>
        </p:nvSpPr>
        <p:spPr>
          <a:xfrm>
            <a:off x="15924221" y="6294411"/>
            <a:ext cx="6877721" cy="3332648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B9D1EA0-B119-739A-A338-A380314008C0}"/>
              </a:ext>
            </a:extLst>
          </p:cNvPr>
          <p:cNvSpPr/>
          <p:nvPr/>
        </p:nvSpPr>
        <p:spPr>
          <a:xfrm>
            <a:off x="15924221" y="10302004"/>
            <a:ext cx="6877721" cy="1077731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AD5364-1410-3AC0-AD93-C3CE219A9814}"/>
              </a:ext>
            </a:extLst>
          </p:cNvPr>
          <p:cNvSpPr/>
          <p:nvPr/>
        </p:nvSpPr>
        <p:spPr>
          <a:xfrm>
            <a:off x="15924221" y="11942098"/>
            <a:ext cx="6877721" cy="1077731"/>
          </a:xfrm>
          <a:prstGeom prst="rect">
            <a:avLst/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564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F7490BA4-22D8-6DB6-04CE-07C035C7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2" y="177210"/>
            <a:ext cx="24282293" cy="132509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A21DCE-D9BB-E7CD-E050-CC12C5C0BEB5}"/>
              </a:ext>
            </a:extLst>
          </p:cNvPr>
          <p:cNvSpPr/>
          <p:nvPr/>
        </p:nvSpPr>
        <p:spPr>
          <a:xfrm>
            <a:off x="376518" y="251011"/>
            <a:ext cx="10399058" cy="1739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Evolução do IIB </a:t>
            </a:r>
            <a:r>
              <a:rPr lang="pt-BR" dirty="0">
                <a:sym typeface="Wingdings" panose="05000000000000000000" pitchFamily="2" charset="2"/>
              </a:rPr>
              <a:t> ACE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44B36-A040-42E8-C2BC-39F47F99DC30}"/>
              </a:ext>
            </a:extLst>
          </p:cNvPr>
          <p:cNvSpPr/>
          <p:nvPr/>
        </p:nvSpPr>
        <p:spPr>
          <a:xfrm>
            <a:off x="20846302" y="0"/>
            <a:ext cx="3334871" cy="1077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9B65C95-FB41-36DF-C6D4-102B8B341F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49860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E7C1-1FA7-4E9C-92D3-5875882C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7200" dirty="0"/>
              <a:t>Utilização de aplicações em contêineres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68E42-AF8F-4079-99E8-5CE8672B0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3128" y="2994212"/>
            <a:ext cx="16244047" cy="9359714"/>
          </a:xfrm>
        </p:spPr>
        <p:txBody>
          <a:bodyPr anchor="t" anchorCtr="0"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Uma base de código comum para </a:t>
            </a:r>
            <a:r>
              <a:rPr lang="pt-BR" b="1" dirty="0"/>
              <a:t>integration servers</a:t>
            </a:r>
            <a:r>
              <a:rPr lang="pt-BR" dirty="0"/>
              <a:t>, independentemente de estarem associados a um integration node, ou não.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Os integration servers suportam todos os artefatos de integração comuns do IIBv10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Os integration servers associados a um “node” são controlados através do node.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Integration Servers independentes ou “stand-alone"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dirty="0"/>
              <a:t>São a escolha natural para execução em </a:t>
            </a:r>
            <a:r>
              <a:rPr lang="pt-BR" b="1" dirty="0"/>
              <a:t>Docker</a:t>
            </a:r>
            <a:r>
              <a:rPr lang="pt-BR" dirty="0"/>
              <a:t> (contêineres)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dirty="0"/>
              <a:t>São controlados por meio da console web ou pela API REST administrativa ("v2")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dirty="0"/>
              <a:t>Receba a configuração no momento da inicialização das opções no comando IntegrationServer / server.config.yaml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BA791-617B-421B-B253-3D24F1B20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3" y="3552827"/>
            <a:ext cx="6589573" cy="777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027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02E94-398D-43B6-9B61-12ABD5A41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774"/>
            <a:ext cx="24366879" cy="114328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BF058B-F42D-6550-E986-230256D6F0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82" t="3952" r="14763" b="53710"/>
          <a:stretch/>
        </p:blipFill>
        <p:spPr>
          <a:xfrm>
            <a:off x="10777317" y="7839553"/>
            <a:ext cx="3129183" cy="4713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40DFD3-DC75-261F-8BE5-CCFB233681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82" t="45533" b="12128"/>
          <a:stretch/>
        </p:blipFill>
        <p:spPr>
          <a:xfrm>
            <a:off x="12033747" y="4543499"/>
            <a:ext cx="3745506" cy="47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40345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E7C1-1FA7-4E9C-92D3-5875882C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36" y="1743077"/>
            <a:ext cx="22153032" cy="996950"/>
          </a:xfrm>
        </p:spPr>
        <p:txBody>
          <a:bodyPr>
            <a:noAutofit/>
          </a:bodyPr>
          <a:lstStyle/>
          <a:p>
            <a:r>
              <a:rPr lang="pt-BR" sz="8000" dirty="0"/>
              <a:t>YAML ??  O que é YAML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68E42-AF8F-4079-99E8-5CE8672B016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17177" y="3927943"/>
            <a:ext cx="11725836" cy="5860114"/>
          </a:xfrm>
        </p:spPr>
        <p:txBody>
          <a:bodyPr anchor="t" anchorCtr="0"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Um padrão de serialização de dados amigável para qualquer linguagem de programação.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O YAML foi criado especificamente para funcionar bem em casos de uso comum, como: arquivos de configuração, arquivos de log, mensagens entre processos, compartilhamento de dados entre linguagens, persistência de objetos e depuração de estruturas de dados complexas.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34BB51-F31A-4B4C-BC3F-17A4F133B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665" y="3552828"/>
            <a:ext cx="11135095" cy="5406558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FCD058-146C-411B-A647-488CE785D2A8}"/>
              </a:ext>
            </a:extLst>
          </p:cNvPr>
          <p:cNvSpPr txBox="1">
            <a:spLocks/>
          </p:cNvSpPr>
          <p:nvPr/>
        </p:nvSpPr>
        <p:spPr>
          <a:xfrm>
            <a:off x="717177" y="9108141"/>
            <a:ext cx="23308236" cy="422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 anchorCtr="0">
            <a:normAutofit/>
          </a:bodyPr>
          <a:lstStyle>
            <a:lvl1pPr marL="63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127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190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254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317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381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444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508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571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4000" dirty="0"/>
              <a:t>Quando os dados são fáceis de visualizar e entender, a programação se torna uma tarefa mais simples.</a:t>
            </a:r>
          </a:p>
          <a:p>
            <a:pPr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4000" dirty="0"/>
              <a:t>Resumidamente: </a:t>
            </a:r>
            <a:r>
              <a:rPr lang="pt-BR" sz="4000" b="1" dirty="0">
                <a:highlight>
                  <a:srgbClr val="FFFF00"/>
                </a:highlight>
              </a:rPr>
              <a:t>É usado para arquivos de configuração assim como o JSON e o XML</a:t>
            </a:r>
          </a:p>
          <a:p>
            <a:pPr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4000" dirty="0"/>
              <a:t>Um exemplo prático são os templates do AWS CloudFormation e Cloudfront que usam este formato ou então, JSON.</a:t>
            </a:r>
          </a:p>
        </p:txBody>
      </p:sp>
    </p:spTree>
    <p:extLst>
      <p:ext uri="{BB962C8B-B14F-4D97-AF65-F5344CB8AC3E}">
        <p14:creationId xmlns:p14="http://schemas.microsoft.com/office/powerpoint/2010/main" val="17864755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E7C1-1FA7-4E9C-92D3-5875882C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0"/>
            <a:ext cx="21156706" cy="2263961"/>
          </a:xfrm>
        </p:spPr>
        <p:txBody>
          <a:bodyPr>
            <a:normAutofit/>
          </a:bodyPr>
          <a:lstStyle/>
          <a:p>
            <a:r>
              <a:rPr lang="pt-BR" dirty="0"/>
              <a:t>App Connect Enterprise 12 Toolkit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9F193E-2E78-498B-BE6C-6AED33F38F1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8879" y="2190306"/>
            <a:ext cx="14015038" cy="10460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C46E6BF-C61D-BDF7-A4C3-2EB565ABEDFC}"/>
              </a:ext>
            </a:extLst>
          </p:cNvPr>
          <p:cNvSpPr txBox="1">
            <a:spLocks/>
          </p:cNvSpPr>
          <p:nvPr/>
        </p:nvSpPr>
        <p:spPr>
          <a:xfrm>
            <a:off x="788894" y="2190306"/>
            <a:ext cx="8208162" cy="1046047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 lnSpcReduction="20000"/>
          </a:bodyPr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O ACE 12 traz um Toolkit atualizado, com uma nova palheta de componentes (nodes).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Apresentando uma aparência moderna, que aumenta a produtividade do desenvolvimento, simplificando a criação de fluxos de mensagens e modelos de mensagens a partir do zero.</a:t>
            </a:r>
          </a:p>
        </p:txBody>
      </p:sp>
    </p:spTree>
    <p:extLst>
      <p:ext uri="{BB962C8B-B14F-4D97-AF65-F5344CB8AC3E}">
        <p14:creationId xmlns:p14="http://schemas.microsoft.com/office/powerpoint/2010/main" val="24417583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E7C1-1FA7-4E9C-92D3-5875882C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 User Interface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7ACB37-9896-4810-8680-892D716E3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2878" y="3052389"/>
            <a:ext cx="10822228" cy="490159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68E42-AF8F-4079-99E8-5CE8672B016A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88894" y="3052389"/>
            <a:ext cx="11582400" cy="9821863"/>
          </a:xfrm>
        </p:spPr>
        <p:txBody>
          <a:bodyPr anchor="t" anchorCtr="0"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A Web User Interface pode ser iniciada pelo Integration Toolkit.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E pode ser usar para executar  tarefas administrativas tais como: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dirty="0"/>
              <a:t>Iniciar, parar e gerenciar recursos implantados.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dirty="0"/>
              <a:t>Coletar e visualizar estatísticas de recursos para seus servidores de integração.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dirty="0"/>
              <a:t>Criar, recuperar, atualizar e excluir políticas operacionais.</a:t>
            </a:r>
          </a:p>
        </p:txBody>
      </p:sp>
    </p:spTree>
    <p:extLst>
      <p:ext uri="{BB962C8B-B14F-4D97-AF65-F5344CB8AC3E}">
        <p14:creationId xmlns:p14="http://schemas.microsoft.com/office/powerpoint/2010/main" val="16359423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E7C1-1FA7-4E9C-92D3-5875882C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1502" y="1258532"/>
            <a:ext cx="7334078" cy="33532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 User Interface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577D1452-F0B7-431E-9A24-D3F7103D8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5888" cy="13716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A660F4F9-5DF5-4F15-BE6A-CD8648BB1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422" y="1118814"/>
            <a:ext cx="13189044" cy="1147837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730F9F-9CE6-44D6-ABDF-8CC24FF57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284" y="2825001"/>
            <a:ext cx="12129320" cy="8065998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68E42-AF8F-4079-99E8-5CE8672B016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6091506" y="4876802"/>
            <a:ext cx="7334072" cy="7559040"/>
          </a:xfrm>
        </p:spPr>
        <p:txBody>
          <a:bodyPr vert="horz" lIns="91440" tIns="45720" rIns="91440" bIns="45720" rtlCol="0" anchorCtr="0">
            <a:normAutofit/>
          </a:bodyPr>
          <a:lstStyle/>
          <a:p>
            <a:pPr indent="-228600" defTabSz="914400"/>
            <a:r>
              <a:rPr lang="en-US" sz="5400" dirty="0"/>
              <a:t>A Web User Interface </a:t>
            </a:r>
            <a:r>
              <a:rPr lang="en-US" sz="5400" dirty="0" err="1"/>
              <a:t>está</a:t>
            </a:r>
            <a:r>
              <a:rPr lang="en-US" sz="5400" dirty="0"/>
              <a:t> </a:t>
            </a:r>
            <a:r>
              <a:rPr lang="en-US" sz="5400" dirty="0" err="1"/>
              <a:t>disponível</a:t>
            </a:r>
            <a:r>
              <a:rPr lang="en-US" sz="5400" dirty="0"/>
              <a:t> para </a:t>
            </a:r>
            <a:r>
              <a:rPr lang="en-US" sz="5400" dirty="0" err="1"/>
              <a:t>administrar</a:t>
            </a:r>
            <a:r>
              <a:rPr lang="en-US" sz="5400" dirty="0"/>
              <a:t> integration servers </a:t>
            </a:r>
            <a:r>
              <a:rPr lang="en-US" sz="5400" dirty="0" err="1"/>
              <a:t>gerenciados</a:t>
            </a:r>
            <a:r>
              <a:rPr lang="en-US" sz="5400" dirty="0"/>
              <a:t> (</a:t>
            </a:r>
            <a:r>
              <a:rPr lang="en-US" sz="5400" dirty="0" err="1"/>
              <a:t>ou</a:t>
            </a:r>
            <a:r>
              <a:rPr lang="en-US" sz="5400" dirty="0"/>
              <a:t> </a:t>
            </a:r>
            <a:r>
              <a:rPr lang="en-US" sz="5400" dirty="0" err="1"/>
              <a:t>não</a:t>
            </a:r>
            <a:r>
              <a:rPr lang="en-US" sz="5400" dirty="0"/>
              <a:t>) por um integration node. </a:t>
            </a:r>
          </a:p>
        </p:txBody>
      </p:sp>
    </p:spTree>
    <p:extLst>
      <p:ext uri="{BB962C8B-B14F-4D97-AF65-F5344CB8AC3E}">
        <p14:creationId xmlns:p14="http://schemas.microsoft.com/office/powerpoint/2010/main" val="28629276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F68F-2140-9DDB-2AB0-F2B78F48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Designer 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43409C-3109-1BC5-FDE8-4A684425E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7944"/>
            <a:ext cx="18322738" cy="1274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12">
            <a:extLst>
              <a:ext uri="{FF2B5EF4-FFF2-40B4-BE49-F238E27FC236}">
                <a16:creationId xmlns:a16="http://schemas.microsoft.com/office/drawing/2014/main" id="{D4A22745-F708-1B98-7193-B149EF81E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666" y="4915518"/>
            <a:ext cx="13349365" cy="7993471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593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463799-1B52-4BEB-969D-2BA8F407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Ambientes e perfis de usuários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3F4FA9-6C26-4657-80A6-34B13A217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3137648"/>
            <a:ext cx="10793506" cy="9359714"/>
          </a:xfrm>
        </p:spPr>
        <p:txBody>
          <a:bodyPr>
            <a:normAutofit/>
          </a:bodyPr>
          <a:lstStyle/>
          <a:p>
            <a:r>
              <a:rPr lang="pt-BR" sz="4800" dirty="0" err="1"/>
              <a:t>Dev</a:t>
            </a:r>
            <a:r>
              <a:rPr lang="pt-BR" sz="4800" dirty="0"/>
              <a:t> (</a:t>
            </a:r>
            <a:r>
              <a:rPr lang="pt-BR" sz="4800" dirty="0" err="1"/>
              <a:t>Application</a:t>
            </a:r>
            <a:r>
              <a:rPr lang="pt-BR" sz="4800" dirty="0"/>
              <a:t> </a:t>
            </a:r>
            <a:r>
              <a:rPr lang="pt-BR" sz="4800" dirty="0" err="1"/>
              <a:t>Developer</a:t>
            </a:r>
            <a:r>
              <a:rPr lang="pt-BR" sz="4800" dirty="0"/>
              <a:t>)</a:t>
            </a:r>
          </a:p>
          <a:p>
            <a:pPr lvl="1"/>
            <a:r>
              <a:rPr lang="pt-BR" sz="4000" dirty="0"/>
              <a:t>Desenvolve fluxo de mensagens, modelos de mensagens, etc.</a:t>
            </a:r>
          </a:p>
          <a:p>
            <a:pPr lvl="1"/>
            <a:r>
              <a:rPr lang="pt-BR" sz="4000" dirty="0"/>
              <a:t>Realiza testes unitários na máquina local.</a:t>
            </a:r>
          </a:p>
          <a:p>
            <a:pPr lvl="1"/>
            <a:r>
              <a:rPr lang="pt-BR" sz="4000" dirty="0"/>
              <a:t>Cria arquivos do tipo Broker Archive (BAR) contendo os recursos necessários para a solução de integração.</a:t>
            </a:r>
          </a:p>
          <a:p>
            <a:endParaRPr lang="pt-BR" sz="480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AC5D135-08E3-433D-BDA6-E01E1E9DF1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9995601"/>
              </p:ext>
            </p:extLst>
          </p:nvPr>
        </p:nvGraphicFramePr>
        <p:xfrm>
          <a:off x="2537011" y="9789457"/>
          <a:ext cx="19309978" cy="2952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8CEAE4B-45E0-411F-92B9-0E627A4735F1}"/>
              </a:ext>
            </a:extLst>
          </p:cNvPr>
          <p:cNvSpPr txBox="1">
            <a:spLocks/>
          </p:cNvSpPr>
          <p:nvPr/>
        </p:nvSpPr>
        <p:spPr>
          <a:xfrm>
            <a:off x="12192000" y="3137648"/>
            <a:ext cx="10793506" cy="9359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800" dirty="0" err="1"/>
              <a:t>Ops</a:t>
            </a:r>
            <a:r>
              <a:rPr lang="pt-BR" sz="4800" dirty="0"/>
              <a:t> (Administrador)</a:t>
            </a:r>
          </a:p>
          <a:p>
            <a:pPr lvl="1"/>
            <a:r>
              <a:rPr lang="pt-BR" sz="4000" dirty="0"/>
              <a:t>Customiza os arquivos BAR para o ambiente de destino (propriedades do fluxo de mensagem, incluindo filas, nomes de banco de dados, etc).</a:t>
            </a:r>
          </a:p>
          <a:p>
            <a:pPr lvl="1"/>
            <a:r>
              <a:rPr lang="pt-BR" sz="4000" dirty="0"/>
              <a:t>Realiza o deploy do arquivo BAR no “broker” de destino.</a:t>
            </a:r>
          </a:p>
          <a:p>
            <a:pPr lvl="1"/>
            <a:r>
              <a:rPr lang="pt-BR" sz="4000" dirty="0"/>
              <a:t>Gerenciamento e controle operacional do Broker.</a:t>
            </a:r>
          </a:p>
          <a:p>
            <a:pPr lvl="1"/>
            <a:r>
              <a:rPr lang="pt-BR" sz="4000" dirty="0"/>
              <a:t>Monitoramento</a:t>
            </a:r>
          </a:p>
          <a:p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6807191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F925-8B86-4AB9-8BF1-61B29938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Procedimento de deploy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3AF97-9A0E-4222-91C6-BDBCA5E10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Deploy a partir…</a:t>
            </a:r>
          </a:p>
          <a:p>
            <a:pPr lvl="1"/>
            <a:r>
              <a:rPr lang="pt-BR" dirty="0"/>
              <a:t>Toolkit (Interface gráfica)</a:t>
            </a:r>
          </a:p>
          <a:p>
            <a:pPr lvl="1"/>
            <a:r>
              <a:rPr lang="pt-BR" dirty="0"/>
              <a:t>Web User Interface (WebUI)</a:t>
            </a:r>
          </a:p>
          <a:p>
            <a:pPr lvl="1"/>
            <a:r>
              <a:rPr lang="pt-BR" dirty="0"/>
              <a:t>Command line (script)</a:t>
            </a:r>
          </a:p>
          <a:p>
            <a:pPr lvl="1"/>
            <a:r>
              <a:rPr lang="pt-BR" dirty="0"/>
              <a:t>Programas escritos pelo usuário</a:t>
            </a:r>
          </a:p>
          <a:p>
            <a:pPr lvl="1"/>
            <a:r>
              <a:rPr lang="pt-BR" dirty="0"/>
              <a:t>Processos automátizados</a:t>
            </a:r>
          </a:p>
          <a:p>
            <a:endParaRPr lang="pt-BR" dirty="0"/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482B434D-E7F8-41ED-95FD-FB4200678FF6}"/>
              </a:ext>
            </a:extLst>
          </p:cNvPr>
          <p:cNvGrpSpPr>
            <a:grpSpLocks/>
          </p:cNvGrpSpPr>
          <p:nvPr/>
        </p:nvGrpSpPr>
        <p:grpSpPr bwMode="auto">
          <a:xfrm>
            <a:off x="18429522" y="8981820"/>
            <a:ext cx="3145305" cy="2324100"/>
            <a:chOff x="3993" y="2902"/>
            <a:chExt cx="1105" cy="679"/>
          </a:xfrm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78F92FED-B93F-4F5F-86F2-27AAF0CAE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" y="2954"/>
              <a:ext cx="982" cy="627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DAB2156A-1757-48C8-B45F-B721E8E6D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3158"/>
              <a:ext cx="346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928688">
                <a:spcBef>
                  <a:spcPct val="50000"/>
                </a:spcBef>
                <a:buClrTx/>
                <a:buFontTx/>
                <a:buNone/>
              </a:pPr>
              <a:r>
                <a:rPr lang="en-US" sz="4800" b="0" dirty="0">
                  <a:solidFill>
                    <a:schemeClr val="bg1"/>
                  </a:solidFill>
                </a:rPr>
                <a:t>ACE</a:t>
              </a:r>
              <a:endParaRPr lang="en-US" sz="54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A013FC63-1633-492A-B824-A29D23C52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3" y="2902"/>
              <a:ext cx="123" cy="679"/>
            </a:xfrm>
            <a:custGeom>
              <a:avLst/>
              <a:gdLst>
                <a:gd name="T0" fmla="*/ 123 w 123"/>
                <a:gd name="T1" fmla="*/ 52 h 679"/>
                <a:gd name="T2" fmla="*/ 0 w 123"/>
                <a:gd name="T3" fmla="*/ 0 h 679"/>
                <a:gd name="T4" fmla="*/ 0 w 123"/>
                <a:gd name="T5" fmla="*/ 627 h 679"/>
                <a:gd name="T6" fmla="*/ 123 w 123"/>
                <a:gd name="T7" fmla="*/ 679 h 679"/>
                <a:gd name="T8" fmla="*/ 123 w 123"/>
                <a:gd name="T9" fmla="*/ 52 h 6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3"/>
                <a:gd name="T16" fmla="*/ 0 h 679"/>
                <a:gd name="T17" fmla="*/ 123 w 123"/>
                <a:gd name="T18" fmla="*/ 679 h 6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3" h="679">
                  <a:moveTo>
                    <a:pt x="123" y="52"/>
                  </a:moveTo>
                  <a:lnTo>
                    <a:pt x="0" y="0"/>
                  </a:lnTo>
                  <a:lnTo>
                    <a:pt x="0" y="627"/>
                  </a:lnTo>
                  <a:lnTo>
                    <a:pt x="123" y="679"/>
                  </a:lnTo>
                  <a:lnTo>
                    <a:pt x="123" y="52"/>
                  </a:lnTo>
                  <a:close/>
                </a:path>
              </a:pathLst>
            </a:custGeom>
            <a:solidFill>
              <a:srgbClr val="D2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BB87ADFE-49F8-48AA-94BC-D5A8FD1A5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02"/>
              <a:ext cx="1104" cy="52"/>
            </a:xfrm>
            <a:custGeom>
              <a:avLst/>
              <a:gdLst>
                <a:gd name="T0" fmla="*/ 1104 w 1104"/>
                <a:gd name="T1" fmla="*/ 52 h 52"/>
                <a:gd name="T2" fmla="*/ 981 w 1104"/>
                <a:gd name="T3" fmla="*/ 0 h 52"/>
                <a:gd name="T4" fmla="*/ 0 w 1104"/>
                <a:gd name="T5" fmla="*/ 0 h 52"/>
                <a:gd name="T6" fmla="*/ 122 w 1104"/>
                <a:gd name="T7" fmla="*/ 52 h 52"/>
                <a:gd name="T8" fmla="*/ 1104 w 1104"/>
                <a:gd name="T9" fmla="*/ 5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52"/>
                <a:gd name="T17" fmla="*/ 1104 w 110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4" h="52">
                  <a:moveTo>
                    <a:pt x="1104" y="52"/>
                  </a:moveTo>
                  <a:lnTo>
                    <a:pt x="981" y="0"/>
                  </a:lnTo>
                  <a:lnTo>
                    <a:pt x="0" y="0"/>
                  </a:lnTo>
                  <a:lnTo>
                    <a:pt x="122" y="52"/>
                  </a:lnTo>
                  <a:lnTo>
                    <a:pt x="1104" y="52"/>
                  </a:lnTo>
                  <a:close/>
                </a:path>
              </a:pathLst>
            </a:custGeom>
            <a:solidFill>
              <a:srgbClr val="B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9">
            <a:extLst>
              <a:ext uri="{FF2B5EF4-FFF2-40B4-BE49-F238E27FC236}">
                <a16:creationId xmlns:a16="http://schemas.microsoft.com/office/drawing/2014/main" id="{852A01D4-0601-4C2C-B07F-72A3BA64E0AD}"/>
              </a:ext>
            </a:extLst>
          </p:cNvPr>
          <p:cNvSpPr>
            <a:spLocks noEditPoints="1"/>
          </p:cNvSpPr>
          <p:nvPr/>
        </p:nvSpPr>
        <p:spPr bwMode="auto">
          <a:xfrm>
            <a:off x="12640195" y="8981822"/>
            <a:ext cx="1543166" cy="2324098"/>
          </a:xfrm>
          <a:custGeom>
            <a:avLst/>
            <a:gdLst>
              <a:gd name="T0" fmla="*/ 5951210 w 613"/>
              <a:gd name="T1" fmla="*/ 153836007 h 679"/>
              <a:gd name="T2" fmla="*/ 35707255 w 613"/>
              <a:gd name="T3" fmla="*/ 111880468 h 679"/>
              <a:gd name="T4" fmla="*/ 90756259 w 613"/>
              <a:gd name="T5" fmla="*/ 72256192 h 679"/>
              <a:gd name="T6" fmla="*/ 168123216 w 613"/>
              <a:gd name="T7" fmla="*/ 41955551 h 679"/>
              <a:gd name="T8" fmla="*/ 260367544 w 613"/>
              <a:gd name="T9" fmla="*/ 16315964 h 679"/>
              <a:gd name="T10" fmla="*/ 364514364 w 613"/>
              <a:gd name="T11" fmla="*/ 4661050 h 679"/>
              <a:gd name="T12" fmla="*/ 474612315 w 613"/>
              <a:gd name="T13" fmla="*/ 0 h 679"/>
              <a:gd name="T14" fmla="*/ 583223379 w 613"/>
              <a:gd name="T15" fmla="*/ 6992338 h 679"/>
              <a:gd name="T16" fmla="*/ 684395281 w 613"/>
              <a:gd name="T17" fmla="*/ 25639593 h 679"/>
              <a:gd name="T18" fmla="*/ 772176508 w 613"/>
              <a:gd name="T19" fmla="*/ 51279186 h 679"/>
              <a:gd name="T20" fmla="*/ 842102893 w 613"/>
              <a:gd name="T21" fmla="*/ 86240863 h 679"/>
              <a:gd name="T22" fmla="*/ 889713773 w 613"/>
              <a:gd name="T23" fmla="*/ 123535378 h 679"/>
              <a:gd name="T24" fmla="*/ 910542390 w 613"/>
              <a:gd name="T25" fmla="*/ 167820678 h 679"/>
              <a:gd name="T26" fmla="*/ 907567396 w 613"/>
              <a:gd name="T27" fmla="*/ 212107552 h 679"/>
              <a:gd name="T28" fmla="*/ 876323251 w 613"/>
              <a:gd name="T29" fmla="*/ 254063092 h 679"/>
              <a:gd name="T30" fmla="*/ 821274276 w 613"/>
              <a:gd name="T31" fmla="*/ 291356056 h 679"/>
              <a:gd name="T32" fmla="*/ 745395464 w 613"/>
              <a:gd name="T33" fmla="*/ 323987973 h 679"/>
              <a:gd name="T34" fmla="*/ 651663029 w 613"/>
              <a:gd name="T35" fmla="*/ 347296266 h 679"/>
              <a:gd name="T36" fmla="*/ 547516133 w 613"/>
              <a:gd name="T37" fmla="*/ 361280937 h 679"/>
              <a:gd name="T38" fmla="*/ 437418182 w 613"/>
              <a:gd name="T39" fmla="*/ 363612224 h 679"/>
              <a:gd name="T40" fmla="*/ 328807118 w 613"/>
              <a:gd name="T41" fmla="*/ 356619889 h 679"/>
              <a:gd name="T42" fmla="*/ 227635293 w 613"/>
              <a:gd name="T43" fmla="*/ 340303931 h 679"/>
              <a:gd name="T44" fmla="*/ 139854027 w 613"/>
              <a:gd name="T45" fmla="*/ 314664350 h 679"/>
              <a:gd name="T46" fmla="*/ 69927623 w 613"/>
              <a:gd name="T47" fmla="*/ 279701146 h 679"/>
              <a:gd name="T48" fmla="*/ 22316733 w 613"/>
              <a:gd name="T49" fmla="*/ 240076894 h 679"/>
              <a:gd name="T50" fmla="*/ 1488107 w 613"/>
              <a:gd name="T51" fmla="*/ 198121307 h 679"/>
              <a:gd name="T52" fmla="*/ 0 w 613"/>
              <a:gd name="T53" fmla="*/ 1400839975 h 679"/>
              <a:gd name="T54" fmla="*/ 13390527 w 613"/>
              <a:gd name="T55" fmla="*/ 1442793988 h 679"/>
              <a:gd name="T56" fmla="*/ 52074001 w 613"/>
              <a:gd name="T57" fmla="*/ 1484749527 h 679"/>
              <a:gd name="T58" fmla="*/ 114562310 w 613"/>
              <a:gd name="T59" fmla="*/ 1519712731 h 679"/>
              <a:gd name="T60" fmla="*/ 196391148 w 613"/>
              <a:gd name="T61" fmla="*/ 1550013360 h 679"/>
              <a:gd name="T62" fmla="*/ 294586683 w 613"/>
              <a:gd name="T63" fmla="*/ 1570990366 h 679"/>
              <a:gd name="T64" fmla="*/ 400222829 w 613"/>
              <a:gd name="T65" fmla="*/ 1580313989 h 679"/>
              <a:gd name="T66" fmla="*/ 511807667 w 613"/>
              <a:gd name="T67" fmla="*/ 1580313989 h 679"/>
              <a:gd name="T68" fmla="*/ 617442518 w 613"/>
              <a:gd name="T69" fmla="*/ 1570990366 h 679"/>
              <a:gd name="T70" fmla="*/ 715639426 w 613"/>
              <a:gd name="T71" fmla="*/ 1550013360 h 679"/>
              <a:gd name="T72" fmla="*/ 797469445 w 613"/>
              <a:gd name="T73" fmla="*/ 1519712731 h 679"/>
              <a:gd name="T74" fmla="*/ 859956515 w 613"/>
              <a:gd name="T75" fmla="*/ 1484749527 h 679"/>
              <a:gd name="T76" fmla="*/ 898639975 w 613"/>
              <a:gd name="T77" fmla="*/ 1442793988 h 679"/>
              <a:gd name="T78" fmla="*/ 912030497 w 613"/>
              <a:gd name="T79" fmla="*/ 1400839975 h 679"/>
              <a:gd name="T80" fmla="*/ 907567396 w 613"/>
              <a:gd name="T81" fmla="*/ 212107552 h 679"/>
              <a:gd name="T82" fmla="*/ 876323251 w 613"/>
              <a:gd name="T83" fmla="*/ 254063092 h 679"/>
              <a:gd name="T84" fmla="*/ 821274276 w 613"/>
              <a:gd name="T85" fmla="*/ 291356056 h 679"/>
              <a:gd name="T86" fmla="*/ 745395464 w 613"/>
              <a:gd name="T87" fmla="*/ 323987973 h 679"/>
              <a:gd name="T88" fmla="*/ 651663029 w 613"/>
              <a:gd name="T89" fmla="*/ 347296266 h 679"/>
              <a:gd name="T90" fmla="*/ 547516133 w 613"/>
              <a:gd name="T91" fmla="*/ 361280937 h 679"/>
              <a:gd name="T92" fmla="*/ 437418182 w 613"/>
              <a:gd name="T93" fmla="*/ 363612224 h 679"/>
              <a:gd name="T94" fmla="*/ 328807118 w 613"/>
              <a:gd name="T95" fmla="*/ 356619889 h 679"/>
              <a:gd name="T96" fmla="*/ 227635293 w 613"/>
              <a:gd name="T97" fmla="*/ 340303931 h 679"/>
              <a:gd name="T98" fmla="*/ 139854027 w 613"/>
              <a:gd name="T99" fmla="*/ 314664350 h 679"/>
              <a:gd name="T100" fmla="*/ 69927623 w 613"/>
              <a:gd name="T101" fmla="*/ 279701146 h 679"/>
              <a:gd name="T102" fmla="*/ 22316733 w 613"/>
              <a:gd name="T103" fmla="*/ 240076894 h 679"/>
              <a:gd name="T104" fmla="*/ 1488107 w 613"/>
              <a:gd name="T105" fmla="*/ 198121307 h 679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613"/>
              <a:gd name="T160" fmla="*/ 0 h 679"/>
              <a:gd name="T161" fmla="*/ 613 w 613"/>
              <a:gd name="T162" fmla="*/ 679 h 679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613" h="679">
                <a:moveTo>
                  <a:pt x="0" y="78"/>
                </a:moveTo>
                <a:lnTo>
                  <a:pt x="1" y="72"/>
                </a:lnTo>
                <a:lnTo>
                  <a:pt x="4" y="66"/>
                </a:lnTo>
                <a:lnTo>
                  <a:pt x="9" y="60"/>
                </a:lnTo>
                <a:lnTo>
                  <a:pt x="15" y="53"/>
                </a:lnTo>
                <a:lnTo>
                  <a:pt x="24" y="48"/>
                </a:lnTo>
                <a:lnTo>
                  <a:pt x="35" y="42"/>
                </a:lnTo>
                <a:lnTo>
                  <a:pt x="47" y="37"/>
                </a:lnTo>
                <a:lnTo>
                  <a:pt x="61" y="31"/>
                </a:lnTo>
                <a:lnTo>
                  <a:pt x="77" y="26"/>
                </a:lnTo>
                <a:lnTo>
                  <a:pt x="94" y="22"/>
                </a:lnTo>
                <a:lnTo>
                  <a:pt x="113" y="18"/>
                </a:lnTo>
                <a:lnTo>
                  <a:pt x="132" y="14"/>
                </a:lnTo>
                <a:lnTo>
                  <a:pt x="153" y="11"/>
                </a:lnTo>
                <a:lnTo>
                  <a:pt x="175" y="7"/>
                </a:lnTo>
                <a:lnTo>
                  <a:pt x="198" y="5"/>
                </a:lnTo>
                <a:lnTo>
                  <a:pt x="221" y="3"/>
                </a:lnTo>
                <a:lnTo>
                  <a:pt x="245" y="2"/>
                </a:lnTo>
                <a:lnTo>
                  <a:pt x="269" y="0"/>
                </a:lnTo>
                <a:lnTo>
                  <a:pt x="294" y="0"/>
                </a:lnTo>
                <a:lnTo>
                  <a:pt x="319" y="0"/>
                </a:lnTo>
                <a:lnTo>
                  <a:pt x="344" y="0"/>
                </a:lnTo>
                <a:lnTo>
                  <a:pt x="368" y="2"/>
                </a:lnTo>
                <a:lnTo>
                  <a:pt x="392" y="3"/>
                </a:lnTo>
                <a:lnTo>
                  <a:pt x="415" y="5"/>
                </a:lnTo>
                <a:lnTo>
                  <a:pt x="438" y="7"/>
                </a:lnTo>
                <a:lnTo>
                  <a:pt x="460" y="11"/>
                </a:lnTo>
                <a:lnTo>
                  <a:pt x="481" y="14"/>
                </a:lnTo>
                <a:lnTo>
                  <a:pt x="501" y="18"/>
                </a:lnTo>
                <a:lnTo>
                  <a:pt x="519" y="22"/>
                </a:lnTo>
                <a:lnTo>
                  <a:pt x="536" y="26"/>
                </a:lnTo>
                <a:lnTo>
                  <a:pt x="552" y="31"/>
                </a:lnTo>
                <a:lnTo>
                  <a:pt x="566" y="37"/>
                </a:lnTo>
                <a:lnTo>
                  <a:pt x="578" y="42"/>
                </a:lnTo>
                <a:lnTo>
                  <a:pt x="589" y="48"/>
                </a:lnTo>
                <a:lnTo>
                  <a:pt x="598" y="53"/>
                </a:lnTo>
                <a:lnTo>
                  <a:pt x="604" y="60"/>
                </a:lnTo>
                <a:lnTo>
                  <a:pt x="610" y="66"/>
                </a:lnTo>
                <a:lnTo>
                  <a:pt x="612" y="72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  <a:moveTo>
                  <a:pt x="0" y="78"/>
                </a:moveTo>
                <a:lnTo>
                  <a:pt x="0" y="601"/>
                </a:lnTo>
                <a:lnTo>
                  <a:pt x="1" y="607"/>
                </a:lnTo>
                <a:lnTo>
                  <a:pt x="4" y="613"/>
                </a:lnTo>
                <a:lnTo>
                  <a:pt x="9" y="619"/>
                </a:lnTo>
                <a:lnTo>
                  <a:pt x="15" y="625"/>
                </a:lnTo>
                <a:lnTo>
                  <a:pt x="24" y="631"/>
                </a:lnTo>
                <a:lnTo>
                  <a:pt x="35" y="637"/>
                </a:lnTo>
                <a:lnTo>
                  <a:pt x="47" y="642"/>
                </a:lnTo>
                <a:lnTo>
                  <a:pt x="61" y="648"/>
                </a:lnTo>
                <a:lnTo>
                  <a:pt x="77" y="652"/>
                </a:lnTo>
                <a:lnTo>
                  <a:pt x="94" y="657"/>
                </a:lnTo>
                <a:lnTo>
                  <a:pt x="113" y="661"/>
                </a:lnTo>
                <a:lnTo>
                  <a:pt x="132" y="665"/>
                </a:lnTo>
                <a:lnTo>
                  <a:pt x="153" y="668"/>
                </a:lnTo>
                <a:lnTo>
                  <a:pt x="175" y="671"/>
                </a:lnTo>
                <a:lnTo>
                  <a:pt x="198" y="674"/>
                </a:lnTo>
                <a:lnTo>
                  <a:pt x="221" y="676"/>
                </a:lnTo>
                <a:lnTo>
                  <a:pt x="245" y="677"/>
                </a:lnTo>
                <a:lnTo>
                  <a:pt x="269" y="678"/>
                </a:lnTo>
                <a:lnTo>
                  <a:pt x="294" y="679"/>
                </a:lnTo>
                <a:lnTo>
                  <a:pt x="319" y="679"/>
                </a:lnTo>
                <a:lnTo>
                  <a:pt x="344" y="678"/>
                </a:lnTo>
                <a:lnTo>
                  <a:pt x="368" y="677"/>
                </a:lnTo>
                <a:lnTo>
                  <a:pt x="392" y="676"/>
                </a:lnTo>
                <a:lnTo>
                  <a:pt x="415" y="674"/>
                </a:lnTo>
                <a:lnTo>
                  <a:pt x="438" y="671"/>
                </a:lnTo>
                <a:lnTo>
                  <a:pt x="460" y="668"/>
                </a:lnTo>
                <a:lnTo>
                  <a:pt x="481" y="665"/>
                </a:lnTo>
                <a:lnTo>
                  <a:pt x="501" y="661"/>
                </a:lnTo>
                <a:lnTo>
                  <a:pt x="519" y="657"/>
                </a:lnTo>
                <a:lnTo>
                  <a:pt x="536" y="652"/>
                </a:lnTo>
                <a:lnTo>
                  <a:pt x="552" y="648"/>
                </a:lnTo>
                <a:lnTo>
                  <a:pt x="566" y="642"/>
                </a:lnTo>
                <a:lnTo>
                  <a:pt x="578" y="637"/>
                </a:lnTo>
                <a:lnTo>
                  <a:pt x="589" y="631"/>
                </a:lnTo>
                <a:lnTo>
                  <a:pt x="598" y="625"/>
                </a:lnTo>
                <a:lnTo>
                  <a:pt x="604" y="619"/>
                </a:lnTo>
                <a:lnTo>
                  <a:pt x="610" y="613"/>
                </a:lnTo>
                <a:lnTo>
                  <a:pt x="612" y="607"/>
                </a:lnTo>
                <a:lnTo>
                  <a:pt x="613" y="601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</a:path>
            </a:pathLst>
          </a:custGeom>
          <a:solidFill>
            <a:srgbClr val="CCFFCC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506FD508-567A-4B05-BDC4-AE558FC69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7629" y="11305920"/>
            <a:ext cx="36435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</a:rPr>
              <a:t>Application Message Flow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28" name="Freeform 15">
            <a:extLst>
              <a:ext uri="{FF2B5EF4-FFF2-40B4-BE49-F238E27FC236}">
                <a16:creationId xmlns:a16="http://schemas.microsoft.com/office/drawing/2014/main" id="{67120372-7CEC-4700-AE66-8E08A101C31A}"/>
              </a:ext>
            </a:extLst>
          </p:cNvPr>
          <p:cNvSpPr>
            <a:spLocks/>
          </p:cNvSpPr>
          <p:nvPr/>
        </p:nvSpPr>
        <p:spPr bwMode="auto">
          <a:xfrm>
            <a:off x="14311493" y="9953201"/>
            <a:ext cx="4062686" cy="384384"/>
          </a:xfrm>
          <a:custGeom>
            <a:avLst/>
            <a:gdLst>
              <a:gd name="T0" fmla="*/ 0 w 982"/>
              <a:gd name="T1" fmla="*/ 58320439 h 125"/>
              <a:gd name="T2" fmla="*/ 0 w 982"/>
              <a:gd name="T3" fmla="*/ 176840388 h 125"/>
              <a:gd name="T4" fmla="*/ 2147483647 w 982"/>
              <a:gd name="T5" fmla="*/ 176840388 h 125"/>
              <a:gd name="T6" fmla="*/ 2147483647 w 982"/>
              <a:gd name="T7" fmla="*/ 235160848 h 125"/>
              <a:gd name="T8" fmla="*/ 2147483647 w 982"/>
              <a:gd name="T9" fmla="*/ 116639507 h 125"/>
              <a:gd name="T10" fmla="*/ 2147483647 w 982"/>
              <a:gd name="T11" fmla="*/ 0 h 125"/>
              <a:gd name="T12" fmla="*/ 2147483647 w 982"/>
              <a:gd name="T13" fmla="*/ 58320439 h 125"/>
              <a:gd name="T14" fmla="*/ 0 w 982"/>
              <a:gd name="T15" fmla="*/ 58320439 h 12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82"/>
              <a:gd name="T25" fmla="*/ 0 h 125"/>
              <a:gd name="T26" fmla="*/ 982 w 982"/>
              <a:gd name="T27" fmla="*/ 125 h 12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82" h="125">
                <a:moveTo>
                  <a:pt x="0" y="31"/>
                </a:moveTo>
                <a:lnTo>
                  <a:pt x="0" y="94"/>
                </a:lnTo>
                <a:lnTo>
                  <a:pt x="945" y="94"/>
                </a:lnTo>
                <a:lnTo>
                  <a:pt x="945" y="125"/>
                </a:lnTo>
                <a:lnTo>
                  <a:pt x="982" y="62"/>
                </a:lnTo>
                <a:lnTo>
                  <a:pt x="945" y="0"/>
                </a:lnTo>
                <a:lnTo>
                  <a:pt x="945" y="31"/>
                </a:lnTo>
                <a:lnTo>
                  <a:pt x="0" y="31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Retrying failed back-end system operations with IBM Integration Bus">
            <a:extLst>
              <a:ext uri="{FF2B5EF4-FFF2-40B4-BE49-F238E27FC236}">
                <a16:creationId xmlns:a16="http://schemas.microsoft.com/office/drawing/2014/main" id="{AB3EBDCD-B7AC-43C2-8530-E6EA948E5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354" y="8980446"/>
            <a:ext cx="61341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12">
            <a:extLst>
              <a:ext uri="{FF2B5EF4-FFF2-40B4-BE49-F238E27FC236}">
                <a16:creationId xmlns:a16="http://schemas.microsoft.com/office/drawing/2014/main" id="{8FB4AA1E-D144-40FD-9489-5AC498A0C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1419" y="10072751"/>
            <a:ext cx="13007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</a:rPr>
              <a:t>.BAR file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7C194A80-A57E-4F70-831C-EEFD14D65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38407" y="10442083"/>
            <a:ext cx="36435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/>
              <a:t>Deploy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33" name="Freeform 15">
            <a:extLst>
              <a:ext uri="{FF2B5EF4-FFF2-40B4-BE49-F238E27FC236}">
                <a16:creationId xmlns:a16="http://schemas.microsoft.com/office/drawing/2014/main" id="{3B5AAA81-BAF6-454A-8B7A-5DF8C31004DE}"/>
              </a:ext>
            </a:extLst>
          </p:cNvPr>
          <p:cNvSpPr>
            <a:spLocks/>
          </p:cNvSpPr>
          <p:nvPr/>
        </p:nvSpPr>
        <p:spPr bwMode="auto">
          <a:xfrm>
            <a:off x="8409304" y="9951678"/>
            <a:ext cx="4062686" cy="384384"/>
          </a:xfrm>
          <a:custGeom>
            <a:avLst/>
            <a:gdLst>
              <a:gd name="T0" fmla="*/ 0 w 982"/>
              <a:gd name="T1" fmla="*/ 58320439 h 125"/>
              <a:gd name="T2" fmla="*/ 0 w 982"/>
              <a:gd name="T3" fmla="*/ 176840388 h 125"/>
              <a:gd name="T4" fmla="*/ 2147483647 w 982"/>
              <a:gd name="T5" fmla="*/ 176840388 h 125"/>
              <a:gd name="T6" fmla="*/ 2147483647 w 982"/>
              <a:gd name="T7" fmla="*/ 235160848 h 125"/>
              <a:gd name="T8" fmla="*/ 2147483647 w 982"/>
              <a:gd name="T9" fmla="*/ 116639507 h 125"/>
              <a:gd name="T10" fmla="*/ 2147483647 w 982"/>
              <a:gd name="T11" fmla="*/ 0 h 125"/>
              <a:gd name="T12" fmla="*/ 2147483647 w 982"/>
              <a:gd name="T13" fmla="*/ 58320439 h 125"/>
              <a:gd name="T14" fmla="*/ 0 w 982"/>
              <a:gd name="T15" fmla="*/ 58320439 h 12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82"/>
              <a:gd name="T25" fmla="*/ 0 h 125"/>
              <a:gd name="T26" fmla="*/ 982 w 982"/>
              <a:gd name="T27" fmla="*/ 125 h 12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82" h="125">
                <a:moveTo>
                  <a:pt x="0" y="31"/>
                </a:moveTo>
                <a:lnTo>
                  <a:pt x="0" y="94"/>
                </a:lnTo>
                <a:lnTo>
                  <a:pt x="945" y="94"/>
                </a:lnTo>
                <a:lnTo>
                  <a:pt x="945" y="125"/>
                </a:lnTo>
                <a:lnTo>
                  <a:pt x="982" y="62"/>
                </a:lnTo>
                <a:lnTo>
                  <a:pt x="945" y="0"/>
                </a:lnTo>
                <a:lnTo>
                  <a:pt x="945" y="31"/>
                </a:lnTo>
                <a:lnTo>
                  <a:pt x="0" y="31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8F5B5CAA-ACCA-4CFD-8AF2-39F9EBAC4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4095" y="10412729"/>
            <a:ext cx="36435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</a:rPr>
              <a:t>Build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7450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F925-8B86-4AB9-8BF1-61B29938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Procedimento de deploy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482B434D-E7F8-41ED-95FD-FB4200678FF6}"/>
              </a:ext>
            </a:extLst>
          </p:cNvPr>
          <p:cNvGrpSpPr>
            <a:grpSpLocks/>
          </p:cNvGrpSpPr>
          <p:nvPr/>
        </p:nvGrpSpPr>
        <p:grpSpPr bwMode="auto">
          <a:xfrm>
            <a:off x="18429522" y="8981820"/>
            <a:ext cx="3145305" cy="2324100"/>
            <a:chOff x="3993" y="2902"/>
            <a:chExt cx="1105" cy="679"/>
          </a:xfrm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78F92FED-B93F-4F5F-86F2-27AAF0CAE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" y="2954"/>
              <a:ext cx="982" cy="627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DAB2156A-1757-48C8-B45F-B721E8E6D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3158"/>
              <a:ext cx="346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928688">
                <a:spcBef>
                  <a:spcPct val="50000"/>
                </a:spcBef>
                <a:buClrTx/>
                <a:buFontTx/>
                <a:buNone/>
              </a:pPr>
              <a:r>
                <a:rPr lang="en-US" sz="4800" b="0" dirty="0">
                  <a:solidFill>
                    <a:schemeClr val="bg1"/>
                  </a:solidFill>
                </a:rPr>
                <a:t>ACE</a:t>
              </a:r>
              <a:endParaRPr lang="en-US" sz="54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A013FC63-1633-492A-B824-A29D23C52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3" y="2902"/>
              <a:ext cx="123" cy="679"/>
            </a:xfrm>
            <a:custGeom>
              <a:avLst/>
              <a:gdLst>
                <a:gd name="T0" fmla="*/ 123 w 123"/>
                <a:gd name="T1" fmla="*/ 52 h 679"/>
                <a:gd name="T2" fmla="*/ 0 w 123"/>
                <a:gd name="T3" fmla="*/ 0 h 679"/>
                <a:gd name="T4" fmla="*/ 0 w 123"/>
                <a:gd name="T5" fmla="*/ 627 h 679"/>
                <a:gd name="T6" fmla="*/ 123 w 123"/>
                <a:gd name="T7" fmla="*/ 679 h 679"/>
                <a:gd name="T8" fmla="*/ 123 w 123"/>
                <a:gd name="T9" fmla="*/ 52 h 6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3"/>
                <a:gd name="T16" fmla="*/ 0 h 679"/>
                <a:gd name="T17" fmla="*/ 123 w 123"/>
                <a:gd name="T18" fmla="*/ 679 h 6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3" h="679">
                  <a:moveTo>
                    <a:pt x="123" y="52"/>
                  </a:moveTo>
                  <a:lnTo>
                    <a:pt x="0" y="0"/>
                  </a:lnTo>
                  <a:lnTo>
                    <a:pt x="0" y="627"/>
                  </a:lnTo>
                  <a:lnTo>
                    <a:pt x="123" y="679"/>
                  </a:lnTo>
                  <a:lnTo>
                    <a:pt x="123" y="52"/>
                  </a:lnTo>
                  <a:close/>
                </a:path>
              </a:pathLst>
            </a:custGeom>
            <a:solidFill>
              <a:srgbClr val="D2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BB87ADFE-49F8-48AA-94BC-D5A8FD1A5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02"/>
              <a:ext cx="1104" cy="52"/>
            </a:xfrm>
            <a:custGeom>
              <a:avLst/>
              <a:gdLst>
                <a:gd name="T0" fmla="*/ 1104 w 1104"/>
                <a:gd name="T1" fmla="*/ 52 h 52"/>
                <a:gd name="T2" fmla="*/ 981 w 1104"/>
                <a:gd name="T3" fmla="*/ 0 h 52"/>
                <a:gd name="T4" fmla="*/ 0 w 1104"/>
                <a:gd name="T5" fmla="*/ 0 h 52"/>
                <a:gd name="T6" fmla="*/ 122 w 1104"/>
                <a:gd name="T7" fmla="*/ 52 h 52"/>
                <a:gd name="T8" fmla="*/ 1104 w 1104"/>
                <a:gd name="T9" fmla="*/ 5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52"/>
                <a:gd name="T17" fmla="*/ 1104 w 110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4" h="52">
                  <a:moveTo>
                    <a:pt x="1104" y="52"/>
                  </a:moveTo>
                  <a:lnTo>
                    <a:pt x="981" y="0"/>
                  </a:lnTo>
                  <a:lnTo>
                    <a:pt x="0" y="0"/>
                  </a:lnTo>
                  <a:lnTo>
                    <a:pt x="122" y="52"/>
                  </a:lnTo>
                  <a:lnTo>
                    <a:pt x="1104" y="52"/>
                  </a:lnTo>
                  <a:close/>
                </a:path>
              </a:pathLst>
            </a:custGeom>
            <a:solidFill>
              <a:srgbClr val="B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9">
            <a:extLst>
              <a:ext uri="{FF2B5EF4-FFF2-40B4-BE49-F238E27FC236}">
                <a16:creationId xmlns:a16="http://schemas.microsoft.com/office/drawing/2014/main" id="{852A01D4-0601-4C2C-B07F-72A3BA64E0AD}"/>
              </a:ext>
            </a:extLst>
          </p:cNvPr>
          <p:cNvSpPr>
            <a:spLocks noEditPoints="1"/>
          </p:cNvSpPr>
          <p:nvPr/>
        </p:nvSpPr>
        <p:spPr bwMode="auto">
          <a:xfrm>
            <a:off x="10526840" y="8981822"/>
            <a:ext cx="1543166" cy="2324098"/>
          </a:xfrm>
          <a:custGeom>
            <a:avLst/>
            <a:gdLst>
              <a:gd name="T0" fmla="*/ 5951210 w 613"/>
              <a:gd name="T1" fmla="*/ 153836007 h 679"/>
              <a:gd name="T2" fmla="*/ 35707255 w 613"/>
              <a:gd name="T3" fmla="*/ 111880468 h 679"/>
              <a:gd name="T4" fmla="*/ 90756259 w 613"/>
              <a:gd name="T5" fmla="*/ 72256192 h 679"/>
              <a:gd name="T6" fmla="*/ 168123216 w 613"/>
              <a:gd name="T7" fmla="*/ 41955551 h 679"/>
              <a:gd name="T8" fmla="*/ 260367544 w 613"/>
              <a:gd name="T9" fmla="*/ 16315964 h 679"/>
              <a:gd name="T10" fmla="*/ 364514364 w 613"/>
              <a:gd name="T11" fmla="*/ 4661050 h 679"/>
              <a:gd name="T12" fmla="*/ 474612315 w 613"/>
              <a:gd name="T13" fmla="*/ 0 h 679"/>
              <a:gd name="T14" fmla="*/ 583223379 w 613"/>
              <a:gd name="T15" fmla="*/ 6992338 h 679"/>
              <a:gd name="T16" fmla="*/ 684395281 w 613"/>
              <a:gd name="T17" fmla="*/ 25639593 h 679"/>
              <a:gd name="T18" fmla="*/ 772176508 w 613"/>
              <a:gd name="T19" fmla="*/ 51279186 h 679"/>
              <a:gd name="T20" fmla="*/ 842102893 w 613"/>
              <a:gd name="T21" fmla="*/ 86240863 h 679"/>
              <a:gd name="T22" fmla="*/ 889713773 w 613"/>
              <a:gd name="T23" fmla="*/ 123535378 h 679"/>
              <a:gd name="T24" fmla="*/ 910542390 w 613"/>
              <a:gd name="T25" fmla="*/ 167820678 h 679"/>
              <a:gd name="T26" fmla="*/ 907567396 w 613"/>
              <a:gd name="T27" fmla="*/ 212107552 h 679"/>
              <a:gd name="T28" fmla="*/ 876323251 w 613"/>
              <a:gd name="T29" fmla="*/ 254063092 h 679"/>
              <a:gd name="T30" fmla="*/ 821274276 w 613"/>
              <a:gd name="T31" fmla="*/ 291356056 h 679"/>
              <a:gd name="T32" fmla="*/ 745395464 w 613"/>
              <a:gd name="T33" fmla="*/ 323987973 h 679"/>
              <a:gd name="T34" fmla="*/ 651663029 w 613"/>
              <a:gd name="T35" fmla="*/ 347296266 h 679"/>
              <a:gd name="T36" fmla="*/ 547516133 w 613"/>
              <a:gd name="T37" fmla="*/ 361280937 h 679"/>
              <a:gd name="T38" fmla="*/ 437418182 w 613"/>
              <a:gd name="T39" fmla="*/ 363612224 h 679"/>
              <a:gd name="T40" fmla="*/ 328807118 w 613"/>
              <a:gd name="T41" fmla="*/ 356619889 h 679"/>
              <a:gd name="T42" fmla="*/ 227635293 w 613"/>
              <a:gd name="T43" fmla="*/ 340303931 h 679"/>
              <a:gd name="T44" fmla="*/ 139854027 w 613"/>
              <a:gd name="T45" fmla="*/ 314664350 h 679"/>
              <a:gd name="T46" fmla="*/ 69927623 w 613"/>
              <a:gd name="T47" fmla="*/ 279701146 h 679"/>
              <a:gd name="T48" fmla="*/ 22316733 w 613"/>
              <a:gd name="T49" fmla="*/ 240076894 h 679"/>
              <a:gd name="T50" fmla="*/ 1488107 w 613"/>
              <a:gd name="T51" fmla="*/ 198121307 h 679"/>
              <a:gd name="T52" fmla="*/ 0 w 613"/>
              <a:gd name="T53" fmla="*/ 1400839975 h 679"/>
              <a:gd name="T54" fmla="*/ 13390527 w 613"/>
              <a:gd name="T55" fmla="*/ 1442793988 h 679"/>
              <a:gd name="T56" fmla="*/ 52074001 w 613"/>
              <a:gd name="T57" fmla="*/ 1484749527 h 679"/>
              <a:gd name="T58" fmla="*/ 114562310 w 613"/>
              <a:gd name="T59" fmla="*/ 1519712731 h 679"/>
              <a:gd name="T60" fmla="*/ 196391148 w 613"/>
              <a:gd name="T61" fmla="*/ 1550013360 h 679"/>
              <a:gd name="T62" fmla="*/ 294586683 w 613"/>
              <a:gd name="T63" fmla="*/ 1570990366 h 679"/>
              <a:gd name="T64" fmla="*/ 400222829 w 613"/>
              <a:gd name="T65" fmla="*/ 1580313989 h 679"/>
              <a:gd name="T66" fmla="*/ 511807667 w 613"/>
              <a:gd name="T67" fmla="*/ 1580313989 h 679"/>
              <a:gd name="T68" fmla="*/ 617442518 w 613"/>
              <a:gd name="T69" fmla="*/ 1570990366 h 679"/>
              <a:gd name="T70" fmla="*/ 715639426 w 613"/>
              <a:gd name="T71" fmla="*/ 1550013360 h 679"/>
              <a:gd name="T72" fmla="*/ 797469445 w 613"/>
              <a:gd name="T73" fmla="*/ 1519712731 h 679"/>
              <a:gd name="T74" fmla="*/ 859956515 w 613"/>
              <a:gd name="T75" fmla="*/ 1484749527 h 679"/>
              <a:gd name="T76" fmla="*/ 898639975 w 613"/>
              <a:gd name="T77" fmla="*/ 1442793988 h 679"/>
              <a:gd name="T78" fmla="*/ 912030497 w 613"/>
              <a:gd name="T79" fmla="*/ 1400839975 h 679"/>
              <a:gd name="T80" fmla="*/ 907567396 w 613"/>
              <a:gd name="T81" fmla="*/ 212107552 h 679"/>
              <a:gd name="T82" fmla="*/ 876323251 w 613"/>
              <a:gd name="T83" fmla="*/ 254063092 h 679"/>
              <a:gd name="T84" fmla="*/ 821274276 w 613"/>
              <a:gd name="T85" fmla="*/ 291356056 h 679"/>
              <a:gd name="T86" fmla="*/ 745395464 w 613"/>
              <a:gd name="T87" fmla="*/ 323987973 h 679"/>
              <a:gd name="T88" fmla="*/ 651663029 w 613"/>
              <a:gd name="T89" fmla="*/ 347296266 h 679"/>
              <a:gd name="T90" fmla="*/ 547516133 w 613"/>
              <a:gd name="T91" fmla="*/ 361280937 h 679"/>
              <a:gd name="T92" fmla="*/ 437418182 w 613"/>
              <a:gd name="T93" fmla="*/ 363612224 h 679"/>
              <a:gd name="T94" fmla="*/ 328807118 w 613"/>
              <a:gd name="T95" fmla="*/ 356619889 h 679"/>
              <a:gd name="T96" fmla="*/ 227635293 w 613"/>
              <a:gd name="T97" fmla="*/ 340303931 h 679"/>
              <a:gd name="T98" fmla="*/ 139854027 w 613"/>
              <a:gd name="T99" fmla="*/ 314664350 h 679"/>
              <a:gd name="T100" fmla="*/ 69927623 w 613"/>
              <a:gd name="T101" fmla="*/ 279701146 h 679"/>
              <a:gd name="T102" fmla="*/ 22316733 w 613"/>
              <a:gd name="T103" fmla="*/ 240076894 h 679"/>
              <a:gd name="T104" fmla="*/ 1488107 w 613"/>
              <a:gd name="T105" fmla="*/ 198121307 h 679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613"/>
              <a:gd name="T160" fmla="*/ 0 h 679"/>
              <a:gd name="T161" fmla="*/ 613 w 613"/>
              <a:gd name="T162" fmla="*/ 679 h 679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613" h="679">
                <a:moveTo>
                  <a:pt x="0" y="78"/>
                </a:moveTo>
                <a:lnTo>
                  <a:pt x="1" y="72"/>
                </a:lnTo>
                <a:lnTo>
                  <a:pt x="4" y="66"/>
                </a:lnTo>
                <a:lnTo>
                  <a:pt x="9" y="60"/>
                </a:lnTo>
                <a:lnTo>
                  <a:pt x="15" y="53"/>
                </a:lnTo>
                <a:lnTo>
                  <a:pt x="24" y="48"/>
                </a:lnTo>
                <a:lnTo>
                  <a:pt x="35" y="42"/>
                </a:lnTo>
                <a:lnTo>
                  <a:pt x="47" y="37"/>
                </a:lnTo>
                <a:lnTo>
                  <a:pt x="61" y="31"/>
                </a:lnTo>
                <a:lnTo>
                  <a:pt x="77" y="26"/>
                </a:lnTo>
                <a:lnTo>
                  <a:pt x="94" y="22"/>
                </a:lnTo>
                <a:lnTo>
                  <a:pt x="113" y="18"/>
                </a:lnTo>
                <a:lnTo>
                  <a:pt x="132" y="14"/>
                </a:lnTo>
                <a:lnTo>
                  <a:pt x="153" y="11"/>
                </a:lnTo>
                <a:lnTo>
                  <a:pt x="175" y="7"/>
                </a:lnTo>
                <a:lnTo>
                  <a:pt x="198" y="5"/>
                </a:lnTo>
                <a:lnTo>
                  <a:pt x="221" y="3"/>
                </a:lnTo>
                <a:lnTo>
                  <a:pt x="245" y="2"/>
                </a:lnTo>
                <a:lnTo>
                  <a:pt x="269" y="0"/>
                </a:lnTo>
                <a:lnTo>
                  <a:pt x="294" y="0"/>
                </a:lnTo>
                <a:lnTo>
                  <a:pt x="319" y="0"/>
                </a:lnTo>
                <a:lnTo>
                  <a:pt x="344" y="0"/>
                </a:lnTo>
                <a:lnTo>
                  <a:pt x="368" y="2"/>
                </a:lnTo>
                <a:lnTo>
                  <a:pt x="392" y="3"/>
                </a:lnTo>
                <a:lnTo>
                  <a:pt x="415" y="5"/>
                </a:lnTo>
                <a:lnTo>
                  <a:pt x="438" y="7"/>
                </a:lnTo>
                <a:lnTo>
                  <a:pt x="460" y="11"/>
                </a:lnTo>
                <a:lnTo>
                  <a:pt x="481" y="14"/>
                </a:lnTo>
                <a:lnTo>
                  <a:pt x="501" y="18"/>
                </a:lnTo>
                <a:lnTo>
                  <a:pt x="519" y="22"/>
                </a:lnTo>
                <a:lnTo>
                  <a:pt x="536" y="26"/>
                </a:lnTo>
                <a:lnTo>
                  <a:pt x="552" y="31"/>
                </a:lnTo>
                <a:lnTo>
                  <a:pt x="566" y="37"/>
                </a:lnTo>
                <a:lnTo>
                  <a:pt x="578" y="42"/>
                </a:lnTo>
                <a:lnTo>
                  <a:pt x="589" y="48"/>
                </a:lnTo>
                <a:lnTo>
                  <a:pt x="598" y="53"/>
                </a:lnTo>
                <a:lnTo>
                  <a:pt x="604" y="60"/>
                </a:lnTo>
                <a:lnTo>
                  <a:pt x="610" y="66"/>
                </a:lnTo>
                <a:lnTo>
                  <a:pt x="612" y="72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  <a:moveTo>
                  <a:pt x="0" y="78"/>
                </a:moveTo>
                <a:lnTo>
                  <a:pt x="0" y="601"/>
                </a:lnTo>
                <a:lnTo>
                  <a:pt x="1" y="607"/>
                </a:lnTo>
                <a:lnTo>
                  <a:pt x="4" y="613"/>
                </a:lnTo>
                <a:lnTo>
                  <a:pt x="9" y="619"/>
                </a:lnTo>
                <a:lnTo>
                  <a:pt x="15" y="625"/>
                </a:lnTo>
                <a:lnTo>
                  <a:pt x="24" y="631"/>
                </a:lnTo>
                <a:lnTo>
                  <a:pt x="35" y="637"/>
                </a:lnTo>
                <a:lnTo>
                  <a:pt x="47" y="642"/>
                </a:lnTo>
                <a:lnTo>
                  <a:pt x="61" y="648"/>
                </a:lnTo>
                <a:lnTo>
                  <a:pt x="77" y="652"/>
                </a:lnTo>
                <a:lnTo>
                  <a:pt x="94" y="657"/>
                </a:lnTo>
                <a:lnTo>
                  <a:pt x="113" y="661"/>
                </a:lnTo>
                <a:lnTo>
                  <a:pt x="132" y="665"/>
                </a:lnTo>
                <a:lnTo>
                  <a:pt x="153" y="668"/>
                </a:lnTo>
                <a:lnTo>
                  <a:pt x="175" y="671"/>
                </a:lnTo>
                <a:lnTo>
                  <a:pt x="198" y="674"/>
                </a:lnTo>
                <a:lnTo>
                  <a:pt x="221" y="676"/>
                </a:lnTo>
                <a:lnTo>
                  <a:pt x="245" y="677"/>
                </a:lnTo>
                <a:lnTo>
                  <a:pt x="269" y="678"/>
                </a:lnTo>
                <a:lnTo>
                  <a:pt x="294" y="679"/>
                </a:lnTo>
                <a:lnTo>
                  <a:pt x="319" y="679"/>
                </a:lnTo>
                <a:lnTo>
                  <a:pt x="344" y="678"/>
                </a:lnTo>
                <a:lnTo>
                  <a:pt x="368" y="677"/>
                </a:lnTo>
                <a:lnTo>
                  <a:pt x="392" y="676"/>
                </a:lnTo>
                <a:lnTo>
                  <a:pt x="415" y="674"/>
                </a:lnTo>
                <a:lnTo>
                  <a:pt x="438" y="671"/>
                </a:lnTo>
                <a:lnTo>
                  <a:pt x="460" y="668"/>
                </a:lnTo>
                <a:lnTo>
                  <a:pt x="481" y="665"/>
                </a:lnTo>
                <a:lnTo>
                  <a:pt x="501" y="661"/>
                </a:lnTo>
                <a:lnTo>
                  <a:pt x="519" y="657"/>
                </a:lnTo>
                <a:lnTo>
                  <a:pt x="536" y="652"/>
                </a:lnTo>
                <a:lnTo>
                  <a:pt x="552" y="648"/>
                </a:lnTo>
                <a:lnTo>
                  <a:pt x="566" y="642"/>
                </a:lnTo>
                <a:lnTo>
                  <a:pt x="578" y="637"/>
                </a:lnTo>
                <a:lnTo>
                  <a:pt x="589" y="631"/>
                </a:lnTo>
                <a:lnTo>
                  <a:pt x="598" y="625"/>
                </a:lnTo>
                <a:lnTo>
                  <a:pt x="604" y="619"/>
                </a:lnTo>
                <a:lnTo>
                  <a:pt x="610" y="613"/>
                </a:lnTo>
                <a:lnTo>
                  <a:pt x="612" y="607"/>
                </a:lnTo>
                <a:lnTo>
                  <a:pt x="613" y="601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</a:path>
            </a:pathLst>
          </a:custGeom>
          <a:solidFill>
            <a:srgbClr val="CCFFCC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506FD508-567A-4B05-BDC4-AE558FC69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7629" y="11305920"/>
            <a:ext cx="36435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</a:rPr>
              <a:t>Application Message Flow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pic>
        <p:nvPicPr>
          <p:cNvPr id="1026" name="Picture 2" descr="Retrying failed back-end system operations with IBM Integration Bus">
            <a:extLst>
              <a:ext uri="{FF2B5EF4-FFF2-40B4-BE49-F238E27FC236}">
                <a16:creationId xmlns:a16="http://schemas.microsoft.com/office/drawing/2014/main" id="{AB3EBDCD-B7AC-43C2-8530-E6EA948E5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354" y="8980446"/>
            <a:ext cx="61341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12">
            <a:extLst>
              <a:ext uri="{FF2B5EF4-FFF2-40B4-BE49-F238E27FC236}">
                <a16:creationId xmlns:a16="http://schemas.microsoft.com/office/drawing/2014/main" id="{8FB4AA1E-D144-40FD-9489-5AC498A0C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8064" y="10072751"/>
            <a:ext cx="13007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  <a:highlight>
                  <a:srgbClr val="00FF00"/>
                </a:highlight>
              </a:rPr>
              <a:t>.BAR file</a:t>
            </a:r>
            <a:endParaRPr lang="en-US" sz="3600" b="1" dirty="0">
              <a:solidFill>
                <a:srgbClr val="006600"/>
              </a:solidFill>
              <a:highlight>
                <a:srgbClr val="00FF00"/>
              </a:highlight>
              <a:latin typeface="Times New Roman" pitchFamily="18" charset="0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7C194A80-A57E-4F70-831C-EEFD14D65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38516" y="10442083"/>
            <a:ext cx="1843440" cy="382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/>
              <a:t>Deploy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33" name="Freeform 15">
            <a:extLst>
              <a:ext uri="{FF2B5EF4-FFF2-40B4-BE49-F238E27FC236}">
                <a16:creationId xmlns:a16="http://schemas.microsoft.com/office/drawing/2014/main" id="{3B5AAA81-BAF6-454A-8B7A-5DF8C31004DE}"/>
              </a:ext>
            </a:extLst>
          </p:cNvPr>
          <p:cNvSpPr>
            <a:spLocks/>
          </p:cNvSpPr>
          <p:nvPr/>
        </p:nvSpPr>
        <p:spPr bwMode="auto">
          <a:xfrm>
            <a:off x="8409304" y="9953200"/>
            <a:ext cx="2117535" cy="382861"/>
          </a:xfrm>
          <a:custGeom>
            <a:avLst/>
            <a:gdLst>
              <a:gd name="T0" fmla="*/ 0 w 982"/>
              <a:gd name="T1" fmla="*/ 58320439 h 125"/>
              <a:gd name="T2" fmla="*/ 0 w 982"/>
              <a:gd name="T3" fmla="*/ 176840388 h 125"/>
              <a:gd name="T4" fmla="*/ 2147483647 w 982"/>
              <a:gd name="T5" fmla="*/ 176840388 h 125"/>
              <a:gd name="T6" fmla="*/ 2147483647 w 982"/>
              <a:gd name="T7" fmla="*/ 235160848 h 125"/>
              <a:gd name="T8" fmla="*/ 2147483647 w 982"/>
              <a:gd name="T9" fmla="*/ 116639507 h 125"/>
              <a:gd name="T10" fmla="*/ 2147483647 w 982"/>
              <a:gd name="T11" fmla="*/ 0 h 125"/>
              <a:gd name="T12" fmla="*/ 2147483647 w 982"/>
              <a:gd name="T13" fmla="*/ 58320439 h 125"/>
              <a:gd name="T14" fmla="*/ 0 w 982"/>
              <a:gd name="T15" fmla="*/ 58320439 h 12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82"/>
              <a:gd name="T25" fmla="*/ 0 h 125"/>
              <a:gd name="T26" fmla="*/ 982 w 982"/>
              <a:gd name="T27" fmla="*/ 125 h 12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82" h="125">
                <a:moveTo>
                  <a:pt x="0" y="31"/>
                </a:moveTo>
                <a:lnTo>
                  <a:pt x="0" y="94"/>
                </a:lnTo>
                <a:lnTo>
                  <a:pt x="945" y="94"/>
                </a:lnTo>
                <a:lnTo>
                  <a:pt x="945" y="125"/>
                </a:lnTo>
                <a:lnTo>
                  <a:pt x="982" y="62"/>
                </a:lnTo>
                <a:lnTo>
                  <a:pt x="945" y="0"/>
                </a:lnTo>
                <a:lnTo>
                  <a:pt x="945" y="31"/>
                </a:lnTo>
                <a:lnTo>
                  <a:pt x="0" y="31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8F5B5CAA-ACCA-4CFD-8AF2-39F9EBAC4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4095" y="10397677"/>
            <a:ext cx="15951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</a:rPr>
              <a:t>Build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6BC7F7-1EFA-E5E9-6A7A-6045EA068A4D}"/>
              </a:ext>
            </a:extLst>
          </p:cNvPr>
          <p:cNvSpPr/>
          <p:nvPr/>
        </p:nvSpPr>
        <p:spPr>
          <a:xfrm>
            <a:off x="10775577" y="4180155"/>
            <a:ext cx="12550588" cy="40831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Override .bar com </a:t>
            </a:r>
            <a:r>
              <a:rPr lang="en-US" sz="2400" dirty="0" err="1">
                <a:solidFill>
                  <a:schemeClr val="tx1"/>
                </a:solidFill>
              </a:rPr>
              <a:t>arquivo</a:t>
            </a:r>
            <a:r>
              <a:rPr lang="en-US" sz="2400" dirty="0">
                <a:solidFill>
                  <a:schemeClr val="tx1"/>
                </a:solidFill>
              </a:rPr>
              <a:t> de “properties”</a:t>
            </a:r>
          </a:p>
          <a:p>
            <a:pPr algn="just"/>
            <a:endParaRPr lang="en-US" sz="1800" dirty="0">
              <a:solidFill>
                <a:schemeClr val="tx1"/>
              </a:solidFill>
            </a:endParaRPr>
          </a:p>
          <a:p>
            <a:pPr algn="just"/>
            <a:r>
              <a:rPr lang="en-US" sz="1800" dirty="0" err="1">
                <a:solidFill>
                  <a:schemeClr val="tx1"/>
                </a:solidFill>
              </a:rPr>
              <a:t>mqsireadbar</a:t>
            </a:r>
            <a:r>
              <a:rPr lang="en-US" sz="1800" dirty="0">
                <a:solidFill>
                  <a:schemeClr val="tx1"/>
                </a:solidFill>
              </a:rPr>
              <a:t> -b </a:t>
            </a:r>
            <a:r>
              <a:rPr lang="en-US" sz="1800" dirty="0" err="1">
                <a:solidFill>
                  <a:schemeClr val="tx1"/>
                </a:solidFill>
                <a:highlight>
                  <a:srgbClr val="00FF00"/>
                </a:highlight>
              </a:rPr>
              <a:t>ZZZ_SAMPLE_COPYBOOK.bar</a:t>
            </a:r>
            <a:r>
              <a:rPr lang="en-US" sz="1800" dirty="0">
                <a:solidFill>
                  <a:schemeClr val="tx1"/>
                </a:solidFill>
              </a:rPr>
              <a:t> -r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BIP1052I: Reading Bar file using runtime </a:t>
            </a:r>
            <a:r>
              <a:rPr lang="en-US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mqsireadbar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...</a:t>
            </a:r>
          </a:p>
          <a:p>
            <a:pPr algn="just"/>
            <a:r>
              <a:rPr lang="en-US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ZZZ_SAMPLE_COPYBOOK.appzip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 (2/10/21 8:29 PM):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…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      ZZZ_SAMPLE_COPYBOOK_OPER2#additionalInstances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…   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      ZZZ_SAMPLE_COPYBOOK_OPER2#HTTP </a:t>
            </a:r>
            <a:r>
              <a:rPr lang="en-US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Input.URLSpecifier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 = /ZZZ_SAMPLE_COPYBOOK/SVMPW01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…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Policy</a:t>
            </a:r>
          </a:p>
          <a:p>
            <a:pPr algn="just"/>
            <a:endParaRPr lang="en-US" sz="1800" dirty="0">
              <a:solidFill>
                <a:schemeClr val="tx1"/>
              </a:solidFill>
            </a:endParaRPr>
          </a:p>
          <a:p>
            <a:pPr algn="just"/>
            <a:r>
              <a:rPr lang="en-US" sz="1800" dirty="0" err="1">
                <a:solidFill>
                  <a:schemeClr val="tx1"/>
                </a:solidFill>
              </a:rPr>
              <a:t>mqsiapplybaroverride</a:t>
            </a:r>
            <a:r>
              <a:rPr lang="en-US" sz="1800" dirty="0">
                <a:solidFill>
                  <a:schemeClr val="tx1"/>
                </a:solidFill>
              </a:rPr>
              <a:t> -b </a:t>
            </a:r>
            <a:r>
              <a:rPr lang="en-US" sz="1800" dirty="0" err="1">
                <a:solidFill>
                  <a:schemeClr val="tx1"/>
                </a:solidFill>
                <a:highlight>
                  <a:srgbClr val="00FF00"/>
                </a:highlight>
              </a:rPr>
              <a:t>ZZZ_SAMPLE_COPYBOOK.bar</a:t>
            </a:r>
            <a:r>
              <a:rPr lang="en-US" sz="1800" dirty="0">
                <a:solidFill>
                  <a:schemeClr val="tx1"/>
                </a:solidFill>
              </a:rPr>
              <a:t> –p 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arquivo_properties.txt</a:t>
            </a:r>
            <a:r>
              <a:rPr lang="en-US" sz="1800" dirty="0">
                <a:solidFill>
                  <a:schemeClr val="tx1"/>
                </a:solidFill>
              </a:rPr>
              <a:t> –o </a:t>
            </a:r>
            <a:r>
              <a:rPr lang="en-US" sz="1800" dirty="0" err="1">
                <a:solidFill>
                  <a:schemeClr val="tx1"/>
                </a:solidFill>
                <a:highlight>
                  <a:srgbClr val="00FFFF"/>
                </a:highlight>
              </a:rPr>
              <a:t>NOVO_ZZZ_SAMPLE_COPYBOOK.bar</a:t>
            </a:r>
            <a:endParaRPr lang="en-US" sz="1800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DA4255-7302-35EE-23E6-650BFCDBC9C4}"/>
              </a:ext>
            </a:extLst>
          </p:cNvPr>
          <p:cNvSpPr/>
          <p:nvPr/>
        </p:nvSpPr>
        <p:spPr>
          <a:xfrm>
            <a:off x="10775577" y="2589161"/>
            <a:ext cx="12550588" cy="1244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Create .bar</a:t>
            </a:r>
          </a:p>
          <a:p>
            <a:pPr algn="l"/>
            <a:r>
              <a:rPr lang="en-US" sz="1800" dirty="0" err="1">
                <a:solidFill>
                  <a:schemeClr val="tx1"/>
                </a:solidFill>
              </a:rPr>
              <a:t>mqsipackagebar</a:t>
            </a:r>
            <a:r>
              <a:rPr lang="en-US" sz="1800" dirty="0">
                <a:solidFill>
                  <a:schemeClr val="tx1"/>
                </a:solidFill>
              </a:rPr>
              <a:t> -a </a:t>
            </a:r>
            <a:r>
              <a:rPr lang="en-US" sz="1800" dirty="0" err="1">
                <a:solidFill>
                  <a:schemeClr val="tx1"/>
                </a:solidFill>
                <a:highlight>
                  <a:srgbClr val="00FF00"/>
                </a:highlight>
              </a:rPr>
              <a:t>ZZZ_SAMPLE_COPYBOOK.bar</a:t>
            </a:r>
            <a:r>
              <a:rPr lang="en-US" sz="1800" dirty="0">
                <a:solidFill>
                  <a:schemeClr val="tx1"/>
                </a:solidFill>
              </a:rPr>
              <a:t> -w &lt;</a:t>
            </a:r>
            <a:r>
              <a:rPr lang="en-US" sz="1800" dirty="0" err="1">
                <a:solidFill>
                  <a:schemeClr val="tx1"/>
                </a:solidFill>
              </a:rPr>
              <a:t>rootLocation</a:t>
            </a:r>
            <a:r>
              <a:rPr lang="en-US" sz="1800" dirty="0">
                <a:solidFill>
                  <a:schemeClr val="tx1"/>
                </a:solidFill>
              </a:rPr>
              <a:t>&gt; -k ZZZ_SAMPLE_COPYBOOK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F8244834-26F1-17BA-2B7C-2E490A5F0EFE}"/>
              </a:ext>
            </a:extLst>
          </p:cNvPr>
          <p:cNvSpPr>
            <a:spLocks noEditPoints="1"/>
          </p:cNvSpPr>
          <p:nvPr/>
        </p:nvSpPr>
        <p:spPr bwMode="auto">
          <a:xfrm>
            <a:off x="14448085" y="8981822"/>
            <a:ext cx="1543166" cy="2324098"/>
          </a:xfrm>
          <a:custGeom>
            <a:avLst/>
            <a:gdLst>
              <a:gd name="T0" fmla="*/ 5951210 w 613"/>
              <a:gd name="T1" fmla="*/ 153836007 h 679"/>
              <a:gd name="T2" fmla="*/ 35707255 w 613"/>
              <a:gd name="T3" fmla="*/ 111880468 h 679"/>
              <a:gd name="T4" fmla="*/ 90756259 w 613"/>
              <a:gd name="T5" fmla="*/ 72256192 h 679"/>
              <a:gd name="T6" fmla="*/ 168123216 w 613"/>
              <a:gd name="T7" fmla="*/ 41955551 h 679"/>
              <a:gd name="T8" fmla="*/ 260367544 w 613"/>
              <a:gd name="T9" fmla="*/ 16315964 h 679"/>
              <a:gd name="T10" fmla="*/ 364514364 w 613"/>
              <a:gd name="T11" fmla="*/ 4661050 h 679"/>
              <a:gd name="T12" fmla="*/ 474612315 w 613"/>
              <a:gd name="T13" fmla="*/ 0 h 679"/>
              <a:gd name="T14" fmla="*/ 583223379 w 613"/>
              <a:gd name="T15" fmla="*/ 6992338 h 679"/>
              <a:gd name="T16" fmla="*/ 684395281 w 613"/>
              <a:gd name="T17" fmla="*/ 25639593 h 679"/>
              <a:gd name="T18" fmla="*/ 772176508 w 613"/>
              <a:gd name="T19" fmla="*/ 51279186 h 679"/>
              <a:gd name="T20" fmla="*/ 842102893 w 613"/>
              <a:gd name="T21" fmla="*/ 86240863 h 679"/>
              <a:gd name="T22" fmla="*/ 889713773 w 613"/>
              <a:gd name="T23" fmla="*/ 123535378 h 679"/>
              <a:gd name="T24" fmla="*/ 910542390 w 613"/>
              <a:gd name="T25" fmla="*/ 167820678 h 679"/>
              <a:gd name="T26" fmla="*/ 907567396 w 613"/>
              <a:gd name="T27" fmla="*/ 212107552 h 679"/>
              <a:gd name="T28" fmla="*/ 876323251 w 613"/>
              <a:gd name="T29" fmla="*/ 254063092 h 679"/>
              <a:gd name="T30" fmla="*/ 821274276 w 613"/>
              <a:gd name="T31" fmla="*/ 291356056 h 679"/>
              <a:gd name="T32" fmla="*/ 745395464 w 613"/>
              <a:gd name="T33" fmla="*/ 323987973 h 679"/>
              <a:gd name="T34" fmla="*/ 651663029 w 613"/>
              <a:gd name="T35" fmla="*/ 347296266 h 679"/>
              <a:gd name="T36" fmla="*/ 547516133 w 613"/>
              <a:gd name="T37" fmla="*/ 361280937 h 679"/>
              <a:gd name="T38" fmla="*/ 437418182 w 613"/>
              <a:gd name="T39" fmla="*/ 363612224 h 679"/>
              <a:gd name="T40" fmla="*/ 328807118 w 613"/>
              <a:gd name="T41" fmla="*/ 356619889 h 679"/>
              <a:gd name="T42" fmla="*/ 227635293 w 613"/>
              <a:gd name="T43" fmla="*/ 340303931 h 679"/>
              <a:gd name="T44" fmla="*/ 139854027 w 613"/>
              <a:gd name="T45" fmla="*/ 314664350 h 679"/>
              <a:gd name="T46" fmla="*/ 69927623 w 613"/>
              <a:gd name="T47" fmla="*/ 279701146 h 679"/>
              <a:gd name="T48" fmla="*/ 22316733 w 613"/>
              <a:gd name="T49" fmla="*/ 240076894 h 679"/>
              <a:gd name="T50" fmla="*/ 1488107 w 613"/>
              <a:gd name="T51" fmla="*/ 198121307 h 679"/>
              <a:gd name="T52" fmla="*/ 0 w 613"/>
              <a:gd name="T53" fmla="*/ 1400839975 h 679"/>
              <a:gd name="T54" fmla="*/ 13390527 w 613"/>
              <a:gd name="T55" fmla="*/ 1442793988 h 679"/>
              <a:gd name="T56" fmla="*/ 52074001 w 613"/>
              <a:gd name="T57" fmla="*/ 1484749527 h 679"/>
              <a:gd name="T58" fmla="*/ 114562310 w 613"/>
              <a:gd name="T59" fmla="*/ 1519712731 h 679"/>
              <a:gd name="T60" fmla="*/ 196391148 w 613"/>
              <a:gd name="T61" fmla="*/ 1550013360 h 679"/>
              <a:gd name="T62" fmla="*/ 294586683 w 613"/>
              <a:gd name="T63" fmla="*/ 1570990366 h 679"/>
              <a:gd name="T64" fmla="*/ 400222829 w 613"/>
              <a:gd name="T65" fmla="*/ 1580313989 h 679"/>
              <a:gd name="T66" fmla="*/ 511807667 w 613"/>
              <a:gd name="T67" fmla="*/ 1580313989 h 679"/>
              <a:gd name="T68" fmla="*/ 617442518 w 613"/>
              <a:gd name="T69" fmla="*/ 1570990366 h 679"/>
              <a:gd name="T70" fmla="*/ 715639426 w 613"/>
              <a:gd name="T71" fmla="*/ 1550013360 h 679"/>
              <a:gd name="T72" fmla="*/ 797469445 w 613"/>
              <a:gd name="T73" fmla="*/ 1519712731 h 679"/>
              <a:gd name="T74" fmla="*/ 859956515 w 613"/>
              <a:gd name="T75" fmla="*/ 1484749527 h 679"/>
              <a:gd name="T76" fmla="*/ 898639975 w 613"/>
              <a:gd name="T77" fmla="*/ 1442793988 h 679"/>
              <a:gd name="T78" fmla="*/ 912030497 w 613"/>
              <a:gd name="T79" fmla="*/ 1400839975 h 679"/>
              <a:gd name="T80" fmla="*/ 907567396 w 613"/>
              <a:gd name="T81" fmla="*/ 212107552 h 679"/>
              <a:gd name="T82" fmla="*/ 876323251 w 613"/>
              <a:gd name="T83" fmla="*/ 254063092 h 679"/>
              <a:gd name="T84" fmla="*/ 821274276 w 613"/>
              <a:gd name="T85" fmla="*/ 291356056 h 679"/>
              <a:gd name="T86" fmla="*/ 745395464 w 613"/>
              <a:gd name="T87" fmla="*/ 323987973 h 679"/>
              <a:gd name="T88" fmla="*/ 651663029 w 613"/>
              <a:gd name="T89" fmla="*/ 347296266 h 679"/>
              <a:gd name="T90" fmla="*/ 547516133 w 613"/>
              <a:gd name="T91" fmla="*/ 361280937 h 679"/>
              <a:gd name="T92" fmla="*/ 437418182 w 613"/>
              <a:gd name="T93" fmla="*/ 363612224 h 679"/>
              <a:gd name="T94" fmla="*/ 328807118 w 613"/>
              <a:gd name="T95" fmla="*/ 356619889 h 679"/>
              <a:gd name="T96" fmla="*/ 227635293 w 613"/>
              <a:gd name="T97" fmla="*/ 340303931 h 679"/>
              <a:gd name="T98" fmla="*/ 139854027 w 613"/>
              <a:gd name="T99" fmla="*/ 314664350 h 679"/>
              <a:gd name="T100" fmla="*/ 69927623 w 613"/>
              <a:gd name="T101" fmla="*/ 279701146 h 679"/>
              <a:gd name="T102" fmla="*/ 22316733 w 613"/>
              <a:gd name="T103" fmla="*/ 240076894 h 679"/>
              <a:gd name="T104" fmla="*/ 1488107 w 613"/>
              <a:gd name="T105" fmla="*/ 198121307 h 679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613"/>
              <a:gd name="T160" fmla="*/ 0 h 679"/>
              <a:gd name="T161" fmla="*/ 613 w 613"/>
              <a:gd name="T162" fmla="*/ 679 h 679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613" h="679">
                <a:moveTo>
                  <a:pt x="0" y="78"/>
                </a:moveTo>
                <a:lnTo>
                  <a:pt x="1" y="72"/>
                </a:lnTo>
                <a:lnTo>
                  <a:pt x="4" y="66"/>
                </a:lnTo>
                <a:lnTo>
                  <a:pt x="9" y="60"/>
                </a:lnTo>
                <a:lnTo>
                  <a:pt x="15" y="53"/>
                </a:lnTo>
                <a:lnTo>
                  <a:pt x="24" y="48"/>
                </a:lnTo>
                <a:lnTo>
                  <a:pt x="35" y="42"/>
                </a:lnTo>
                <a:lnTo>
                  <a:pt x="47" y="37"/>
                </a:lnTo>
                <a:lnTo>
                  <a:pt x="61" y="31"/>
                </a:lnTo>
                <a:lnTo>
                  <a:pt x="77" y="26"/>
                </a:lnTo>
                <a:lnTo>
                  <a:pt x="94" y="22"/>
                </a:lnTo>
                <a:lnTo>
                  <a:pt x="113" y="18"/>
                </a:lnTo>
                <a:lnTo>
                  <a:pt x="132" y="14"/>
                </a:lnTo>
                <a:lnTo>
                  <a:pt x="153" y="11"/>
                </a:lnTo>
                <a:lnTo>
                  <a:pt x="175" y="7"/>
                </a:lnTo>
                <a:lnTo>
                  <a:pt x="198" y="5"/>
                </a:lnTo>
                <a:lnTo>
                  <a:pt x="221" y="3"/>
                </a:lnTo>
                <a:lnTo>
                  <a:pt x="245" y="2"/>
                </a:lnTo>
                <a:lnTo>
                  <a:pt x="269" y="0"/>
                </a:lnTo>
                <a:lnTo>
                  <a:pt x="294" y="0"/>
                </a:lnTo>
                <a:lnTo>
                  <a:pt x="319" y="0"/>
                </a:lnTo>
                <a:lnTo>
                  <a:pt x="344" y="0"/>
                </a:lnTo>
                <a:lnTo>
                  <a:pt x="368" y="2"/>
                </a:lnTo>
                <a:lnTo>
                  <a:pt x="392" y="3"/>
                </a:lnTo>
                <a:lnTo>
                  <a:pt x="415" y="5"/>
                </a:lnTo>
                <a:lnTo>
                  <a:pt x="438" y="7"/>
                </a:lnTo>
                <a:lnTo>
                  <a:pt x="460" y="11"/>
                </a:lnTo>
                <a:lnTo>
                  <a:pt x="481" y="14"/>
                </a:lnTo>
                <a:lnTo>
                  <a:pt x="501" y="18"/>
                </a:lnTo>
                <a:lnTo>
                  <a:pt x="519" y="22"/>
                </a:lnTo>
                <a:lnTo>
                  <a:pt x="536" y="26"/>
                </a:lnTo>
                <a:lnTo>
                  <a:pt x="552" y="31"/>
                </a:lnTo>
                <a:lnTo>
                  <a:pt x="566" y="37"/>
                </a:lnTo>
                <a:lnTo>
                  <a:pt x="578" y="42"/>
                </a:lnTo>
                <a:lnTo>
                  <a:pt x="589" y="48"/>
                </a:lnTo>
                <a:lnTo>
                  <a:pt x="598" y="53"/>
                </a:lnTo>
                <a:lnTo>
                  <a:pt x="604" y="60"/>
                </a:lnTo>
                <a:lnTo>
                  <a:pt x="610" y="66"/>
                </a:lnTo>
                <a:lnTo>
                  <a:pt x="612" y="72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  <a:moveTo>
                  <a:pt x="0" y="78"/>
                </a:moveTo>
                <a:lnTo>
                  <a:pt x="0" y="601"/>
                </a:lnTo>
                <a:lnTo>
                  <a:pt x="1" y="607"/>
                </a:lnTo>
                <a:lnTo>
                  <a:pt x="4" y="613"/>
                </a:lnTo>
                <a:lnTo>
                  <a:pt x="9" y="619"/>
                </a:lnTo>
                <a:lnTo>
                  <a:pt x="15" y="625"/>
                </a:lnTo>
                <a:lnTo>
                  <a:pt x="24" y="631"/>
                </a:lnTo>
                <a:lnTo>
                  <a:pt x="35" y="637"/>
                </a:lnTo>
                <a:lnTo>
                  <a:pt x="47" y="642"/>
                </a:lnTo>
                <a:lnTo>
                  <a:pt x="61" y="648"/>
                </a:lnTo>
                <a:lnTo>
                  <a:pt x="77" y="652"/>
                </a:lnTo>
                <a:lnTo>
                  <a:pt x="94" y="657"/>
                </a:lnTo>
                <a:lnTo>
                  <a:pt x="113" y="661"/>
                </a:lnTo>
                <a:lnTo>
                  <a:pt x="132" y="665"/>
                </a:lnTo>
                <a:lnTo>
                  <a:pt x="153" y="668"/>
                </a:lnTo>
                <a:lnTo>
                  <a:pt x="175" y="671"/>
                </a:lnTo>
                <a:lnTo>
                  <a:pt x="198" y="674"/>
                </a:lnTo>
                <a:lnTo>
                  <a:pt x="221" y="676"/>
                </a:lnTo>
                <a:lnTo>
                  <a:pt x="245" y="677"/>
                </a:lnTo>
                <a:lnTo>
                  <a:pt x="269" y="678"/>
                </a:lnTo>
                <a:lnTo>
                  <a:pt x="294" y="679"/>
                </a:lnTo>
                <a:lnTo>
                  <a:pt x="319" y="679"/>
                </a:lnTo>
                <a:lnTo>
                  <a:pt x="344" y="678"/>
                </a:lnTo>
                <a:lnTo>
                  <a:pt x="368" y="677"/>
                </a:lnTo>
                <a:lnTo>
                  <a:pt x="392" y="676"/>
                </a:lnTo>
                <a:lnTo>
                  <a:pt x="415" y="674"/>
                </a:lnTo>
                <a:lnTo>
                  <a:pt x="438" y="671"/>
                </a:lnTo>
                <a:lnTo>
                  <a:pt x="460" y="668"/>
                </a:lnTo>
                <a:lnTo>
                  <a:pt x="481" y="665"/>
                </a:lnTo>
                <a:lnTo>
                  <a:pt x="501" y="661"/>
                </a:lnTo>
                <a:lnTo>
                  <a:pt x="519" y="657"/>
                </a:lnTo>
                <a:lnTo>
                  <a:pt x="536" y="652"/>
                </a:lnTo>
                <a:lnTo>
                  <a:pt x="552" y="648"/>
                </a:lnTo>
                <a:lnTo>
                  <a:pt x="566" y="642"/>
                </a:lnTo>
                <a:lnTo>
                  <a:pt x="578" y="637"/>
                </a:lnTo>
                <a:lnTo>
                  <a:pt x="589" y="631"/>
                </a:lnTo>
                <a:lnTo>
                  <a:pt x="598" y="625"/>
                </a:lnTo>
                <a:lnTo>
                  <a:pt x="604" y="619"/>
                </a:lnTo>
                <a:lnTo>
                  <a:pt x="610" y="613"/>
                </a:lnTo>
                <a:lnTo>
                  <a:pt x="612" y="607"/>
                </a:lnTo>
                <a:lnTo>
                  <a:pt x="613" y="601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</a:path>
            </a:pathLst>
          </a:custGeom>
          <a:solidFill>
            <a:srgbClr val="CCFFCC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1726564-4A2D-B30C-B304-AC5368932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7360" y="10072751"/>
            <a:ext cx="13007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  <a:highlight>
                  <a:srgbClr val="00FFFF"/>
                </a:highlight>
              </a:rPr>
              <a:t>.BAR file</a:t>
            </a:r>
            <a:endParaRPr lang="en-US" sz="3600" b="1" dirty="0">
              <a:solidFill>
                <a:srgbClr val="006600"/>
              </a:solidFill>
              <a:highlight>
                <a:srgbClr val="00FFFF"/>
              </a:highlight>
              <a:latin typeface="Times New Roman" pitchFamily="18" charset="0"/>
            </a:endParaRP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B1496511-6988-566E-E1F1-3DEECF83E445}"/>
              </a:ext>
            </a:extLst>
          </p:cNvPr>
          <p:cNvSpPr>
            <a:spLocks noEditPoints="1"/>
          </p:cNvSpPr>
          <p:nvPr/>
        </p:nvSpPr>
        <p:spPr bwMode="auto">
          <a:xfrm>
            <a:off x="12874995" y="10760635"/>
            <a:ext cx="1543166" cy="2324098"/>
          </a:xfrm>
          <a:custGeom>
            <a:avLst/>
            <a:gdLst>
              <a:gd name="T0" fmla="*/ 5951210 w 613"/>
              <a:gd name="T1" fmla="*/ 153836007 h 679"/>
              <a:gd name="T2" fmla="*/ 35707255 w 613"/>
              <a:gd name="T3" fmla="*/ 111880468 h 679"/>
              <a:gd name="T4" fmla="*/ 90756259 w 613"/>
              <a:gd name="T5" fmla="*/ 72256192 h 679"/>
              <a:gd name="T6" fmla="*/ 168123216 w 613"/>
              <a:gd name="T7" fmla="*/ 41955551 h 679"/>
              <a:gd name="T8" fmla="*/ 260367544 w 613"/>
              <a:gd name="T9" fmla="*/ 16315964 h 679"/>
              <a:gd name="T10" fmla="*/ 364514364 w 613"/>
              <a:gd name="T11" fmla="*/ 4661050 h 679"/>
              <a:gd name="T12" fmla="*/ 474612315 w 613"/>
              <a:gd name="T13" fmla="*/ 0 h 679"/>
              <a:gd name="T14" fmla="*/ 583223379 w 613"/>
              <a:gd name="T15" fmla="*/ 6992338 h 679"/>
              <a:gd name="T16" fmla="*/ 684395281 w 613"/>
              <a:gd name="T17" fmla="*/ 25639593 h 679"/>
              <a:gd name="T18" fmla="*/ 772176508 w 613"/>
              <a:gd name="T19" fmla="*/ 51279186 h 679"/>
              <a:gd name="T20" fmla="*/ 842102893 w 613"/>
              <a:gd name="T21" fmla="*/ 86240863 h 679"/>
              <a:gd name="T22" fmla="*/ 889713773 w 613"/>
              <a:gd name="T23" fmla="*/ 123535378 h 679"/>
              <a:gd name="T24" fmla="*/ 910542390 w 613"/>
              <a:gd name="T25" fmla="*/ 167820678 h 679"/>
              <a:gd name="T26" fmla="*/ 907567396 w 613"/>
              <a:gd name="T27" fmla="*/ 212107552 h 679"/>
              <a:gd name="T28" fmla="*/ 876323251 w 613"/>
              <a:gd name="T29" fmla="*/ 254063092 h 679"/>
              <a:gd name="T30" fmla="*/ 821274276 w 613"/>
              <a:gd name="T31" fmla="*/ 291356056 h 679"/>
              <a:gd name="T32" fmla="*/ 745395464 w 613"/>
              <a:gd name="T33" fmla="*/ 323987973 h 679"/>
              <a:gd name="T34" fmla="*/ 651663029 w 613"/>
              <a:gd name="T35" fmla="*/ 347296266 h 679"/>
              <a:gd name="T36" fmla="*/ 547516133 w 613"/>
              <a:gd name="T37" fmla="*/ 361280937 h 679"/>
              <a:gd name="T38" fmla="*/ 437418182 w 613"/>
              <a:gd name="T39" fmla="*/ 363612224 h 679"/>
              <a:gd name="T40" fmla="*/ 328807118 w 613"/>
              <a:gd name="T41" fmla="*/ 356619889 h 679"/>
              <a:gd name="T42" fmla="*/ 227635293 w 613"/>
              <a:gd name="T43" fmla="*/ 340303931 h 679"/>
              <a:gd name="T44" fmla="*/ 139854027 w 613"/>
              <a:gd name="T45" fmla="*/ 314664350 h 679"/>
              <a:gd name="T46" fmla="*/ 69927623 w 613"/>
              <a:gd name="T47" fmla="*/ 279701146 h 679"/>
              <a:gd name="T48" fmla="*/ 22316733 w 613"/>
              <a:gd name="T49" fmla="*/ 240076894 h 679"/>
              <a:gd name="T50" fmla="*/ 1488107 w 613"/>
              <a:gd name="T51" fmla="*/ 198121307 h 679"/>
              <a:gd name="T52" fmla="*/ 0 w 613"/>
              <a:gd name="T53" fmla="*/ 1400839975 h 679"/>
              <a:gd name="T54" fmla="*/ 13390527 w 613"/>
              <a:gd name="T55" fmla="*/ 1442793988 h 679"/>
              <a:gd name="T56" fmla="*/ 52074001 w 613"/>
              <a:gd name="T57" fmla="*/ 1484749527 h 679"/>
              <a:gd name="T58" fmla="*/ 114562310 w 613"/>
              <a:gd name="T59" fmla="*/ 1519712731 h 679"/>
              <a:gd name="T60" fmla="*/ 196391148 w 613"/>
              <a:gd name="T61" fmla="*/ 1550013360 h 679"/>
              <a:gd name="T62" fmla="*/ 294586683 w 613"/>
              <a:gd name="T63" fmla="*/ 1570990366 h 679"/>
              <a:gd name="T64" fmla="*/ 400222829 w 613"/>
              <a:gd name="T65" fmla="*/ 1580313989 h 679"/>
              <a:gd name="T66" fmla="*/ 511807667 w 613"/>
              <a:gd name="T67" fmla="*/ 1580313989 h 679"/>
              <a:gd name="T68" fmla="*/ 617442518 w 613"/>
              <a:gd name="T69" fmla="*/ 1570990366 h 679"/>
              <a:gd name="T70" fmla="*/ 715639426 w 613"/>
              <a:gd name="T71" fmla="*/ 1550013360 h 679"/>
              <a:gd name="T72" fmla="*/ 797469445 w 613"/>
              <a:gd name="T73" fmla="*/ 1519712731 h 679"/>
              <a:gd name="T74" fmla="*/ 859956515 w 613"/>
              <a:gd name="T75" fmla="*/ 1484749527 h 679"/>
              <a:gd name="T76" fmla="*/ 898639975 w 613"/>
              <a:gd name="T77" fmla="*/ 1442793988 h 679"/>
              <a:gd name="T78" fmla="*/ 912030497 w 613"/>
              <a:gd name="T79" fmla="*/ 1400839975 h 679"/>
              <a:gd name="T80" fmla="*/ 907567396 w 613"/>
              <a:gd name="T81" fmla="*/ 212107552 h 679"/>
              <a:gd name="T82" fmla="*/ 876323251 w 613"/>
              <a:gd name="T83" fmla="*/ 254063092 h 679"/>
              <a:gd name="T84" fmla="*/ 821274276 w 613"/>
              <a:gd name="T85" fmla="*/ 291356056 h 679"/>
              <a:gd name="T86" fmla="*/ 745395464 w 613"/>
              <a:gd name="T87" fmla="*/ 323987973 h 679"/>
              <a:gd name="T88" fmla="*/ 651663029 w 613"/>
              <a:gd name="T89" fmla="*/ 347296266 h 679"/>
              <a:gd name="T90" fmla="*/ 547516133 w 613"/>
              <a:gd name="T91" fmla="*/ 361280937 h 679"/>
              <a:gd name="T92" fmla="*/ 437418182 w 613"/>
              <a:gd name="T93" fmla="*/ 363612224 h 679"/>
              <a:gd name="T94" fmla="*/ 328807118 w 613"/>
              <a:gd name="T95" fmla="*/ 356619889 h 679"/>
              <a:gd name="T96" fmla="*/ 227635293 w 613"/>
              <a:gd name="T97" fmla="*/ 340303931 h 679"/>
              <a:gd name="T98" fmla="*/ 139854027 w 613"/>
              <a:gd name="T99" fmla="*/ 314664350 h 679"/>
              <a:gd name="T100" fmla="*/ 69927623 w 613"/>
              <a:gd name="T101" fmla="*/ 279701146 h 679"/>
              <a:gd name="T102" fmla="*/ 22316733 w 613"/>
              <a:gd name="T103" fmla="*/ 240076894 h 679"/>
              <a:gd name="T104" fmla="*/ 1488107 w 613"/>
              <a:gd name="T105" fmla="*/ 198121307 h 679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613"/>
              <a:gd name="T160" fmla="*/ 0 h 679"/>
              <a:gd name="T161" fmla="*/ 613 w 613"/>
              <a:gd name="T162" fmla="*/ 679 h 679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613" h="679">
                <a:moveTo>
                  <a:pt x="0" y="78"/>
                </a:moveTo>
                <a:lnTo>
                  <a:pt x="1" y="72"/>
                </a:lnTo>
                <a:lnTo>
                  <a:pt x="4" y="66"/>
                </a:lnTo>
                <a:lnTo>
                  <a:pt x="9" y="60"/>
                </a:lnTo>
                <a:lnTo>
                  <a:pt x="15" y="53"/>
                </a:lnTo>
                <a:lnTo>
                  <a:pt x="24" y="48"/>
                </a:lnTo>
                <a:lnTo>
                  <a:pt x="35" y="42"/>
                </a:lnTo>
                <a:lnTo>
                  <a:pt x="47" y="37"/>
                </a:lnTo>
                <a:lnTo>
                  <a:pt x="61" y="31"/>
                </a:lnTo>
                <a:lnTo>
                  <a:pt x="77" y="26"/>
                </a:lnTo>
                <a:lnTo>
                  <a:pt x="94" y="22"/>
                </a:lnTo>
                <a:lnTo>
                  <a:pt x="113" y="18"/>
                </a:lnTo>
                <a:lnTo>
                  <a:pt x="132" y="14"/>
                </a:lnTo>
                <a:lnTo>
                  <a:pt x="153" y="11"/>
                </a:lnTo>
                <a:lnTo>
                  <a:pt x="175" y="7"/>
                </a:lnTo>
                <a:lnTo>
                  <a:pt x="198" y="5"/>
                </a:lnTo>
                <a:lnTo>
                  <a:pt x="221" y="3"/>
                </a:lnTo>
                <a:lnTo>
                  <a:pt x="245" y="2"/>
                </a:lnTo>
                <a:lnTo>
                  <a:pt x="269" y="0"/>
                </a:lnTo>
                <a:lnTo>
                  <a:pt x="294" y="0"/>
                </a:lnTo>
                <a:lnTo>
                  <a:pt x="319" y="0"/>
                </a:lnTo>
                <a:lnTo>
                  <a:pt x="344" y="0"/>
                </a:lnTo>
                <a:lnTo>
                  <a:pt x="368" y="2"/>
                </a:lnTo>
                <a:lnTo>
                  <a:pt x="392" y="3"/>
                </a:lnTo>
                <a:lnTo>
                  <a:pt x="415" y="5"/>
                </a:lnTo>
                <a:lnTo>
                  <a:pt x="438" y="7"/>
                </a:lnTo>
                <a:lnTo>
                  <a:pt x="460" y="11"/>
                </a:lnTo>
                <a:lnTo>
                  <a:pt x="481" y="14"/>
                </a:lnTo>
                <a:lnTo>
                  <a:pt x="501" y="18"/>
                </a:lnTo>
                <a:lnTo>
                  <a:pt x="519" y="22"/>
                </a:lnTo>
                <a:lnTo>
                  <a:pt x="536" y="26"/>
                </a:lnTo>
                <a:lnTo>
                  <a:pt x="552" y="31"/>
                </a:lnTo>
                <a:lnTo>
                  <a:pt x="566" y="37"/>
                </a:lnTo>
                <a:lnTo>
                  <a:pt x="578" y="42"/>
                </a:lnTo>
                <a:lnTo>
                  <a:pt x="589" y="48"/>
                </a:lnTo>
                <a:lnTo>
                  <a:pt x="598" y="53"/>
                </a:lnTo>
                <a:lnTo>
                  <a:pt x="604" y="60"/>
                </a:lnTo>
                <a:lnTo>
                  <a:pt x="610" y="66"/>
                </a:lnTo>
                <a:lnTo>
                  <a:pt x="612" y="72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  <a:moveTo>
                  <a:pt x="0" y="78"/>
                </a:moveTo>
                <a:lnTo>
                  <a:pt x="0" y="601"/>
                </a:lnTo>
                <a:lnTo>
                  <a:pt x="1" y="607"/>
                </a:lnTo>
                <a:lnTo>
                  <a:pt x="4" y="613"/>
                </a:lnTo>
                <a:lnTo>
                  <a:pt x="9" y="619"/>
                </a:lnTo>
                <a:lnTo>
                  <a:pt x="15" y="625"/>
                </a:lnTo>
                <a:lnTo>
                  <a:pt x="24" y="631"/>
                </a:lnTo>
                <a:lnTo>
                  <a:pt x="35" y="637"/>
                </a:lnTo>
                <a:lnTo>
                  <a:pt x="47" y="642"/>
                </a:lnTo>
                <a:lnTo>
                  <a:pt x="61" y="648"/>
                </a:lnTo>
                <a:lnTo>
                  <a:pt x="77" y="652"/>
                </a:lnTo>
                <a:lnTo>
                  <a:pt x="94" y="657"/>
                </a:lnTo>
                <a:lnTo>
                  <a:pt x="113" y="661"/>
                </a:lnTo>
                <a:lnTo>
                  <a:pt x="132" y="665"/>
                </a:lnTo>
                <a:lnTo>
                  <a:pt x="153" y="668"/>
                </a:lnTo>
                <a:lnTo>
                  <a:pt x="175" y="671"/>
                </a:lnTo>
                <a:lnTo>
                  <a:pt x="198" y="674"/>
                </a:lnTo>
                <a:lnTo>
                  <a:pt x="221" y="676"/>
                </a:lnTo>
                <a:lnTo>
                  <a:pt x="245" y="677"/>
                </a:lnTo>
                <a:lnTo>
                  <a:pt x="269" y="678"/>
                </a:lnTo>
                <a:lnTo>
                  <a:pt x="294" y="679"/>
                </a:lnTo>
                <a:lnTo>
                  <a:pt x="319" y="679"/>
                </a:lnTo>
                <a:lnTo>
                  <a:pt x="344" y="678"/>
                </a:lnTo>
                <a:lnTo>
                  <a:pt x="368" y="677"/>
                </a:lnTo>
                <a:lnTo>
                  <a:pt x="392" y="676"/>
                </a:lnTo>
                <a:lnTo>
                  <a:pt x="415" y="674"/>
                </a:lnTo>
                <a:lnTo>
                  <a:pt x="438" y="671"/>
                </a:lnTo>
                <a:lnTo>
                  <a:pt x="460" y="668"/>
                </a:lnTo>
                <a:lnTo>
                  <a:pt x="481" y="665"/>
                </a:lnTo>
                <a:lnTo>
                  <a:pt x="501" y="661"/>
                </a:lnTo>
                <a:lnTo>
                  <a:pt x="519" y="657"/>
                </a:lnTo>
                <a:lnTo>
                  <a:pt x="536" y="652"/>
                </a:lnTo>
                <a:lnTo>
                  <a:pt x="552" y="648"/>
                </a:lnTo>
                <a:lnTo>
                  <a:pt x="566" y="642"/>
                </a:lnTo>
                <a:lnTo>
                  <a:pt x="578" y="637"/>
                </a:lnTo>
                <a:lnTo>
                  <a:pt x="589" y="631"/>
                </a:lnTo>
                <a:lnTo>
                  <a:pt x="598" y="625"/>
                </a:lnTo>
                <a:lnTo>
                  <a:pt x="604" y="619"/>
                </a:lnTo>
                <a:lnTo>
                  <a:pt x="610" y="613"/>
                </a:lnTo>
                <a:lnTo>
                  <a:pt x="612" y="607"/>
                </a:lnTo>
                <a:lnTo>
                  <a:pt x="613" y="601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</a:path>
            </a:pathLst>
          </a:custGeom>
          <a:solidFill>
            <a:srgbClr val="CCFFCC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EF0DEB-9B6E-FAFD-5CFD-C9D5F22BF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6182" y="11702160"/>
            <a:ext cx="140612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 err="1">
                <a:solidFill>
                  <a:srgbClr val="000000"/>
                </a:solidFill>
                <a:highlight>
                  <a:srgbClr val="FFFF00"/>
                </a:highlight>
              </a:rPr>
              <a:t>Arquivo</a:t>
            </a:r>
            <a:endParaRPr lang="en-US" sz="24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</a:rPr>
              <a:t>Properties</a:t>
            </a:r>
            <a:endParaRPr lang="en-US" sz="3600" b="1" dirty="0">
              <a:solidFill>
                <a:srgbClr val="006600"/>
              </a:solidFill>
              <a:highlight>
                <a:srgbClr val="FFFF00"/>
              </a:highlight>
              <a:latin typeface="Times New Roman" pitchFamily="18" charset="0"/>
            </a:endParaRPr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3AD58EAD-B812-C6FF-4A7F-DFE09210C6E5}"/>
              </a:ext>
            </a:extLst>
          </p:cNvPr>
          <p:cNvSpPr>
            <a:spLocks/>
          </p:cNvSpPr>
          <p:nvPr/>
        </p:nvSpPr>
        <p:spPr bwMode="auto">
          <a:xfrm>
            <a:off x="16131568" y="9953200"/>
            <a:ext cx="2117535" cy="382861"/>
          </a:xfrm>
          <a:custGeom>
            <a:avLst/>
            <a:gdLst>
              <a:gd name="T0" fmla="*/ 0 w 982"/>
              <a:gd name="T1" fmla="*/ 58320439 h 125"/>
              <a:gd name="T2" fmla="*/ 0 w 982"/>
              <a:gd name="T3" fmla="*/ 176840388 h 125"/>
              <a:gd name="T4" fmla="*/ 2147483647 w 982"/>
              <a:gd name="T5" fmla="*/ 176840388 h 125"/>
              <a:gd name="T6" fmla="*/ 2147483647 w 982"/>
              <a:gd name="T7" fmla="*/ 235160848 h 125"/>
              <a:gd name="T8" fmla="*/ 2147483647 w 982"/>
              <a:gd name="T9" fmla="*/ 116639507 h 125"/>
              <a:gd name="T10" fmla="*/ 2147483647 w 982"/>
              <a:gd name="T11" fmla="*/ 0 h 125"/>
              <a:gd name="T12" fmla="*/ 2147483647 w 982"/>
              <a:gd name="T13" fmla="*/ 58320439 h 125"/>
              <a:gd name="T14" fmla="*/ 0 w 982"/>
              <a:gd name="T15" fmla="*/ 58320439 h 12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82"/>
              <a:gd name="T25" fmla="*/ 0 h 125"/>
              <a:gd name="T26" fmla="*/ 982 w 982"/>
              <a:gd name="T27" fmla="*/ 125 h 12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82" h="125">
                <a:moveTo>
                  <a:pt x="0" y="31"/>
                </a:moveTo>
                <a:lnTo>
                  <a:pt x="0" y="94"/>
                </a:lnTo>
                <a:lnTo>
                  <a:pt x="945" y="94"/>
                </a:lnTo>
                <a:lnTo>
                  <a:pt x="945" y="125"/>
                </a:lnTo>
                <a:lnTo>
                  <a:pt x="982" y="62"/>
                </a:lnTo>
                <a:lnTo>
                  <a:pt x="945" y="0"/>
                </a:lnTo>
                <a:lnTo>
                  <a:pt x="945" y="31"/>
                </a:lnTo>
                <a:lnTo>
                  <a:pt x="0" y="31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id="{A7D805A8-3B4D-798A-E868-B6A4E83EF1D2}"/>
              </a:ext>
            </a:extLst>
          </p:cNvPr>
          <p:cNvSpPr>
            <a:spLocks/>
          </p:cNvSpPr>
          <p:nvPr/>
        </p:nvSpPr>
        <p:spPr bwMode="auto">
          <a:xfrm>
            <a:off x="12176858" y="9953200"/>
            <a:ext cx="2117535" cy="382861"/>
          </a:xfrm>
          <a:custGeom>
            <a:avLst/>
            <a:gdLst>
              <a:gd name="T0" fmla="*/ 0 w 982"/>
              <a:gd name="T1" fmla="*/ 58320439 h 125"/>
              <a:gd name="T2" fmla="*/ 0 w 982"/>
              <a:gd name="T3" fmla="*/ 176840388 h 125"/>
              <a:gd name="T4" fmla="*/ 2147483647 w 982"/>
              <a:gd name="T5" fmla="*/ 176840388 h 125"/>
              <a:gd name="T6" fmla="*/ 2147483647 w 982"/>
              <a:gd name="T7" fmla="*/ 235160848 h 125"/>
              <a:gd name="T8" fmla="*/ 2147483647 w 982"/>
              <a:gd name="T9" fmla="*/ 116639507 h 125"/>
              <a:gd name="T10" fmla="*/ 2147483647 w 982"/>
              <a:gd name="T11" fmla="*/ 0 h 125"/>
              <a:gd name="T12" fmla="*/ 2147483647 w 982"/>
              <a:gd name="T13" fmla="*/ 58320439 h 125"/>
              <a:gd name="T14" fmla="*/ 0 w 982"/>
              <a:gd name="T15" fmla="*/ 58320439 h 12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82"/>
              <a:gd name="T25" fmla="*/ 0 h 125"/>
              <a:gd name="T26" fmla="*/ 982 w 982"/>
              <a:gd name="T27" fmla="*/ 125 h 12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82" h="125">
                <a:moveTo>
                  <a:pt x="0" y="31"/>
                </a:moveTo>
                <a:lnTo>
                  <a:pt x="0" y="94"/>
                </a:lnTo>
                <a:lnTo>
                  <a:pt x="945" y="94"/>
                </a:lnTo>
                <a:lnTo>
                  <a:pt x="945" y="125"/>
                </a:lnTo>
                <a:lnTo>
                  <a:pt x="982" y="62"/>
                </a:lnTo>
                <a:lnTo>
                  <a:pt x="945" y="0"/>
                </a:lnTo>
                <a:lnTo>
                  <a:pt x="945" y="31"/>
                </a:lnTo>
                <a:lnTo>
                  <a:pt x="0" y="31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B34063A4-CA40-BBD8-E07B-660BF3F98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0327" y="10397677"/>
            <a:ext cx="15951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</a:rPr>
              <a:t>Override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742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"/>
          <p:cNvSpPr txBox="1">
            <a:spLocks noChangeArrowheads="1"/>
          </p:cNvSpPr>
          <p:nvPr/>
        </p:nvSpPr>
        <p:spPr bwMode="auto">
          <a:xfrm>
            <a:off x="3317877" y="260835"/>
            <a:ext cx="13706474" cy="6943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hangingPunct="1">
              <a:lnSpc>
                <a:spcPct val="94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GB" altLang="pt-BR" sz="4800">
                <a:solidFill>
                  <a:srgbClr val="006699"/>
                </a:solidFill>
                <a:ea typeface="MS PGothic" pitchFamily="34" charset="-128"/>
              </a:rPr>
              <a:t>Dúvidas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86800" y="3657600"/>
            <a:ext cx="5715000" cy="5715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C39A22-2CA9-10AC-2A7D-B169173C7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68" y="11634494"/>
            <a:ext cx="1653115" cy="1569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CD65A4-E88A-2C96-824C-3BC7A01C3898}"/>
              </a:ext>
            </a:extLst>
          </p:cNvPr>
          <p:cNvSpPr txBox="1"/>
          <p:nvPr/>
        </p:nvSpPr>
        <p:spPr>
          <a:xfrm>
            <a:off x="2571711" y="11634494"/>
            <a:ext cx="74998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solidFill>
                  <a:schemeClr val="tx1"/>
                </a:solidFill>
              </a:rPr>
              <a:t>Alexandre Zanetti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2800" dirty="0">
              <a:solidFill>
                <a:schemeClr val="tx1"/>
              </a:solidFill>
            </a:endParaRPr>
          </a:p>
          <a:p>
            <a:pPr algn="just"/>
            <a:r>
              <a:rPr lang="en-US" sz="2800" dirty="0">
                <a:solidFill>
                  <a:schemeClr val="tx1"/>
                </a:solidFill>
                <a:effectLst/>
              </a:rPr>
              <a:t>IBM SRE Expert &amp; Integration Architect 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dirty="0" err="1">
                <a:solidFill>
                  <a:srgbClr val="FFFFFF"/>
                </a:solidFill>
              </a:rPr>
              <a:t>Referências</a:t>
            </a:r>
            <a:endParaRPr lang="en-US" sz="9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37176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E7C1-1FA7-4E9C-92D3-5875882C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36" y="1743077"/>
            <a:ext cx="22153032" cy="996950"/>
          </a:xfrm>
        </p:spPr>
        <p:txBody>
          <a:bodyPr>
            <a:normAutofit fontScale="90000"/>
          </a:bodyPr>
          <a:lstStyle/>
          <a:p>
            <a:r>
              <a:rPr lang="pt-BR" dirty="0"/>
              <a:t>Referências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68E42-AF8F-4079-99E8-5CE8672B016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10637" y="3552827"/>
            <a:ext cx="22969316" cy="9714938"/>
          </a:xfrm>
        </p:spPr>
        <p:txBody>
          <a:bodyPr anchor="t" anchorCtr="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11 e ACE 12</a:t>
            </a:r>
            <a:br>
              <a:rPr lang="pt-BR" sz="3600" dirty="0"/>
            </a:br>
            <a:r>
              <a:rPr lang="pt-BR" sz="3600" dirty="0">
                <a:hlinkClick r:id="rId2"/>
              </a:rPr>
              <a:t>https://www.ibm.com/support/knowledgecenter/en/SSTTDS_12.0.0/com.ibm.ace.home.doc/help_home.htm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dirty="0">
                <a:hlinkClick r:id="rId3"/>
              </a:rPr>
              <a:t>https://www.ibm.com/docs/en/app-connect/12.0</a:t>
            </a:r>
            <a:r>
              <a:rPr lang="pt-BR" sz="3600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– Comandos</a:t>
            </a:r>
            <a:br>
              <a:rPr lang="pt-BR" sz="3600" dirty="0"/>
            </a:br>
            <a:r>
              <a:rPr lang="pt-BR" sz="3600" dirty="0">
                <a:hlinkClick r:id="rId4"/>
              </a:rPr>
              <a:t>https://www.ibm.com/support/knowledgecenter/en/SSTTDS_11.0.0/com.ibm.etools.mft.doc/an07060_.html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dirty="0">
                <a:hlinkClick r:id="rId5"/>
              </a:rPr>
              <a:t>https://www.ibm.com/docs/en/app-connect/12.0?topic=administration-app-connect-enterprise-commands</a:t>
            </a:r>
            <a:r>
              <a:rPr lang="pt-BR" sz="3600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– Policies overview</a:t>
            </a:r>
            <a:br>
              <a:rPr lang="pt-BR" sz="3600" dirty="0"/>
            </a:br>
            <a:r>
              <a:rPr lang="pt-BR" sz="3600" dirty="0">
                <a:hlinkClick r:id="rId6"/>
              </a:rPr>
              <a:t>https://www.ibm.com/support/knowledgecenter/SSTTDS_11.0.0/com.ibm.etools.mft.doc/py00106_.html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dirty="0">
                <a:hlinkClick r:id="rId7"/>
              </a:rPr>
              <a:t>https://www.ibm.com/docs/en/app-connect/12.0?topic=policies-overview</a:t>
            </a:r>
            <a:r>
              <a:rPr lang="pt-BR" sz="3600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– FAQ, Tutorials, Performance Reports, etc</a:t>
            </a:r>
            <a:r>
              <a:rPr lang="pt-BR" sz="3600" dirty="0"/>
              <a:t>.</a:t>
            </a:r>
            <a:br>
              <a:rPr lang="pt-BR" sz="3600" dirty="0"/>
            </a:br>
            <a:r>
              <a:rPr lang="pt-BR" sz="3600" dirty="0">
                <a:hlinkClick r:id="rId8"/>
              </a:rPr>
              <a:t>https://developer.ibm.com/integration/docs/app-connect-enterprise/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119858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image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087" y="4973589"/>
            <a:ext cx="12513826" cy="37688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4163</Words>
  <Application>Microsoft Office PowerPoint</Application>
  <PresentationFormat>Custom</PresentationFormat>
  <Paragraphs>634</Paragraphs>
  <Slides>76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9" baseType="lpstr">
      <vt:lpstr>MS PGothic</vt:lpstr>
      <vt:lpstr>Arial</vt:lpstr>
      <vt:lpstr>Calibri</vt:lpstr>
      <vt:lpstr>Calibri Light</vt:lpstr>
      <vt:lpstr>Courier New</vt:lpstr>
      <vt:lpstr>Helvetica Light</vt:lpstr>
      <vt:lpstr>Helvetica Neue</vt:lpstr>
      <vt:lpstr>IBM Plex Sans</vt:lpstr>
      <vt:lpstr>IBM Plex Sans Light</vt:lpstr>
      <vt:lpstr>Times New Roman</vt:lpstr>
      <vt:lpstr>Verdana</vt:lpstr>
      <vt:lpstr>Wingdings</vt:lpstr>
      <vt:lpstr>Office Theme</vt:lpstr>
      <vt:lpstr>IBM ACE – App Connect Enterprise Introdução</vt:lpstr>
      <vt:lpstr>Agenda</vt:lpstr>
      <vt:lpstr>Desafios do mercado</vt:lpstr>
      <vt:lpstr>O desafio da integração</vt:lpstr>
      <vt:lpstr>Gerenciando a complexidade na TI</vt:lpstr>
      <vt:lpstr>Benefícios da Integração de Sistemas </vt:lpstr>
      <vt:lpstr>O que quer dizer integração?</vt:lpstr>
      <vt:lpstr>SOA simplifica a conectividade por meio de interfaces</vt:lpstr>
      <vt:lpstr>O que é um ESB?</vt:lpstr>
      <vt:lpstr>O que é um ESB?</vt:lpstr>
      <vt:lpstr>O ESB dá ao SOA o seu valor total</vt:lpstr>
      <vt:lpstr>Um ESB resolve o problema de integração</vt:lpstr>
      <vt:lpstr>Visão geral de um ESB</vt:lpstr>
      <vt:lpstr>O que é o ACE?</vt:lpstr>
      <vt:lpstr>O que é o ACE?</vt:lpstr>
      <vt:lpstr>Onde implementar?</vt:lpstr>
      <vt:lpstr>Conectando aplicações com o ACE</vt:lpstr>
      <vt:lpstr>Transformação das mensagens</vt:lpstr>
      <vt:lpstr>PowerPoint Presentation</vt:lpstr>
      <vt:lpstr>ACE – A solução</vt:lpstr>
      <vt:lpstr>ACE Toolkit</vt:lpstr>
      <vt:lpstr>Principais componentes do ACE</vt:lpstr>
      <vt:lpstr>Principais tipos de projeto do ACE</vt:lpstr>
      <vt:lpstr>Que tipos de recursos posso desenvolver no ACE?</vt:lpstr>
      <vt:lpstr>Fluxo de mensagens</vt:lpstr>
      <vt:lpstr>PowerPoint Presentation</vt:lpstr>
      <vt:lpstr>Modelos de Mensagens</vt:lpstr>
      <vt:lpstr>Árvore de mensagens</vt:lpstr>
      <vt:lpstr>Acessando a árvore de mensagens.</vt:lpstr>
      <vt:lpstr>Parsing de mensagens</vt:lpstr>
      <vt:lpstr>Exemplo de parsing</vt:lpstr>
      <vt:lpstr>Parser x Mensagens</vt:lpstr>
      <vt:lpstr>Modelo lógico de mensagens</vt:lpstr>
      <vt:lpstr>Recebendo uma mensagem</vt:lpstr>
      <vt:lpstr>Recebendo uma mensagem</vt:lpstr>
      <vt:lpstr>Recebendo uma mensagem BLOB (Binária)</vt:lpstr>
      <vt:lpstr>Recebendo uma mensagem JSON</vt:lpstr>
      <vt:lpstr>Recebendo uma mensagem XML</vt:lpstr>
      <vt:lpstr>Recebendo uma mensagem DFDL</vt:lpstr>
      <vt:lpstr>Modelo Lógico de Mensagem</vt:lpstr>
      <vt:lpstr>Nós (Nodes) do ACE</vt:lpstr>
      <vt:lpstr>Terminologia do node</vt:lpstr>
      <vt:lpstr>Transformação</vt:lpstr>
      <vt:lpstr>Mapping Node</vt:lpstr>
      <vt:lpstr>Mapping Node</vt:lpstr>
      <vt:lpstr>Mapping Node</vt:lpstr>
      <vt:lpstr>Mapping Node</vt:lpstr>
      <vt:lpstr>Mapping Node </vt:lpstr>
      <vt:lpstr>Mapping Node (JSON) </vt:lpstr>
      <vt:lpstr>ACE Designer </vt:lpstr>
      <vt:lpstr>Conectores inteligentes nativos do IBM App Connect e Comunidade</vt:lpstr>
      <vt:lpstr>Conectores inteligentes nativos do IBM App Connect e Comunidade</vt:lpstr>
      <vt:lpstr>ACE Designer </vt:lpstr>
      <vt:lpstr>ACE Designer </vt:lpstr>
      <vt:lpstr>Integração de aplicações Integre aplicativos, crie APIs e atue em eventos</vt:lpstr>
      <vt:lpstr>Assistente de Mapeamento</vt:lpstr>
      <vt:lpstr>Acessar e mover dados</vt:lpstr>
      <vt:lpstr>IBM ACE (App Connect Enterprise)  IBM APIC (Api Connect)</vt:lpstr>
      <vt:lpstr>Arquitetura</vt:lpstr>
      <vt:lpstr>Arquitetura - Overview</vt:lpstr>
      <vt:lpstr>Arquitetura - Overview</vt:lpstr>
      <vt:lpstr>PowerPoint Presentation</vt:lpstr>
      <vt:lpstr>Utilização de aplicações em contêineres</vt:lpstr>
      <vt:lpstr>PowerPoint Presentation</vt:lpstr>
      <vt:lpstr>YAML ??  O que é YAML ?</vt:lpstr>
      <vt:lpstr>App Connect Enterprise 12 Toolkit</vt:lpstr>
      <vt:lpstr>Web User Interface</vt:lpstr>
      <vt:lpstr>Web User Interface</vt:lpstr>
      <vt:lpstr>ACE Designer </vt:lpstr>
      <vt:lpstr>Ambientes e perfis de usuários</vt:lpstr>
      <vt:lpstr>Procedimento de deploy</vt:lpstr>
      <vt:lpstr>Procedimento de deploy</vt:lpstr>
      <vt:lpstr>PowerPoint Presentation</vt:lpstr>
      <vt:lpstr>Referências</vt:lpstr>
      <vt:lpstr>Referências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ACE – App Connect Enterprise Introdução</dc:title>
  <dc:creator>Carlos Guilherme Do Nascimento Arantes</dc:creator>
  <cp:lastModifiedBy>Alexandre Zanetti de Almeida</cp:lastModifiedBy>
  <cp:revision>177</cp:revision>
  <dcterms:created xsi:type="dcterms:W3CDTF">2021-01-26T02:52:31Z</dcterms:created>
  <dcterms:modified xsi:type="dcterms:W3CDTF">2025-09-30T12:16:03Z</dcterms:modified>
</cp:coreProperties>
</file>