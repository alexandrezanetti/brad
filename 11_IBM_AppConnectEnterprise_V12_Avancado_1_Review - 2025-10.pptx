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47.jpg" ContentType="image/jpg"/>
  <Override PartName="/ppt/media/image60.jpg" ContentType="image/jpg"/>
  <Override PartName="/ppt/media/image61.jpg" ContentType="image/jpg"/>
  <Override PartName="/ppt/media/image76.jpg" ContentType="image/jpg"/>
  <Override PartName="/ppt/media/image77.jpg" ContentType="image/jpg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48"/>
  </p:notesMasterIdLst>
  <p:sldIdLst>
    <p:sldId id="818" r:id="rId2"/>
    <p:sldId id="813" r:id="rId3"/>
    <p:sldId id="820" r:id="rId4"/>
    <p:sldId id="910" r:id="rId5"/>
    <p:sldId id="269" r:id="rId6"/>
    <p:sldId id="913" r:id="rId7"/>
    <p:sldId id="914" r:id="rId8"/>
    <p:sldId id="915" r:id="rId9"/>
    <p:sldId id="916" r:id="rId10"/>
    <p:sldId id="917" r:id="rId11"/>
    <p:sldId id="918" r:id="rId12"/>
    <p:sldId id="921" r:id="rId13"/>
    <p:sldId id="922" r:id="rId14"/>
    <p:sldId id="923" r:id="rId15"/>
    <p:sldId id="924" r:id="rId16"/>
    <p:sldId id="938" r:id="rId17"/>
    <p:sldId id="925" r:id="rId18"/>
    <p:sldId id="926" r:id="rId19"/>
    <p:sldId id="927" r:id="rId20"/>
    <p:sldId id="2146847286" r:id="rId21"/>
    <p:sldId id="2146847289" r:id="rId22"/>
    <p:sldId id="2146847285" r:id="rId23"/>
    <p:sldId id="2146847287" r:id="rId24"/>
    <p:sldId id="2146847288" r:id="rId25"/>
    <p:sldId id="919" r:id="rId26"/>
    <p:sldId id="920" r:id="rId27"/>
    <p:sldId id="2146847290" r:id="rId28"/>
    <p:sldId id="2146847279" r:id="rId29"/>
    <p:sldId id="2146847278" r:id="rId30"/>
    <p:sldId id="2146847277" r:id="rId31"/>
    <p:sldId id="2146847280" r:id="rId32"/>
    <p:sldId id="2146847281" r:id="rId33"/>
    <p:sldId id="2146847282" r:id="rId34"/>
    <p:sldId id="2146847270" r:id="rId35"/>
    <p:sldId id="2146847268" r:id="rId36"/>
    <p:sldId id="2146847269" r:id="rId37"/>
    <p:sldId id="2146847272" r:id="rId38"/>
    <p:sldId id="2146847271" r:id="rId39"/>
    <p:sldId id="2146847273" r:id="rId40"/>
    <p:sldId id="2146847274" r:id="rId41"/>
    <p:sldId id="2146847275" r:id="rId42"/>
    <p:sldId id="2146847291" r:id="rId43"/>
    <p:sldId id="369" r:id="rId44"/>
    <p:sldId id="2146847293" r:id="rId45"/>
    <p:sldId id="781" r:id="rId46"/>
    <p:sldId id="302" r:id="rId47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83E7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6554F-FB51-45C9-A4B7-15AC2CE34363}" v="1" dt="2025-09-30T12:24:10.6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42" d="100"/>
          <a:sy n="42" d="100"/>
        </p:scale>
        <p:origin x="31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9EC6554F-FB51-45C9-A4B7-15AC2CE34363}"/>
    <pc:docChg chg="custSel modSld">
      <pc:chgData name="Alexandre Zanetti de Almeida" userId="129d4ce6-e715-4d33-b4c4-312f1656225b" providerId="ADAL" clId="{9EC6554F-FB51-45C9-A4B7-15AC2CE34363}" dt="2025-09-30T12:24:10.632" v="20"/>
      <pc:docMkLst>
        <pc:docMk/>
      </pc:docMkLst>
      <pc:sldChg chg="addSp delSp modSp mod delAnim">
        <pc:chgData name="Alexandre Zanetti de Almeida" userId="129d4ce6-e715-4d33-b4c4-312f1656225b" providerId="ADAL" clId="{9EC6554F-FB51-45C9-A4B7-15AC2CE34363}" dt="2025-09-30T12:24:10.632" v="20"/>
        <pc:sldMkLst>
          <pc:docMk/>
          <pc:sldMk cId="2127059050" sldId="818"/>
        </pc:sldMkLst>
        <pc:spChg chg="del">
          <ac:chgData name="Alexandre Zanetti de Almeida" userId="129d4ce6-e715-4d33-b4c4-312f1656225b" providerId="ADAL" clId="{9EC6554F-FB51-45C9-A4B7-15AC2CE34363}" dt="2025-09-30T12:24:10.193" v="19" actId="478"/>
          <ac:spMkLst>
            <pc:docMk/>
            <pc:sldMk cId="2127059050" sldId="818"/>
            <ac:spMk id="3" creationId="{DBF0BDC4-0A2E-51CE-D3A4-D918DF6FC80A}"/>
          </ac:spMkLst>
        </pc:spChg>
        <pc:spChg chg="add mod">
          <ac:chgData name="Alexandre Zanetti de Almeida" userId="129d4ce6-e715-4d33-b4c4-312f1656225b" providerId="ADAL" clId="{9EC6554F-FB51-45C9-A4B7-15AC2CE34363}" dt="2025-09-30T12:24:10.632" v="20"/>
          <ac:spMkLst>
            <pc:docMk/>
            <pc:sldMk cId="2127059050" sldId="818"/>
            <ac:spMk id="6" creationId="{BC40D9AF-CA0F-C4A5-002A-61FE2E56A0DB}"/>
          </ac:spMkLst>
        </pc:spChg>
        <pc:spChg chg="mod">
          <ac:chgData name="Alexandre Zanetti de Almeida" userId="129d4ce6-e715-4d33-b4c4-312f1656225b" providerId="ADAL" clId="{9EC6554F-FB51-45C9-A4B7-15AC2CE34363}" dt="2025-09-30T12:21:23.754" v="18" actId="27636"/>
          <ac:spMkLst>
            <pc:docMk/>
            <pc:sldMk cId="2127059050" sldId="818"/>
            <ac:spMk id="8" creationId="{6A95EA71-0F05-36D8-1053-4A8C311250F0}"/>
          </ac:spMkLst>
        </pc:spChg>
        <pc:picChg chg="del">
          <ac:chgData name="Alexandre Zanetti de Almeida" userId="129d4ce6-e715-4d33-b4c4-312f1656225b" providerId="ADAL" clId="{9EC6554F-FB51-45C9-A4B7-15AC2CE34363}" dt="2025-09-30T12:24:10.193" v="19" actId="478"/>
          <ac:picMkLst>
            <pc:docMk/>
            <pc:sldMk cId="2127059050" sldId="818"/>
            <ac:picMk id="2" creationId="{4261B6D1-07AE-92E5-AB4F-D1FDF8A67AAE}"/>
          </ac:picMkLst>
        </pc:picChg>
        <pc:picChg chg="add mod">
          <ac:chgData name="Alexandre Zanetti de Almeida" userId="129d4ce6-e715-4d33-b4c4-312f1656225b" providerId="ADAL" clId="{9EC6554F-FB51-45C9-A4B7-15AC2CE34363}" dt="2025-09-30T12:24:10.632" v="20"/>
          <ac:picMkLst>
            <pc:docMk/>
            <pc:sldMk cId="2127059050" sldId="818"/>
            <ac:picMk id="5" creationId="{5676E390-340E-491C-6C62-FE1E4C503C2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BE9C4-8E7F-4D0A-97C7-D53C9BC966D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E00C14-0BAB-4CAD-BC07-7C09C995B77A}">
      <dgm:prSet/>
      <dgm:spPr/>
      <dgm:t>
        <a:bodyPr/>
        <a:lstStyle/>
        <a:p>
          <a:r>
            <a:rPr lang="pt-BR" dirty="0"/>
            <a:t>Construção de blocos em fluxos de mensagens</a:t>
          </a:r>
          <a:endParaRPr lang="en-US" dirty="0"/>
        </a:p>
      </dgm:t>
    </dgm:pt>
    <dgm:pt modelId="{1D690A0E-AD32-408D-B328-56B4C4EFCC8F}" type="parTrans" cxnId="{5007DF3B-F9C2-4590-8F66-5521A3866326}">
      <dgm:prSet/>
      <dgm:spPr/>
      <dgm:t>
        <a:bodyPr/>
        <a:lstStyle/>
        <a:p>
          <a:endParaRPr lang="en-US"/>
        </a:p>
      </dgm:t>
    </dgm:pt>
    <dgm:pt modelId="{A60BEE7A-9ED5-4487-A9FB-B59722AC0B75}" type="sibTrans" cxnId="{5007DF3B-F9C2-4590-8F66-5521A3866326}">
      <dgm:prSet/>
      <dgm:spPr/>
      <dgm:t>
        <a:bodyPr/>
        <a:lstStyle/>
        <a:p>
          <a:endParaRPr lang="en-US"/>
        </a:p>
      </dgm:t>
    </dgm:pt>
    <dgm:pt modelId="{C85BD1D7-35F5-4A51-B8BC-9AB97FBE3302}">
      <dgm:prSet/>
      <dgm:spPr/>
      <dgm:t>
        <a:bodyPr/>
        <a:lstStyle/>
        <a:p>
          <a:r>
            <a:rPr lang="pt-BR"/>
            <a:t>Cada tipo de node (nó) executa uma ação (de entrada, saída ou de processamento) diferente</a:t>
          </a:r>
          <a:endParaRPr lang="en-US"/>
        </a:p>
      </dgm:t>
    </dgm:pt>
    <dgm:pt modelId="{C0689C4C-7155-449C-9F97-E9AC16FB90E4}" type="parTrans" cxnId="{108C097D-6FBA-4F1A-8F3A-C0B01CAAA409}">
      <dgm:prSet/>
      <dgm:spPr/>
      <dgm:t>
        <a:bodyPr/>
        <a:lstStyle/>
        <a:p>
          <a:endParaRPr lang="en-US"/>
        </a:p>
      </dgm:t>
    </dgm:pt>
    <dgm:pt modelId="{92990CD6-4AAC-4074-B35E-BE882403322E}" type="sibTrans" cxnId="{108C097D-6FBA-4F1A-8F3A-C0B01CAAA409}">
      <dgm:prSet/>
      <dgm:spPr/>
      <dgm:t>
        <a:bodyPr/>
        <a:lstStyle/>
        <a:p>
          <a:endParaRPr lang="en-US"/>
        </a:p>
      </dgm:t>
    </dgm:pt>
    <dgm:pt modelId="{E3820849-8017-4390-A2AF-481284B80FFD}">
      <dgm:prSet/>
      <dgm:spPr/>
      <dgm:t>
        <a:bodyPr/>
        <a:lstStyle/>
        <a:p>
          <a:r>
            <a:rPr lang="pt-BR"/>
            <a:t>Vários tipos diferentes de nodes</a:t>
          </a:r>
          <a:endParaRPr lang="en-US"/>
        </a:p>
      </dgm:t>
    </dgm:pt>
    <dgm:pt modelId="{4F38D7B9-2573-4474-A579-ECDD6EFFF5C5}" type="parTrans" cxnId="{A3508196-B246-4D7F-895B-1ED70F2D2A98}">
      <dgm:prSet/>
      <dgm:spPr/>
      <dgm:t>
        <a:bodyPr/>
        <a:lstStyle/>
        <a:p>
          <a:endParaRPr lang="en-US"/>
        </a:p>
      </dgm:t>
    </dgm:pt>
    <dgm:pt modelId="{A00B49AD-0B52-404D-A825-888130DB1829}" type="sibTrans" cxnId="{A3508196-B246-4D7F-895B-1ED70F2D2A98}">
      <dgm:prSet/>
      <dgm:spPr/>
      <dgm:t>
        <a:bodyPr/>
        <a:lstStyle/>
        <a:p>
          <a:endParaRPr lang="en-US"/>
        </a:p>
      </dgm:t>
    </dgm:pt>
    <dgm:pt modelId="{D32D7585-F1FD-4CCA-82B5-5FD16B4BB381}">
      <dgm:prSet/>
      <dgm:spPr/>
      <dgm:t>
        <a:bodyPr/>
        <a:lstStyle/>
        <a:p>
          <a:r>
            <a:rPr lang="pt-BR"/>
            <a:t>Agrupados em categorias lógicas no editor de fluxo de mensagens</a:t>
          </a:r>
          <a:endParaRPr lang="en-US"/>
        </a:p>
      </dgm:t>
    </dgm:pt>
    <dgm:pt modelId="{0D8E1106-CD5C-4892-92F4-E3E547F81892}" type="parTrans" cxnId="{3E5A6467-3820-4B95-B1A2-228718523B51}">
      <dgm:prSet/>
      <dgm:spPr/>
      <dgm:t>
        <a:bodyPr/>
        <a:lstStyle/>
        <a:p>
          <a:endParaRPr lang="en-US"/>
        </a:p>
      </dgm:t>
    </dgm:pt>
    <dgm:pt modelId="{C54C0FC9-CFBB-4034-BFC2-5F7DE7ADCE49}" type="sibTrans" cxnId="{3E5A6467-3820-4B95-B1A2-228718523B51}">
      <dgm:prSet/>
      <dgm:spPr/>
      <dgm:t>
        <a:bodyPr/>
        <a:lstStyle/>
        <a:p>
          <a:endParaRPr lang="en-US"/>
        </a:p>
      </dgm:t>
    </dgm:pt>
    <dgm:pt modelId="{D0A1BC67-2ECE-45B7-874E-71152EF998C8}">
      <dgm:prSet/>
      <dgm:spPr/>
      <dgm:t>
        <a:bodyPr/>
        <a:lstStyle/>
        <a:p>
          <a:r>
            <a:rPr lang="pt-BR"/>
            <a:t>Mais de 100 nodes disponíveis</a:t>
          </a:r>
          <a:endParaRPr lang="en-US"/>
        </a:p>
      </dgm:t>
    </dgm:pt>
    <dgm:pt modelId="{18214A0B-E7E4-48F3-ABEF-938D65D7DCC2}" type="parTrans" cxnId="{67DADA22-C6FE-4CBD-9402-25B6D6FB3861}">
      <dgm:prSet/>
      <dgm:spPr/>
      <dgm:t>
        <a:bodyPr/>
        <a:lstStyle/>
        <a:p>
          <a:endParaRPr lang="en-US"/>
        </a:p>
      </dgm:t>
    </dgm:pt>
    <dgm:pt modelId="{756B4970-6A33-40C6-8A25-AC9B4023DBFE}" type="sibTrans" cxnId="{67DADA22-C6FE-4CBD-9402-25B6D6FB3861}">
      <dgm:prSet/>
      <dgm:spPr/>
      <dgm:t>
        <a:bodyPr/>
        <a:lstStyle/>
        <a:p>
          <a:endParaRPr lang="en-US"/>
        </a:p>
      </dgm:t>
    </dgm:pt>
    <dgm:pt modelId="{9D2423F0-4080-448E-8155-4866761227DB}" type="pres">
      <dgm:prSet presAssocID="{0F4BE9C4-8E7F-4D0A-97C7-D53C9BC966DB}" presName="vert0" presStyleCnt="0">
        <dgm:presLayoutVars>
          <dgm:dir/>
          <dgm:animOne val="branch"/>
          <dgm:animLvl val="lvl"/>
        </dgm:presLayoutVars>
      </dgm:prSet>
      <dgm:spPr/>
    </dgm:pt>
    <dgm:pt modelId="{096CC97B-157C-48F4-9F63-A69505FB28B3}" type="pres">
      <dgm:prSet presAssocID="{4DE00C14-0BAB-4CAD-BC07-7C09C995B77A}" presName="thickLine" presStyleLbl="alignNode1" presStyleIdx="0" presStyleCnt="5"/>
      <dgm:spPr/>
    </dgm:pt>
    <dgm:pt modelId="{AD85D5E0-1B1D-4A94-9A0E-CC5934CB831D}" type="pres">
      <dgm:prSet presAssocID="{4DE00C14-0BAB-4CAD-BC07-7C09C995B77A}" presName="horz1" presStyleCnt="0"/>
      <dgm:spPr/>
    </dgm:pt>
    <dgm:pt modelId="{77ACB4FC-5BB6-43F9-9058-89AF0E84FACA}" type="pres">
      <dgm:prSet presAssocID="{4DE00C14-0BAB-4CAD-BC07-7C09C995B77A}" presName="tx1" presStyleLbl="revTx" presStyleIdx="0" presStyleCnt="5"/>
      <dgm:spPr/>
    </dgm:pt>
    <dgm:pt modelId="{F664FE43-C60F-4A1D-A320-341B569788B1}" type="pres">
      <dgm:prSet presAssocID="{4DE00C14-0BAB-4CAD-BC07-7C09C995B77A}" presName="vert1" presStyleCnt="0"/>
      <dgm:spPr/>
    </dgm:pt>
    <dgm:pt modelId="{8E519DAC-D08D-48D9-B634-085973BE6B90}" type="pres">
      <dgm:prSet presAssocID="{C85BD1D7-35F5-4A51-B8BC-9AB97FBE3302}" presName="thickLine" presStyleLbl="alignNode1" presStyleIdx="1" presStyleCnt="5"/>
      <dgm:spPr/>
    </dgm:pt>
    <dgm:pt modelId="{3AEF6C97-9007-453F-9BBA-27628C4EDC90}" type="pres">
      <dgm:prSet presAssocID="{C85BD1D7-35F5-4A51-B8BC-9AB97FBE3302}" presName="horz1" presStyleCnt="0"/>
      <dgm:spPr/>
    </dgm:pt>
    <dgm:pt modelId="{36851AF0-17F3-4F0C-9FC3-41112BC56C89}" type="pres">
      <dgm:prSet presAssocID="{C85BD1D7-35F5-4A51-B8BC-9AB97FBE3302}" presName="tx1" presStyleLbl="revTx" presStyleIdx="1" presStyleCnt="5"/>
      <dgm:spPr/>
    </dgm:pt>
    <dgm:pt modelId="{DADD1D19-1520-4FD2-ACE9-37EE397AF5FC}" type="pres">
      <dgm:prSet presAssocID="{C85BD1D7-35F5-4A51-B8BC-9AB97FBE3302}" presName="vert1" presStyleCnt="0"/>
      <dgm:spPr/>
    </dgm:pt>
    <dgm:pt modelId="{B7A2ECBD-C5EB-4596-BE9A-BFCD6AB87B40}" type="pres">
      <dgm:prSet presAssocID="{E3820849-8017-4390-A2AF-481284B80FFD}" presName="thickLine" presStyleLbl="alignNode1" presStyleIdx="2" presStyleCnt="5"/>
      <dgm:spPr/>
    </dgm:pt>
    <dgm:pt modelId="{6F5D9FE7-5AEA-45AF-AB0C-625CF1B55CB8}" type="pres">
      <dgm:prSet presAssocID="{E3820849-8017-4390-A2AF-481284B80FFD}" presName="horz1" presStyleCnt="0"/>
      <dgm:spPr/>
    </dgm:pt>
    <dgm:pt modelId="{EA03AC60-A5C6-4A2C-A52A-420550645D0D}" type="pres">
      <dgm:prSet presAssocID="{E3820849-8017-4390-A2AF-481284B80FFD}" presName="tx1" presStyleLbl="revTx" presStyleIdx="2" presStyleCnt="5"/>
      <dgm:spPr/>
    </dgm:pt>
    <dgm:pt modelId="{CA868BF9-B01D-4381-A680-2CA5C5692993}" type="pres">
      <dgm:prSet presAssocID="{E3820849-8017-4390-A2AF-481284B80FFD}" presName="vert1" presStyleCnt="0"/>
      <dgm:spPr/>
    </dgm:pt>
    <dgm:pt modelId="{87BE2BBE-F098-4BF2-85DB-D169E496A729}" type="pres">
      <dgm:prSet presAssocID="{D32D7585-F1FD-4CCA-82B5-5FD16B4BB381}" presName="thickLine" presStyleLbl="alignNode1" presStyleIdx="3" presStyleCnt="5"/>
      <dgm:spPr/>
    </dgm:pt>
    <dgm:pt modelId="{8546629F-A82F-4E98-8267-3CE3F2035BA3}" type="pres">
      <dgm:prSet presAssocID="{D32D7585-F1FD-4CCA-82B5-5FD16B4BB381}" presName="horz1" presStyleCnt="0"/>
      <dgm:spPr/>
    </dgm:pt>
    <dgm:pt modelId="{99E4A66C-2D5E-458A-8722-FF01201A3CD4}" type="pres">
      <dgm:prSet presAssocID="{D32D7585-F1FD-4CCA-82B5-5FD16B4BB381}" presName="tx1" presStyleLbl="revTx" presStyleIdx="3" presStyleCnt="5"/>
      <dgm:spPr/>
    </dgm:pt>
    <dgm:pt modelId="{13140E5F-C4DA-420F-B863-222EA77933B5}" type="pres">
      <dgm:prSet presAssocID="{D32D7585-F1FD-4CCA-82B5-5FD16B4BB381}" presName="vert1" presStyleCnt="0"/>
      <dgm:spPr/>
    </dgm:pt>
    <dgm:pt modelId="{7F1FCEAA-FEC1-4583-BD45-55D772B6E870}" type="pres">
      <dgm:prSet presAssocID="{D0A1BC67-2ECE-45B7-874E-71152EF998C8}" presName="thickLine" presStyleLbl="alignNode1" presStyleIdx="4" presStyleCnt="5"/>
      <dgm:spPr/>
    </dgm:pt>
    <dgm:pt modelId="{450DB01B-BB17-4A39-87A3-9A60CE49DBFC}" type="pres">
      <dgm:prSet presAssocID="{D0A1BC67-2ECE-45B7-874E-71152EF998C8}" presName="horz1" presStyleCnt="0"/>
      <dgm:spPr/>
    </dgm:pt>
    <dgm:pt modelId="{ECB7487E-317B-46E3-BFA3-25398CD71078}" type="pres">
      <dgm:prSet presAssocID="{D0A1BC67-2ECE-45B7-874E-71152EF998C8}" presName="tx1" presStyleLbl="revTx" presStyleIdx="4" presStyleCnt="5"/>
      <dgm:spPr/>
    </dgm:pt>
    <dgm:pt modelId="{A6E2E344-ADC5-48F3-A4CC-47FAB17DFA6C}" type="pres">
      <dgm:prSet presAssocID="{D0A1BC67-2ECE-45B7-874E-71152EF998C8}" presName="vert1" presStyleCnt="0"/>
      <dgm:spPr/>
    </dgm:pt>
  </dgm:ptLst>
  <dgm:cxnLst>
    <dgm:cxn modelId="{67DADA22-C6FE-4CBD-9402-25B6D6FB3861}" srcId="{0F4BE9C4-8E7F-4D0A-97C7-D53C9BC966DB}" destId="{D0A1BC67-2ECE-45B7-874E-71152EF998C8}" srcOrd="4" destOrd="0" parTransId="{18214A0B-E7E4-48F3-ABEF-938D65D7DCC2}" sibTransId="{756B4970-6A33-40C6-8A25-AC9B4023DBFE}"/>
    <dgm:cxn modelId="{A911422C-49FB-4B56-8645-9C059208D267}" type="presOf" srcId="{4DE00C14-0BAB-4CAD-BC07-7C09C995B77A}" destId="{77ACB4FC-5BB6-43F9-9058-89AF0E84FACA}" srcOrd="0" destOrd="0" presId="urn:microsoft.com/office/officeart/2008/layout/LinedList"/>
    <dgm:cxn modelId="{5007DF3B-F9C2-4590-8F66-5521A3866326}" srcId="{0F4BE9C4-8E7F-4D0A-97C7-D53C9BC966DB}" destId="{4DE00C14-0BAB-4CAD-BC07-7C09C995B77A}" srcOrd="0" destOrd="0" parTransId="{1D690A0E-AD32-408D-B328-56B4C4EFCC8F}" sibTransId="{A60BEE7A-9ED5-4487-A9FB-B59722AC0B75}"/>
    <dgm:cxn modelId="{3E5A6467-3820-4B95-B1A2-228718523B51}" srcId="{0F4BE9C4-8E7F-4D0A-97C7-D53C9BC966DB}" destId="{D32D7585-F1FD-4CCA-82B5-5FD16B4BB381}" srcOrd="3" destOrd="0" parTransId="{0D8E1106-CD5C-4892-92F4-E3E547F81892}" sibTransId="{C54C0FC9-CFBB-4034-BFC2-5F7DE7ADCE49}"/>
    <dgm:cxn modelId="{F50A1B68-9C64-4E38-A0B0-C4F6F973F970}" type="presOf" srcId="{E3820849-8017-4390-A2AF-481284B80FFD}" destId="{EA03AC60-A5C6-4A2C-A52A-420550645D0D}" srcOrd="0" destOrd="0" presId="urn:microsoft.com/office/officeart/2008/layout/LinedList"/>
    <dgm:cxn modelId="{CAB4F852-B841-408A-9C3D-90917C079F95}" type="presOf" srcId="{C85BD1D7-35F5-4A51-B8BC-9AB97FBE3302}" destId="{36851AF0-17F3-4F0C-9FC3-41112BC56C89}" srcOrd="0" destOrd="0" presId="urn:microsoft.com/office/officeart/2008/layout/LinedList"/>
    <dgm:cxn modelId="{108C097D-6FBA-4F1A-8F3A-C0B01CAAA409}" srcId="{0F4BE9C4-8E7F-4D0A-97C7-D53C9BC966DB}" destId="{C85BD1D7-35F5-4A51-B8BC-9AB97FBE3302}" srcOrd="1" destOrd="0" parTransId="{C0689C4C-7155-449C-9F97-E9AC16FB90E4}" sibTransId="{92990CD6-4AAC-4074-B35E-BE882403322E}"/>
    <dgm:cxn modelId="{2E6B8082-BE21-4CF0-BA98-238ABE1FF089}" type="presOf" srcId="{D32D7585-F1FD-4CCA-82B5-5FD16B4BB381}" destId="{99E4A66C-2D5E-458A-8722-FF01201A3CD4}" srcOrd="0" destOrd="0" presId="urn:microsoft.com/office/officeart/2008/layout/LinedList"/>
    <dgm:cxn modelId="{A3508196-B246-4D7F-895B-1ED70F2D2A98}" srcId="{0F4BE9C4-8E7F-4D0A-97C7-D53C9BC966DB}" destId="{E3820849-8017-4390-A2AF-481284B80FFD}" srcOrd="2" destOrd="0" parTransId="{4F38D7B9-2573-4474-A579-ECDD6EFFF5C5}" sibTransId="{A00B49AD-0B52-404D-A825-888130DB1829}"/>
    <dgm:cxn modelId="{8B7700B0-564F-4656-8888-31CBA1AD84D9}" type="presOf" srcId="{0F4BE9C4-8E7F-4D0A-97C7-D53C9BC966DB}" destId="{9D2423F0-4080-448E-8155-4866761227DB}" srcOrd="0" destOrd="0" presId="urn:microsoft.com/office/officeart/2008/layout/LinedList"/>
    <dgm:cxn modelId="{179ED1E2-B317-4A3C-80BA-B7826BA78377}" type="presOf" srcId="{D0A1BC67-2ECE-45B7-874E-71152EF998C8}" destId="{ECB7487E-317B-46E3-BFA3-25398CD71078}" srcOrd="0" destOrd="0" presId="urn:microsoft.com/office/officeart/2008/layout/LinedList"/>
    <dgm:cxn modelId="{42371E5E-3D7F-45B1-8297-00913D5351BA}" type="presParOf" srcId="{9D2423F0-4080-448E-8155-4866761227DB}" destId="{096CC97B-157C-48F4-9F63-A69505FB28B3}" srcOrd="0" destOrd="0" presId="urn:microsoft.com/office/officeart/2008/layout/LinedList"/>
    <dgm:cxn modelId="{304A666E-C01B-4C22-930A-EFAC76D50F11}" type="presParOf" srcId="{9D2423F0-4080-448E-8155-4866761227DB}" destId="{AD85D5E0-1B1D-4A94-9A0E-CC5934CB831D}" srcOrd="1" destOrd="0" presId="urn:microsoft.com/office/officeart/2008/layout/LinedList"/>
    <dgm:cxn modelId="{87790D54-7978-444E-A082-53FFEEA601AC}" type="presParOf" srcId="{AD85D5E0-1B1D-4A94-9A0E-CC5934CB831D}" destId="{77ACB4FC-5BB6-43F9-9058-89AF0E84FACA}" srcOrd="0" destOrd="0" presId="urn:microsoft.com/office/officeart/2008/layout/LinedList"/>
    <dgm:cxn modelId="{96DA2720-B8D9-4120-970F-C940509AA2DF}" type="presParOf" srcId="{AD85D5E0-1B1D-4A94-9A0E-CC5934CB831D}" destId="{F664FE43-C60F-4A1D-A320-341B569788B1}" srcOrd="1" destOrd="0" presId="urn:microsoft.com/office/officeart/2008/layout/LinedList"/>
    <dgm:cxn modelId="{BC622ED2-7A2D-4A56-88F0-21AE9537EFF0}" type="presParOf" srcId="{9D2423F0-4080-448E-8155-4866761227DB}" destId="{8E519DAC-D08D-48D9-B634-085973BE6B90}" srcOrd="2" destOrd="0" presId="urn:microsoft.com/office/officeart/2008/layout/LinedList"/>
    <dgm:cxn modelId="{838028C6-ED24-4733-9C27-60402C33F75C}" type="presParOf" srcId="{9D2423F0-4080-448E-8155-4866761227DB}" destId="{3AEF6C97-9007-453F-9BBA-27628C4EDC90}" srcOrd="3" destOrd="0" presId="urn:microsoft.com/office/officeart/2008/layout/LinedList"/>
    <dgm:cxn modelId="{75D83121-2433-4127-A4FE-F56EE4A7293B}" type="presParOf" srcId="{3AEF6C97-9007-453F-9BBA-27628C4EDC90}" destId="{36851AF0-17F3-4F0C-9FC3-41112BC56C89}" srcOrd="0" destOrd="0" presId="urn:microsoft.com/office/officeart/2008/layout/LinedList"/>
    <dgm:cxn modelId="{90737979-C08B-41EB-AC2F-5FF08BA448EF}" type="presParOf" srcId="{3AEF6C97-9007-453F-9BBA-27628C4EDC90}" destId="{DADD1D19-1520-4FD2-ACE9-37EE397AF5FC}" srcOrd="1" destOrd="0" presId="urn:microsoft.com/office/officeart/2008/layout/LinedList"/>
    <dgm:cxn modelId="{D6750CCD-3C14-4473-B158-15B0F56D50AE}" type="presParOf" srcId="{9D2423F0-4080-448E-8155-4866761227DB}" destId="{B7A2ECBD-C5EB-4596-BE9A-BFCD6AB87B40}" srcOrd="4" destOrd="0" presId="urn:microsoft.com/office/officeart/2008/layout/LinedList"/>
    <dgm:cxn modelId="{065AA18E-AA53-47F5-8AD2-8D558B41A6FE}" type="presParOf" srcId="{9D2423F0-4080-448E-8155-4866761227DB}" destId="{6F5D9FE7-5AEA-45AF-AB0C-625CF1B55CB8}" srcOrd="5" destOrd="0" presId="urn:microsoft.com/office/officeart/2008/layout/LinedList"/>
    <dgm:cxn modelId="{8F50C75F-4E4F-4BC5-AE60-AC2A8516E6F3}" type="presParOf" srcId="{6F5D9FE7-5AEA-45AF-AB0C-625CF1B55CB8}" destId="{EA03AC60-A5C6-4A2C-A52A-420550645D0D}" srcOrd="0" destOrd="0" presId="urn:microsoft.com/office/officeart/2008/layout/LinedList"/>
    <dgm:cxn modelId="{A4BA7AF2-4435-4D6E-B60C-F8BEA63CB97E}" type="presParOf" srcId="{6F5D9FE7-5AEA-45AF-AB0C-625CF1B55CB8}" destId="{CA868BF9-B01D-4381-A680-2CA5C5692993}" srcOrd="1" destOrd="0" presId="urn:microsoft.com/office/officeart/2008/layout/LinedList"/>
    <dgm:cxn modelId="{529DCD03-BDE7-4F06-9C88-57B62AB4A486}" type="presParOf" srcId="{9D2423F0-4080-448E-8155-4866761227DB}" destId="{87BE2BBE-F098-4BF2-85DB-D169E496A729}" srcOrd="6" destOrd="0" presId="urn:microsoft.com/office/officeart/2008/layout/LinedList"/>
    <dgm:cxn modelId="{2C3947A1-2180-47F5-B0C1-68652F0125E3}" type="presParOf" srcId="{9D2423F0-4080-448E-8155-4866761227DB}" destId="{8546629F-A82F-4E98-8267-3CE3F2035BA3}" srcOrd="7" destOrd="0" presId="urn:microsoft.com/office/officeart/2008/layout/LinedList"/>
    <dgm:cxn modelId="{1B80BA43-B0B4-4E24-A189-3EE9228BB8B3}" type="presParOf" srcId="{8546629F-A82F-4E98-8267-3CE3F2035BA3}" destId="{99E4A66C-2D5E-458A-8722-FF01201A3CD4}" srcOrd="0" destOrd="0" presId="urn:microsoft.com/office/officeart/2008/layout/LinedList"/>
    <dgm:cxn modelId="{BD35A816-E2A8-41F0-BA59-C837806DD391}" type="presParOf" srcId="{8546629F-A82F-4E98-8267-3CE3F2035BA3}" destId="{13140E5F-C4DA-420F-B863-222EA77933B5}" srcOrd="1" destOrd="0" presId="urn:microsoft.com/office/officeart/2008/layout/LinedList"/>
    <dgm:cxn modelId="{8D96CA10-1364-4591-B1E7-46747D18BDE5}" type="presParOf" srcId="{9D2423F0-4080-448E-8155-4866761227DB}" destId="{7F1FCEAA-FEC1-4583-BD45-55D772B6E870}" srcOrd="8" destOrd="0" presId="urn:microsoft.com/office/officeart/2008/layout/LinedList"/>
    <dgm:cxn modelId="{11A223D3-DA8D-4025-B9B0-1230834A8185}" type="presParOf" srcId="{9D2423F0-4080-448E-8155-4866761227DB}" destId="{450DB01B-BB17-4A39-87A3-9A60CE49DBFC}" srcOrd="9" destOrd="0" presId="urn:microsoft.com/office/officeart/2008/layout/LinedList"/>
    <dgm:cxn modelId="{6C1BC69C-F30B-42DC-B863-76A984D8C455}" type="presParOf" srcId="{450DB01B-BB17-4A39-87A3-9A60CE49DBFC}" destId="{ECB7487E-317B-46E3-BFA3-25398CD71078}" srcOrd="0" destOrd="0" presId="urn:microsoft.com/office/officeart/2008/layout/LinedList"/>
    <dgm:cxn modelId="{4991F77C-4A2E-43E3-8E2F-F95814394936}" type="presParOf" srcId="{450DB01B-BB17-4A39-87A3-9A60CE49DBFC}" destId="{A6E2E344-ADC5-48F3-A4CC-47FAB17DFA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CC97B-157C-48F4-9F63-A69505FB28B3}">
      <dsp:nvSpPr>
        <dsp:cNvPr id="0" name=""/>
        <dsp:cNvSpPr/>
      </dsp:nvSpPr>
      <dsp:spPr>
        <a:xfrm>
          <a:off x="0" y="1116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CB4FC-5BB6-43F9-9058-89AF0E84FACA}">
      <dsp:nvSpPr>
        <dsp:cNvPr id="0" name=""/>
        <dsp:cNvSpPr/>
      </dsp:nvSpPr>
      <dsp:spPr>
        <a:xfrm>
          <a:off x="0" y="1116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 dirty="0"/>
            <a:t>Construção de blocos em fluxos de mensagens</a:t>
          </a:r>
          <a:endParaRPr lang="en-US" sz="5100" kern="1200" dirty="0"/>
        </a:p>
      </dsp:txBody>
      <dsp:txXfrm>
        <a:off x="0" y="1116"/>
        <a:ext cx="12845696" cy="1828353"/>
      </dsp:txXfrm>
    </dsp:sp>
    <dsp:sp modelId="{8E519DAC-D08D-48D9-B634-085973BE6B90}">
      <dsp:nvSpPr>
        <dsp:cNvPr id="0" name=""/>
        <dsp:cNvSpPr/>
      </dsp:nvSpPr>
      <dsp:spPr>
        <a:xfrm>
          <a:off x="0" y="1829469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51AF0-17F3-4F0C-9FC3-41112BC56C89}">
      <dsp:nvSpPr>
        <dsp:cNvPr id="0" name=""/>
        <dsp:cNvSpPr/>
      </dsp:nvSpPr>
      <dsp:spPr>
        <a:xfrm>
          <a:off x="0" y="1829469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Cada tipo de node (nó) executa uma ação (de entrada, saída ou de processamento) diferente</a:t>
          </a:r>
          <a:endParaRPr lang="en-US" sz="5100" kern="1200"/>
        </a:p>
      </dsp:txBody>
      <dsp:txXfrm>
        <a:off x="0" y="1829469"/>
        <a:ext cx="12845696" cy="1828353"/>
      </dsp:txXfrm>
    </dsp:sp>
    <dsp:sp modelId="{B7A2ECBD-C5EB-4596-BE9A-BFCD6AB87B40}">
      <dsp:nvSpPr>
        <dsp:cNvPr id="0" name=""/>
        <dsp:cNvSpPr/>
      </dsp:nvSpPr>
      <dsp:spPr>
        <a:xfrm>
          <a:off x="0" y="3657823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3AC60-A5C6-4A2C-A52A-420550645D0D}">
      <dsp:nvSpPr>
        <dsp:cNvPr id="0" name=""/>
        <dsp:cNvSpPr/>
      </dsp:nvSpPr>
      <dsp:spPr>
        <a:xfrm>
          <a:off x="0" y="3657823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Vários tipos diferentes de nodes</a:t>
          </a:r>
          <a:endParaRPr lang="en-US" sz="5100" kern="1200"/>
        </a:p>
      </dsp:txBody>
      <dsp:txXfrm>
        <a:off x="0" y="3657823"/>
        <a:ext cx="12845696" cy="1828353"/>
      </dsp:txXfrm>
    </dsp:sp>
    <dsp:sp modelId="{87BE2BBE-F098-4BF2-85DB-D169E496A729}">
      <dsp:nvSpPr>
        <dsp:cNvPr id="0" name=""/>
        <dsp:cNvSpPr/>
      </dsp:nvSpPr>
      <dsp:spPr>
        <a:xfrm>
          <a:off x="0" y="5486176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4A66C-2D5E-458A-8722-FF01201A3CD4}">
      <dsp:nvSpPr>
        <dsp:cNvPr id="0" name=""/>
        <dsp:cNvSpPr/>
      </dsp:nvSpPr>
      <dsp:spPr>
        <a:xfrm>
          <a:off x="0" y="5486176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Agrupados em categorias lógicas no editor de fluxo de mensagens</a:t>
          </a:r>
          <a:endParaRPr lang="en-US" sz="5100" kern="1200"/>
        </a:p>
      </dsp:txBody>
      <dsp:txXfrm>
        <a:off x="0" y="5486176"/>
        <a:ext cx="12845696" cy="1828353"/>
      </dsp:txXfrm>
    </dsp:sp>
    <dsp:sp modelId="{7F1FCEAA-FEC1-4583-BD45-55D772B6E870}">
      <dsp:nvSpPr>
        <dsp:cNvPr id="0" name=""/>
        <dsp:cNvSpPr/>
      </dsp:nvSpPr>
      <dsp:spPr>
        <a:xfrm>
          <a:off x="0" y="7314530"/>
          <a:ext cx="128456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7487E-317B-46E3-BFA3-25398CD71078}">
      <dsp:nvSpPr>
        <dsp:cNvPr id="0" name=""/>
        <dsp:cNvSpPr/>
      </dsp:nvSpPr>
      <dsp:spPr>
        <a:xfrm>
          <a:off x="0" y="7314530"/>
          <a:ext cx="12845696" cy="182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100" kern="1200"/>
            <a:t>Mais de 100 nodes disponíveis</a:t>
          </a:r>
          <a:endParaRPr lang="en-US" sz="5100" kern="1200"/>
        </a:p>
      </dsp:txBody>
      <dsp:txXfrm>
        <a:off x="0" y="7314530"/>
        <a:ext cx="12845696" cy="1828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An IBM Proof of Technology</a:t>
            </a:r>
          </a:p>
        </p:txBody>
      </p:sp>
      <p:sp>
        <p:nvSpPr>
          <p:cNvPr id="209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Go to 'View &gt; Header and Footer' to change this to match the event title</a:t>
            </a:r>
          </a:p>
        </p:txBody>
      </p:sp>
      <p:sp>
        <p:nvSpPr>
          <p:cNvPr id="209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681F81-E94E-4729-9741-54DC4D09648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09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4150" y="706438"/>
            <a:ext cx="6292850" cy="3540125"/>
          </a:xfrm>
          <a:ln/>
        </p:spPr>
      </p:sp>
      <p:sp>
        <p:nvSpPr>
          <p:cNvPr id="2099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484310"/>
            <a:ext cx="4872633" cy="4248452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Visual programming is probably new to many of you.  But I think it has several big advantages.  It works the way most people think.  When I am trying to work out a basic design I usually draw on paper what looks like a message flow.  Not only is it easier to develop a message flow then to write the equivalent program, it is easier to go back in a year and figure out what the flow is trying to do.  I can program in both C and Java but I will always try to use Message Broker because it is so much faster and easier to get something going.  I guess I am lazy.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76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811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31521" y="4560570"/>
            <a:ext cx="5850467" cy="4318874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636" y="1743077"/>
            <a:ext cx="21987933" cy="996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3552827"/>
            <a:ext cx="10164235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9436" y="3552827"/>
            <a:ext cx="10164232" cy="7804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928368" y="13081000"/>
            <a:ext cx="514564" cy="471924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D59C8-F376-4949-A8FF-DD506705902D}" type="slidenum">
              <a:rPr lang="en-US" altLang="pt-BR"/>
              <a:pPr>
                <a:defRPr/>
              </a:pPr>
              <a:t>‹#›</a:t>
            </a:fld>
            <a:endParaRPr lang="en-US" alt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251200" y="13001626"/>
            <a:ext cx="10773835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Confidencial | Sem valor comercial | 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xfrm>
            <a:off x="14549968" y="13001626"/>
            <a:ext cx="4550832" cy="49212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D64F5-C7CB-7046-A916-03AE29CB2FD6}" type="datetime5">
              <a:rPr lang="en-US" altLang="pt-BR"/>
              <a:pPr>
                <a:defRPr/>
              </a:pPr>
              <a:t>30-Sep-25</a:t>
            </a:fld>
            <a:endParaRPr lang="en-US" altLang="pt-BR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3686DA6-0523-E54E-A093-77FAACDDA50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23531937" y="13021826"/>
            <a:ext cx="514564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/>
            </a:pPr>
            <a:fld id="{013D59C8-F376-4949-A8FF-DD506705902D}" type="slidenum">
              <a:rPr lang="en-US" altLang="pt-BR" smtClean="0"/>
              <a:pPr>
                <a:defRPr/>
              </a:pPr>
              <a:t>‹#›</a:t>
            </a:fld>
            <a:endParaRPr lang="en-US" altLang="pt-BR" dirty="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E6D3BB2-F44C-BB77-5A19-1E438A7E4A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19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copy 11">
    <p:bg>
      <p:bgPr>
        <a:gradFill flip="none" rotWithShape="1">
          <a:gsLst>
            <a:gs pos="0">
              <a:srgbClr val="04B6EB"/>
            </a:gs>
            <a:gs pos="100000">
              <a:srgbClr val="007CA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sldNum" sz="quarter" idx="2"/>
          </p:nvPr>
        </p:nvSpPr>
        <p:spPr>
          <a:xfrm>
            <a:off x="17475200" y="12219305"/>
            <a:ext cx="5689601" cy="256541"/>
          </a:xfrm>
          <a:prstGeom prst="rect">
            <a:avLst/>
          </a:prstGeom>
        </p:spPr>
        <p:txBody>
          <a:bodyPr wrap="square" lIns="45719" tIns="45719" rIns="45719" bIns="45719" anchor="ctr"/>
          <a:lstStyle>
            <a:lvl1pPr algn="r">
              <a:defRPr sz="11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09C37EC-AA62-8452-D0C0-2A63B9741E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63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4" r:id="rId14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3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jp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53.png"/><Relationship Id="rId3" Type="http://schemas.openxmlformats.org/officeDocument/2006/relationships/image" Target="../media/image55.png"/><Relationship Id="rId7" Type="http://schemas.openxmlformats.org/officeDocument/2006/relationships/image" Target="../media/image66.png"/><Relationship Id="rId12" Type="http://schemas.openxmlformats.org/officeDocument/2006/relationships/image" Target="../media/image4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ibm.com/integration/docs/app-connect-enterprise/" TargetMode="External"/><Relationship Id="rId3" Type="http://schemas.openxmlformats.org/officeDocument/2006/relationships/hyperlink" Target="https://www.ibm.com/docs/en/app-connect/12.0" TargetMode="External"/><Relationship Id="rId7" Type="http://schemas.openxmlformats.org/officeDocument/2006/relationships/hyperlink" Target="https://www.ibm.com/docs/en/app-connect/12.0?topic=policies-overview" TargetMode="External"/><Relationship Id="rId2" Type="http://schemas.openxmlformats.org/officeDocument/2006/relationships/hyperlink" Target="https://www.ibm.com/support/knowledgecenter/en/SSTTDS_12.0.0/com.ibm.ace.home.doc/help_home.htm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support/knowledgecenter/SSTTDS_11.0.0/com.ibm.etools.mft.doc/py00106_.html" TargetMode="External"/><Relationship Id="rId5" Type="http://schemas.openxmlformats.org/officeDocument/2006/relationships/hyperlink" Target="https://www.ibm.com/docs/en/app-connect/12.0?topic=administration-app-connect-enterprise-commands" TargetMode="External"/><Relationship Id="rId4" Type="http://schemas.openxmlformats.org/officeDocument/2006/relationships/hyperlink" Target="https://www.ibm.com/support/knowledgecenter/en/SSTTDS_11.0.0/com.ibm.etools.mft.doc/an07060_.html" TargetMode="External"/><Relationship Id="rId9" Type="http://schemas.openxmlformats.org/officeDocument/2006/relationships/hyperlink" Target="https://www.ibm.com/docs/en/app-connect/12.0?topic=mrbuara-updating-https-connector-resource-manager-by-using-administration-rest-api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Avançado – Revisão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dirty="0">
                <a:solidFill>
                  <a:srgbClr val="FFFFFF"/>
                </a:solidFill>
              </a:rPr>
              <a:t>Setembro/2025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6E390-340E-491C-6C62-FE1E4C503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17" y="11380365"/>
            <a:ext cx="1673845" cy="1589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0D9AF-CA0F-C4A5-002A-61FE2E56A0DB}"/>
              </a:ext>
            </a:extLst>
          </p:cNvPr>
          <p:cNvSpPr txBox="1"/>
          <p:nvPr/>
        </p:nvSpPr>
        <p:spPr>
          <a:xfrm>
            <a:off x="3081814" y="11132872"/>
            <a:ext cx="9110186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/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/>
              </a:solidFill>
            </a:endParaRP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55 (11) 98539-4632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  <a:effectLst/>
              </a:rPr>
              <a:t>IBM 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09"/>
            <a:ext cx="6402732" cy="6141491"/>
          </a:xfrm>
        </p:spPr>
        <p:txBody>
          <a:bodyPr anchor="b">
            <a:normAutofit/>
          </a:bodyPr>
          <a:lstStyle/>
          <a:p>
            <a:pPr algn="r"/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Revisão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Ops</a:t>
            </a:r>
            <a:r>
              <a:rPr lang="pt-BR" sz="5400" dirty="0"/>
              <a:t> (Administrador)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Dev</a:t>
            </a:r>
            <a:r>
              <a:rPr lang="pt-BR" sz="5400" dirty="0"/>
              <a:t> (Desenvolvedor de App)</a:t>
            </a:r>
          </a:p>
          <a:p>
            <a:r>
              <a:rPr lang="pt-BR" sz="5400" dirty="0"/>
              <a:t>Ambiente do cliente (Fluxos)</a:t>
            </a:r>
          </a:p>
          <a:p>
            <a:r>
              <a:rPr lang="pt-BR" sz="5400" dirty="0"/>
              <a:t>O que há de novo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Revisão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3A5-5BB3-CA74-3CB6-15DE5C7D5D9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68172" y="10330326"/>
            <a:ext cx="9221487" cy="3304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432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88A-38A5-4072-AA12-4C954C72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94" y="721819"/>
            <a:ext cx="7010990" cy="3244642"/>
          </a:xfrm>
        </p:spPr>
        <p:txBody>
          <a:bodyPr>
            <a:normAutofit/>
          </a:bodyPr>
          <a:lstStyle/>
          <a:p>
            <a:r>
              <a:rPr lang="pt-BR" sz="8000" dirty="0"/>
              <a:t>O que é o 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4B73-0F0E-43FB-A95E-0EF97253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3801035"/>
            <a:ext cx="8498541" cy="8646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O IBM ACE (App Connect Enterprise) combina as tecnologias existentes e confiáveis do segmento de mercado IBM </a:t>
            </a:r>
            <a:r>
              <a:rPr lang="pt-BR" sz="4400" dirty="0" err="1"/>
              <a:t>Integration</a:t>
            </a:r>
            <a:r>
              <a:rPr lang="pt-BR" sz="4400" dirty="0"/>
              <a:t> Bus com IBM App Connect Professional e com tecnologias nativas da nuvem, fornecendo uma plataforma que suporta toda a amplitude das necessidades de integração em uma empresa moderna.</a:t>
            </a:r>
          </a:p>
        </p:txBody>
      </p:sp>
      <p:pic>
        <p:nvPicPr>
          <p:cNvPr id="2050" name="Picture 2" descr="Developing integration solutions for App Connect Enterprise on IBM Cloud">
            <a:extLst>
              <a:ext uri="{FF2B5EF4-FFF2-40B4-BE49-F238E27FC236}">
                <a16:creationId xmlns:a16="http://schemas.microsoft.com/office/drawing/2014/main" id="{64FABB25-7BAB-409A-AAA3-F7E7B8A38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1724" y="3468879"/>
            <a:ext cx="12038662" cy="677174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DB65990-3936-9DA8-D5F4-79A955970E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4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C8E763-88DC-40B6-4155-817398EE1941}"/>
              </a:ext>
            </a:extLst>
          </p:cNvPr>
          <p:cNvGrpSpPr/>
          <p:nvPr/>
        </p:nvGrpSpPr>
        <p:grpSpPr>
          <a:xfrm>
            <a:off x="788894" y="2440076"/>
            <a:ext cx="20273918" cy="10796686"/>
            <a:chOff x="788894" y="2351556"/>
            <a:chExt cx="20273918" cy="107966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270A38-B3A9-9B71-EA0F-C5AF78191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894" y="2351556"/>
              <a:ext cx="20273918" cy="10796686"/>
            </a:xfrm>
            <a:prstGeom prst="rect">
              <a:avLst/>
            </a:prstGeom>
          </p:spPr>
        </p:pic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262584D7-DA47-382D-B774-F5E1764EE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94" y="9574306"/>
              <a:ext cx="4016188" cy="340658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6B9DAE6-F123-0B47-15CD-339332F3E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94" y="3292942"/>
              <a:ext cx="4016188" cy="62275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03D4D39-1E54-9240-BEE2-DE3B72D1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726" y="9574306"/>
              <a:ext cx="16168085" cy="340658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2EA55FEE-6715-9E1B-B9DF-4D077EFB2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726" y="3292942"/>
              <a:ext cx="16168085" cy="62275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68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endParaRPr lang="pt-BR" altLang="pt-BR" sz="100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do 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90165" y="2761132"/>
            <a:ext cx="21587011" cy="10242550"/>
          </a:xfrm>
        </p:spPr>
        <p:txBody>
          <a:bodyPr>
            <a:normAutofit/>
          </a:bodyPr>
          <a:lstStyle/>
          <a:p>
            <a:r>
              <a:rPr lang="pt-BR" b="1" dirty="0"/>
              <a:t>`</a:t>
            </a:r>
          </a:p>
          <a:p>
            <a:pPr marL="0" indent="0">
              <a:buNone/>
            </a:pPr>
            <a:r>
              <a:rPr lang="pt-BR" dirty="0"/>
              <a:t>(conhecido como Broker na v8):  Módulo principal do ACE onde são criados os Intergration Server (Execution Groups)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(conhecido como Execution Group “EG”  na v8): É um componente de runtime onde os fluxos de mensagens são executados. Cada Execution Group representa um processo no sistema operacional.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0BB4A-A27F-B940-AA77-7E6000831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2" t="3952" b="53710"/>
          <a:stretch/>
        </p:blipFill>
        <p:spPr>
          <a:xfrm>
            <a:off x="806824" y="5656734"/>
            <a:ext cx="7978587" cy="1004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15E7E2-BCE4-A022-01B4-6D39AF5533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2" t="45533" b="12128"/>
          <a:stretch/>
        </p:blipFill>
        <p:spPr>
          <a:xfrm>
            <a:off x="806824" y="2743199"/>
            <a:ext cx="7978587" cy="100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58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Projetos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63906" y="2635624"/>
            <a:ext cx="19507200" cy="10242550"/>
          </a:xfrm>
        </p:spPr>
        <p:txBody>
          <a:bodyPr>
            <a:normAutofit fontScale="47500" lnSpcReduction="20000"/>
          </a:bodyPr>
          <a:lstStyle/>
          <a:p>
            <a:endParaRPr lang="pt-BR" b="1" dirty="0"/>
          </a:p>
          <a:p>
            <a:endParaRPr lang="pt-BR" b="1" dirty="0"/>
          </a:p>
          <a:p>
            <a:pPr marL="0" indent="0">
              <a:buNone/>
            </a:pPr>
            <a:r>
              <a:rPr lang="pt-BR" dirty="0"/>
              <a:t>(conhecido como Message Flow e Message set Projects nas versões anteriores do produto): É um container (projeto no eclipse)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específicos para WSDL/XML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específicos para Swagger/JSON onde são armazenados os fluxos de mensagens, códigos, modelo de mensagens, etc.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É um container (projeto no eclipse) onde são armazenados artefatos comuns entre outros projetos (applications), tais como: subfluxos, códigos utilitários, modelo de mensagens, entre outros artefatos que possam ser reutilizados.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um container (projeto no eclipse) onde são armazenados os artefatos de configurações/políticas, tais como configuração de conexões, </a:t>
            </a:r>
            <a:r>
              <a:rPr lang="pt-BR" dirty="0" err="1"/>
              <a:t>etc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31124-3A5F-0911-5508-423586E421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3625" r="54538" b="83328"/>
          <a:stretch/>
        </p:blipFill>
        <p:spPr>
          <a:xfrm>
            <a:off x="914400" y="2528048"/>
            <a:ext cx="7117977" cy="111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58C22-D5C3-6BFA-7B98-2FA82EB35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17150" r="54538" b="69326"/>
          <a:stretch/>
        </p:blipFill>
        <p:spPr>
          <a:xfrm>
            <a:off x="914401" y="4397559"/>
            <a:ext cx="7117977" cy="115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622635-2798-C088-F96D-CD3AD16BB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30397" r="54538" b="56079"/>
          <a:stretch/>
        </p:blipFill>
        <p:spPr>
          <a:xfrm>
            <a:off x="914400" y="8218007"/>
            <a:ext cx="7117977" cy="115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10D703-114F-9C3F-F78A-1B91A6B0D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44123" r="54538" b="42936"/>
          <a:stretch/>
        </p:blipFill>
        <p:spPr>
          <a:xfrm>
            <a:off x="914400" y="6307783"/>
            <a:ext cx="7117977" cy="11026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D40B40-58E6-435A-EBEB-369902DB40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7" t="82195" r="54538" b="2529"/>
          <a:stretch/>
        </p:blipFill>
        <p:spPr>
          <a:xfrm>
            <a:off x="914402" y="10111149"/>
            <a:ext cx="7117977" cy="1301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2A57-C3D7-49B7-9B32-982C261D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8000"/>
              <a:t>Que tipos de recursos posso desenvolver no ACE?</a:t>
            </a:r>
            <a:endParaRPr lang="pt-BR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BF4EA-4C18-49BE-9711-1FAA629D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Fluxos de mensagens</a:t>
            </a:r>
          </a:p>
          <a:p>
            <a:pPr lvl="1"/>
            <a:r>
              <a:rPr lang="pt-BR" dirty="0"/>
              <a:t>Um fluxo de mensagens é uma sequência de etapas de processamento que são executadas num integration node quando uma mensagem de entrada é recebida. Você define um fluxo de mensagens incluindo vários nodes no fluxo de mensagens, cada um dos quais representa um conjunto de ações que definem uma etapa de processamento. </a:t>
            </a:r>
          </a:p>
          <a:p>
            <a:pPr lvl="1"/>
            <a:endParaRPr lang="pt-BR" dirty="0"/>
          </a:p>
          <a:p>
            <a:r>
              <a:rPr lang="pt-BR" b="1" dirty="0"/>
              <a:t>Modelos de mensagem</a:t>
            </a:r>
          </a:p>
          <a:p>
            <a:pPr lvl="1"/>
            <a:r>
              <a:rPr lang="pt-BR" dirty="0"/>
              <a:t>Você pode definir a estrutura de mensagens para uso com seus fluxos de mensagens.</a:t>
            </a:r>
          </a:p>
        </p:txBody>
      </p:sp>
    </p:spTree>
    <p:extLst>
      <p:ext uri="{BB962C8B-B14F-4D97-AF65-F5344CB8AC3E}">
        <p14:creationId xmlns:p14="http://schemas.microsoft.com/office/powerpoint/2010/main" val="2482576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reeform 1"/>
          <p:cNvSpPr>
            <a:spLocks noChangeArrowheads="1"/>
          </p:cNvSpPr>
          <p:nvPr/>
        </p:nvSpPr>
        <p:spPr bwMode="auto">
          <a:xfrm>
            <a:off x="22161873" y="8719746"/>
            <a:ext cx="3176" cy="3174"/>
          </a:xfrm>
          <a:custGeom>
            <a:avLst/>
            <a:gdLst>
              <a:gd name="T0" fmla="*/ 0 w 1587"/>
              <a:gd name="T1" fmla="*/ 0 h 1588"/>
              <a:gd name="T2" fmla="*/ 0 w 1587"/>
              <a:gd name="T3" fmla="*/ 0 h 1588"/>
              <a:gd name="T4" fmla="*/ 0 w 1587"/>
              <a:gd name="T5" fmla="*/ 0 h 1588"/>
              <a:gd name="T6" fmla="*/ 0 w 1587"/>
              <a:gd name="T7" fmla="*/ 0 h 1588"/>
              <a:gd name="T8" fmla="*/ 0 w 1587"/>
              <a:gd name="T9" fmla="*/ 0 h 1588"/>
              <a:gd name="T10" fmla="*/ 0 w 1587"/>
              <a:gd name="T11" fmla="*/ 0 h 1588"/>
              <a:gd name="T12" fmla="*/ 0 w 1587"/>
              <a:gd name="T13" fmla="*/ 0 h 1588"/>
              <a:gd name="T14" fmla="*/ 0 w 1587"/>
              <a:gd name="T15" fmla="*/ 0 h 1588"/>
              <a:gd name="T16" fmla="*/ 0 w 1587"/>
              <a:gd name="T17" fmla="*/ 0 h 1588"/>
              <a:gd name="T18" fmla="*/ 0 w 1587"/>
              <a:gd name="T19" fmla="*/ 0 h 158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7"/>
              <a:gd name="T31" fmla="*/ 0 h 1588"/>
              <a:gd name="T32" fmla="*/ 1587 w 1587"/>
              <a:gd name="T33" fmla="*/ 1588 h 158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7" h="1588">
                <a:moveTo>
                  <a:pt x="0" y="0"/>
                </a:move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>
            <a:off x="10869521" y="11555019"/>
            <a:ext cx="1276350" cy="3176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797" name="Freeform 4"/>
          <p:cNvSpPr>
            <a:spLocks noChangeArrowheads="1"/>
          </p:cNvSpPr>
          <p:nvPr/>
        </p:nvSpPr>
        <p:spPr bwMode="auto">
          <a:xfrm>
            <a:off x="12117295" y="11450246"/>
            <a:ext cx="301626" cy="209550"/>
          </a:xfrm>
          <a:custGeom>
            <a:avLst/>
            <a:gdLst>
              <a:gd name="T0" fmla="*/ 0 w 95"/>
              <a:gd name="T1" fmla="*/ 0 h 66"/>
              <a:gd name="T2" fmla="*/ 2147483646 w 95"/>
              <a:gd name="T3" fmla="*/ 2147483646 h 66"/>
              <a:gd name="T4" fmla="*/ 0 w 95"/>
              <a:gd name="T5" fmla="*/ 2147483646 h 66"/>
              <a:gd name="T6" fmla="*/ 0 w 95"/>
              <a:gd name="T7" fmla="*/ 0 h 66"/>
              <a:gd name="T8" fmla="*/ 0 60000 65536"/>
              <a:gd name="T9" fmla="*/ 0 60000 65536"/>
              <a:gd name="T10" fmla="*/ 0 60000 65536"/>
              <a:gd name="T11" fmla="*/ 0 60000 65536"/>
              <a:gd name="T12" fmla="*/ 0 w 95"/>
              <a:gd name="T13" fmla="*/ 0 h 66"/>
              <a:gd name="T14" fmla="*/ 95 w 95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5" h="66">
                <a:moveTo>
                  <a:pt x="0" y="0"/>
                </a:moveTo>
                <a:lnTo>
                  <a:pt x="95" y="33"/>
                </a:lnTo>
                <a:lnTo>
                  <a:pt x="0" y="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9620741" y="11189896"/>
            <a:ext cx="119263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Message</a:t>
            </a:r>
          </a:p>
        </p:txBody>
      </p:sp>
      <p:sp>
        <p:nvSpPr>
          <p:cNvPr id="33799" name="Rectangle 6"/>
          <p:cNvSpPr>
            <a:spLocks noChangeArrowheads="1"/>
          </p:cNvSpPr>
          <p:nvPr/>
        </p:nvSpPr>
        <p:spPr bwMode="auto">
          <a:xfrm>
            <a:off x="10072140" y="11580420"/>
            <a:ext cx="25808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In</a:t>
            </a:r>
          </a:p>
        </p:txBody>
      </p:sp>
      <p:sp>
        <p:nvSpPr>
          <p:cNvPr id="33800" name="Rectangle 7"/>
          <p:cNvSpPr>
            <a:spLocks noChangeArrowheads="1"/>
          </p:cNvSpPr>
          <p:nvPr/>
        </p:nvSpPr>
        <p:spPr bwMode="auto">
          <a:xfrm>
            <a:off x="20580841" y="11231170"/>
            <a:ext cx="1192634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Message</a:t>
            </a:r>
          </a:p>
        </p:txBody>
      </p:sp>
      <p:sp>
        <p:nvSpPr>
          <p:cNvPr id="33801" name="Rectangle 8"/>
          <p:cNvSpPr>
            <a:spLocks noChangeArrowheads="1"/>
          </p:cNvSpPr>
          <p:nvPr/>
        </p:nvSpPr>
        <p:spPr bwMode="auto">
          <a:xfrm>
            <a:off x="20892918" y="11618520"/>
            <a:ext cx="508151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/>
              <a:t>Out</a:t>
            </a:r>
          </a:p>
        </p:txBody>
      </p:sp>
      <p:sp>
        <p:nvSpPr>
          <p:cNvPr id="33802" name="Rectangle 9"/>
          <p:cNvSpPr>
            <a:spLocks noChangeArrowheads="1"/>
          </p:cNvSpPr>
          <p:nvPr/>
        </p:nvSpPr>
        <p:spPr bwMode="auto">
          <a:xfrm>
            <a:off x="13220637" y="12043970"/>
            <a:ext cx="4775346" cy="3600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600" b="1" dirty="0"/>
              <a:t>ACE – IBM App Connect Enterprise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9088344" y="12205895"/>
            <a:ext cx="6254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4" name="Rectangle 11"/>
          <p:cNvSpPr>
            <a:spLocks noChangeArrowheads="1"/>
          </p:cNvSpPr>
          <p:nvPr/>
        </p:nvSpPr>
        <p:spPr bwMode="auto">
          <a:xfrm>
            <a:off x="9321842" y="12294796"/>
            <a:ext cx="136255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C</a:t>
            </a:r>
          </a:p>
        </p:txBody>
      </p:sp>
      <p:sp>
        <p:nvSpPr>
          <p:cNvPr id="33805" name="Rectangle 12"/>
          <p:cNvSpPr>
            <a:spLocks noChangeArrowheads="1"/>
          </p:cNvSpPr>
          <p:nvPr/>
        </p:nvSpPr>
        <p:spPr bwMode="auto">
          <a:xfrm>
            <a:off x="9713821" y="12205895"/>
            <a:ext cx="793750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6" name="Rectangle 13"/>
          <p:cNvSpPr>
            <a:spLocks noChangeArrowheads="1"/>
          </p:cNvSpPr>
          <p:nvPr/>
        </p:nvSpPr>
        <p:spPr bwMode="auto">
          <a:xfrm>
            <a:off x="9898467" y="12294796"/>
            <a:ext cx="38952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123</a:t>
            </a:r>
          </a:p>
        </p:txBody>
      </p:sp>
      <p:sp>
        <p:nvSpPr>
          <p:cNvPr id="33807" name="Rectangle 14"/>
          <p:cNvSpPr>
            <a:spLocks noChangeArrowheads="1"/>
          </p:cNvSpPr>
          <p:nvPr/>
        </p:nvSpPr>
        <p:spPr bwMode="auto">
          <a:xfrm>
            <a:off x="10507571" y="12205895"/>
            <a:ext cx="80327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08" name="Rectangle 15"/>
          <p:cNvSpPr>
            <a:spLocks noChangeArrowheads="1"/>
          </p:cNvSpPr>
          <p:nvPr/>
        </p:nvSpPr>
        <p:spPr bwMode="auto">
          <a:xfrm>
            <a:off x="10679254" y="12294796"/>
            <a:ext cx="444031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BUY</a:t>
            </a:r>
          </a:p>
        </p:txBody>
      </p:sp>
      <p:sp>
        <p:nvSpPr>
          <p:cNvPr id="33809" name="Rectangle 16"/>
          <p:cNvSpPr>
            <a:spLocks noChangeArrowheads="1"/>
          </p:cNvSpPr>
          <p:nvPr/>
        </p:nvSpPr>
        <p:spPr bwMode="auto">
          <a:xfrm>
            <a:off x="11310844" y="12205895"/>
            <a:ext cx="6635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0" name="Rectangle 17"/>
          <p:cNvSpPr>
            <a:spLocks noChangeArrowheads="1"/>
          </p:cNvSpPr>
          <p:nvPr/>
        </p:nvSpPr>
        <p:spPr bwMode="auto">
          <a:xfrm>
            <a:off x="11415886" y="12294796"/>
            <a:ext cx="43761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IBM</a:t>
            </a:r>
          </a:p>
        </p:txBody>
      </p:sp>
      <p:sp>
        <p:nvSpPr>
          <p:cNvPr id="33811" name="Rectangle 18"/>
          <p:cNvSpPr>
            <a:spLocks noChangeArrowheads="1"/>
          </p:cNvSpPr>
          <p:nvPr/>
        </p:nvSpPr>
        <p:spPr bwMode="auto">
          <a:xfrm>
            <a:off x="11974420" y="12205895"/>
            <a:ext cx="36512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2" name="Rectangle 19"/>
          <p:cNvSpPr>
            <a:spLocks noChangeArrowheads="1"/>
          </p:cNvSpPr>
          <p:nvPr/>
        </p:nvSpPr>
        <p:spPr bwMode="auto">
          <a:xfrm>
            <a:off x="12085710" y="12294796"/>
            <a:ext cx="129843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5</a:t>
            </a:r>
          </a:p>
        </p:txBody>
      </p:sp>
      <p:sp>
        <p:nvSpPr>
          <p:cNvPr id="33813" name="Rectangle 20"/>
          <p:cNvSpPr>
            <a:spLocks noChangeArrowheads="1"/>
          </p:cNvSpPr>
          <p:nvPr/>
        </p:nvSpPr>
        <p:spPr bwMode="auto">
          <a:xfrm>
            <a:off x="18451421" y="12205895"/>
            <a:ext cx="68897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4" name="Rectangle 21"/>
          <p:cNvSpPr>
            <a:spLocks noChangeArrowheads="1"/>
          </p:cNvSpPr>
          <p:nvPr/>
        </p:nvSpPr>
        <p:spPr bwMode="auto">
          <a:xfrm>
            <a:off x="18709502" y="12294796"/>
            <a:ext cx="141064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X</a:t>
            </a:r>
          </a:p>
        </p:txBody>
      </p:sp>
      <p:sp>
        <p:nvSpPr>
          <p:cNvPr id="33815" name="Rectangle 22"/>
          <p:cNvSpPr>
            <a:spLocks noChangeArrowheads="1"/>
          </p:cNvSpPr>
          <p:nvPr/>
        </p:nvSpPr>
        <p:spPr bwMode="auto">
          <a:xfrm>
            <a:off x="19140394" y="12205895"/>
            <a:ext cx="12477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6" name="Rectangle 23"/>
          <p:cNvSpPr>
            <a:spLocks noChangeArrowheads="1"/>
          </p:cNvSpPr>
          <p:nvPr/>
        </p:nvSpPr>
        <p:spPr bwMode="auto">
          <a:xfrm>
            <a:off x="19259708" y="12294796"/>
            <a:ext cx="932948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A123_02</a:t>
            </a:r>
          </a:p>
        </p:txBody>
      </p:sp>
      <p:sp>
        <p:nvSpPr>
          <p:cNvPr id="33817" name="Rectangle 24"/>
          <p:cNvSpPr>
            <a:spLocks noChangeArrowheads="1"/>
          </p:cNvSpPr>
          <p:nvPr/>
        </p:nvSpPr>
        <p:spPr bwMode="auto">
          <a:xfrm>
            <a:off x="20388170" y="12205895"/>
            <a:ext cx="1701800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18" name="Rectangle 25"/>
          <p:cNvSpPr>
            <a:spLocks noChangeArrowheads="1"/>
          </p:cNvSpPr>
          <p:nvPr/>
        </p:nvSpPr>
        <p:spPr bwMode="auto">
          <a:xfrm>
            <a:off x="20657259" y="12294796"/>
            <a:ext cx="1147750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PURCHASE</a:t>
            </a:r>
          </a:p>
        </p:txBody>
      </p:sp>
      <p:sp>
        <p:nvSpPr>
          <p:cNvPr id="33819" name="Rectangle 26"/>
          <p:cNvSpPr>
            <a:spLocks noChangeArrowheads="1"/>
          </p:cNvSpPr>
          <p:nvPr/>
        </p:nvSpPr>
        <p:spPr bwMode="auto">
          <a:xfrm>
            <a:off x="22416994" y="12205895"/>
            <a:ext cx="752476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0" name="Rectangle 27"/>
          <p:cNvSpPr>
            <a:spLocks noChangeArrowheads="1"/>
          </p:cNvSpPr>
          <p:nvPr/>
        </p:nvSpPr>
        <p:spPr bwMode="auto">
          <a:xfrm>
            <a:off x="22560136" y="12294796"/>
            <a:ext cx="437619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IBM</a:t>
            </a:r>
          </a:p>
        </p:txBody>
      </p:sp>
      <p:sp>
        <p:nvSpPr>
          <p:cNvPr id="33821" name="Rectangle 28"/>
          <p:cNvSpPr>
            <a:spLocks noChangeArrowheads="1"/>
          </p:cNvSpPr>
          <p:nvPr/>
        </p:nvSpPr>
        <p:spPr bwMode="auto">
          <a:xfrm>
            <a:off x="22026470" y="12205895"/>
            <a:ext cx="403224" cy="51752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22150460" y="12294796"/>
            <a:ext cx="129843" cy="276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hangingPunct="1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US" altLang="pt-BR" sz="2000" b="1"/>
              <a:t>5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12418920" y="8484796"/>
            <a:ext cx="6016624" cy="3435350"/>
          </a:xfrm>
          <a:prstGeom prst="rect">
            <a:avLst/>
          </a:prstGeom>
          <a:solidFill>
            <a:srgbClr val="800000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4" name="Freeform 31"/>
          <p:cNvSpPr>
            <a:spLocks noChangeArrowheads="1"/>
          </p:cNvSpPr>
          <p:nvPr/>
        </p:nvSpPr>
        <p:spPr bwMode="auto">
          <a:xfrm>
            <a:off x="12418921" y="8199046"/>
            <a:ext cx="6772274" cy="285750"/>
          </a:xfrm>
          <a:custGeom>
            <a:avLst/>
            <a:gdLst>
              <a:gd name="T0" fmla="*/ 0 w 2133"/>
              <a:gd name="T1" fmla="*/ 2147483646 h 90"/>
              <a:gd name="T2" fmla="*/ 2147483646 w 2133"/>
              <a:gd name="T3" fmla="*/ 0 h 90"/>
              <a:gd name="T4" fmla="*/ 2147483646 w 2133"/>
              <a:gd name="T5" fmla="*/ 0 h 90"/>
              <a:gd name="T6" fmla="*/ 2147483646 w 2133"/>
              <a:gd name="T7" fmla="*/ 2147483646 h 90"/>
              <a:gd name="T8" fmla="*/ 0 w 2133"/>
              <a:gd name="T9" fmla="*/ 2147483646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33"/>
              <a:gd name="T16" fmla="*/ 0 h 90"/>
              <a:gd name="T17" fmla="*/ 2133 w 2133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33" h="90">
                <a:moveTo>
                  <a:pt x="0" y="90"/>
                </a:moveTo>
                <a:lnTo>
                  <a:pt x="237" y="0"/>
                </a:lnTo>
                <a:lnTo>
                  <a:pt x="2133" y="0"/>
                </a:lnTo>
                <a:lnTo>
                  <a:pt x="1895" y="90"/>
                </a:lnTo>
                <a:lnTo>
                  <a:pt x="0" y="90"/>
                </a:lnTo>
                <a:close/>
              </a:path>
            </a:pathLst>
          </a:custGeom>
          <a:solidFill>
            <a:srgbClr val="B90000"/>
          </a:solidFill>
          <a:ln w="64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25" name="Freeform 32"/>
          <p:cNvSpPr>
            <a:spLocks noChangeArrowheads="1"/>
          </p:cNvSpPr>
          <p:nvPr/>
        </p:nvSpPr>
        <p:spPr bwMode="auto">
          <a:xfrm>
            <a:off x="18435545" y="8199045"/>
            <a:ext cx="755650" cy="3721100"/>
          </a:xfrm>
          <a:custGeom>
            <a:avLst/>
            <a:gdLst>
              <a:gd name="T0" fmla="*/ 0 w 238"/>
              <a:gd name="T1" fmla="*/ 2147483646 h 1172"/>
              <a:gd name="T2" fmla="*/ 2147483646 w 238"/>
              <a:gd name="T3" fmla="*/ 2147483646 h 1172"/>
              <a:gd name="T4" fmla="*/ 2147483646 w 238"/>
              <a:gd name="T5" fmla="*/ 0 h 1172"/>
              <a:gd name="T6" fmla="*/ 0 w 238"/>
              <a:gd name="T7" fmla="*/ 2147483646 h 1172"/>
              <a:gd name="T8" fmla="*/ 0 w 238"/>
              <a:gd name="T9" fmla="*/ 2147483646 h 1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8"/>
              <a:gd name="T16" fmla="*/ 0 h 1172"/>
              <a:gd name="T17" fmla="*/ 238 w 238"/>
              <a:gd name="T18" fmla="*/ 1172 h 1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8" h="1172">
                <a:moveTo>
                  <a:pt x="0" y="1172"/>
                </a:moveTo>
                <a:lnTo>
                  <a:pt x="238" y="1081"/>
                </a:lnTo>
                <a:lnTo>
                  <a:pt x="238" y="0"/>
                </a:lnTo>
                <a:lnTo>
                  <a:pt x="0" y="90"/>
                </a:lnTo>
                <a:lnTo>
                  <a:pt x="0" y="1172"/>
                </a:lnTo>
                <a:close/>
              </a:path>
            </a:pathLst>
          </a:custGeom>
          <a:solidFill>
            <a:srgbClr val="D50000"/>
          </a:solidFill>
          <a:ln w="64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13041220" y="10891446"/>
            <a:ext cx="377824" cy="18097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12768170" y="11256569"/>
            <a:ext cx="365124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8" name="Rectangle 35"/>
          <p:cNvSpPr>
            <a:spLocks noChangeArrowheads="1"/>
          </p:cNvSpPr>
          <p:nvPr/>
        </p:nvSpPr>
        <p:spPr bwMode="auto">
          <a:xfrm>
            <a:off x="13326970" y="11256569"/>
            <a:ext cx="365124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29" name="Rectangle 36"/>
          <p:cNvSpPr>
            <a:spLocks noChangeArrowheads="1"/>
          </p:cNvSpPr>
          <p:nvPr/>
        </p:nvSpPr>
        <p:spPr bwMode="auto">
          <a:xfrm>
            <a:off x="13041220" y="11631220"/>
            <a:ext cx="377824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0" name="Rectangle 37"/>
          <p:cNvSpPr>
            <a:spLocks noChangeArrowheads="1"/>
          </p:cNvSpPr>
          <p:nvPr/>
        </p:nvSpPr>
        <p:spPr bwMode="auto">
          <a:xfrm>
            <a:off x="13600020" y="11631220"/>
            <a:ext cx="377824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1" name="Freeform 38"/>
          <p:cNvSpPr>
            <a:spLocks noChangeArrowheads="1"/>
          </p:cNvSpPr>
          <p:nvPr/>
        </p:nvSpPr>
        <p:spPr bwMode="auto">
          <a:xfrm>
            <a:off x="12949144" y="11072420"/>
            <a:ext cx="558800" cy="184150"/>
          </a:xfrm>
          <a:custGeom>
            <a:avLst/>
            <a:gdLst>
              <a:gd name="T0" fmla="*/ 2147483646 w 176"/>
              <a:gd name="T1" fmla="*/ 2147483646 h 58"/>
              <a:gd name="T2" fmla="*/ 2147483646 w 176"/>
              <a:gd name="T3" fmla="*/ 0 h 58"/>
              <a:gd name="T4" fmla="*/ 0 w 176"/>
              <a:gd name="T5" fmla="*/ 2147483646 h 58"/>
              <a:gd name="T6" fmla="*/ 0 60000 65536"/>
              <a:gd name="T7" fmla="*/ 0 60000 65536"/>
              <a:gd name="T8" fmla="*/ 0 60000 65536"/>
              <a:gd name="T9" fmla="*/ 0 w 176"/>
              <a:gd name="T10" fmla="*/ 0 h 58"/>
              <a:gd name="T11" fmla="*/ 176 w 176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8">
                <a:moveTo>
                  <a:pt x="176" y="58"/>
                </a:moveTo>
                <a:lnTo>
                  <a:pt x="86" y="0"/>
                </a:lnTo>
                <a:lnTo>
                  <a:pt x="0" y="58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2" name="Freeform 39"/>
          <p:cNvSpPr>
            <a:spLocks noChangeArrowheads="1"/>
          </p:cNvSpPr>
          <p:nvPr/>
        </p:nvSpPr>
        <p:spPr bwMode="auto">
          <a:xfrm>
            <a:off x="13222194" y="11450246"/>
            <a:ext cx="558800" cy="180974"/>
          </a:xfrm>
          <a:custGeom>
            <a:avLst/>
            <a:gdLst>
              <a:gd name="T0" fmla="*/ 2147483646 w 176"/>
              <a:gd name="T1" fmla="*/ 2147483646 h 57"/>
              <a:gd name="T2" fmla="*/ 2147483646 w 176"/>
              <a:gd name="T3" fmla="*/ 0 h 57"/>
              <a:gd name="T4" fmla="*/ 0 w 176"/>
              <a:gd name="T5" fmla="*/ 2147483646 h 57"/>
              <a:gd name="T6" fmla="*/ 0 60000 65536"/>
              <a:gd name="T7" fmla="*/ 0 60000 65536"/>
              <a:gd name="T8" fmla="*/ 0 60000 65536"/>
              <a:gd name="T9" fmla="*/ 0 w 176"/>
              <a:gd name="T10" fmla="*/ 0 h 57"/>
              <a:gd name="T11" fmla="*/ 176 w 176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7">
                <a:moveTo>
                  <a:pt x="176" y="57"/>
                </a:moveTo>
                <a:lnTo>
                  <a:pt x="90" y="0"/>
                </a:lnTo>
                <a:lnTo>
                  <a:pt x="0" y="57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3" name="Rectangle 40"/>
          <p:cNvSpPr>
            <a:spLocks noChangeArrowheads="1"/>
          </p:cNvSpPr>
          <p:nvPr/>
        </p:nvSpPr>
        <p:spPr bwMode="auto">
          <a:xfrm>
            <a:off x="17267145" y="10891446"/>
            <a:ext cx="377826" cy="180974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4" name="Rectangle 41"/>
          <p:cNvSpPr>
            <a:spLocks noChangeArrowheads="1"/>
          </p:cNvSpPr>
          <p:nvPr/>
        </p:nvSpPr>
        <p:spPr bwMode="auto">
          <a:xfrm>
            <a:off x="16994095" y="11256569"/>
            <a:ext cx="365126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5" name="Rectangle 42"/>
          <p:cNvSpPr>
            <a:spLocks noChangeArrowheads="1"/>
          </p:cNvSpPr>
          <p:nvPr/>
        </p:nvSpPr>
        <p:spPr bwMode="auto">
          <a:xfrm>
            <a:off x="17552895" y="11256569"/>
            <a:ext cx="365126" cy="193676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6" name="Rectangle 43"/>
          <p:cNvSpPr>
            <a:spLocks noChangeArrowheads="1"/>
          </p:cNvSpPr>
          <p:nvPr/>
        </p:nvSpPr>
        <p:spPr bwMode="auto">
          <a:xfrm>
            <a:off x="17267145" y="11631220"/>
            <a:ext cx="377826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7" name="Rectangle 44"/>
          <p:cNvSpPr>
            <a:spLocks noChangeArrowheads="1"/>
          </p:cNvSpPr>
          <p:nvPr/>
        </p:nvSpPr>
        <p:spPr bwMode="auto">
          <a:xfrm>
            <a:off x="17825945" y="11631220"/>
            <a:ext cx="377826" cy="184150"/>
          </a:xfrm>
          <a:prstGeom prst="rect">
            <a:avLst/>
          </a:prstGeom>
          <a:solidFill>
            <a:srgbClr val="FFFF99"/>
          </a:solidFill>
          <a:ln w="64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33838" name="Freeform 45"/>
          <p:cNvSpPr>
            <a:spLocks noChangeArrowheads="1"/>
          </p:cNvSpPr>
          <p:nvPr/>
        </p:nvSpPr>
        <p:spPr bwMode="auto">
          <a:xfrm>
            <a:off x="17175070" y="11072420"/>
            <a:ext cx="558800" cy="184150"/>
          </a:xfrm>
          <a:custGeom>
            <a:avLst/>
            <a:gdLst>
              <a:gd name="T0" fmla="*/ 2147483646 w 176"/>
              <a:gd name="T1" fmla="*/ 2147483646 h 58"/>
              <a:gd name="T2" fmla="*/ 2147483646 w 176"/>
              <a:gd name="T3" fmla="*/ 0 h 58"/>
              <a:gd name="T4" fmla="*/ 0 w 176"/>
              <a:gd name="T5" fmla="*/ 2147483646 h 58"/>
              <a:gd name="T6" fmla="*/ 0 60000 65536"/>
              <a:gd name="T7" fmla="*/ 0 60000 65536"/>
              <a:gd name="T8" fmla="*/ 0 60000 65536"/>
              <a:gd name="T9" fmla="*/ 0 w 176"/>
              <a:gd name="T10" fmla="*/ 0 h 58"/>
              <a:gd name="T11" fmla="*/ 176 w 176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8">
                <a:moveTo>
                  <a:pt x="176" y="58"/>
                </a:moveTo>
                <a:lnTo>
                  <a:pt x="86" y="0"/>
                </a:lnTo>
                <a:lnTo>
                  <a:pt x="0" y="58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39" name="Freeform 46"/>
          <p:cNvSpPr>
            <a:spLocks noChangeArrowheads="1"/>
          </p:cNvSpPr>
          <p:nvPr/>
        </p:nvSpPr>
        <p:spPr bwMode="auto">
          <a:xfrm>
            <a:off x="17448120" y="11450246"/>
            <a:ext cx="558800" cy="180974"/>
          </a:xfrm>
          <a:custGeom>
            <a:avLst/>
            <a:gdLst>
              <a:gd name="T0" fmla="*/ 2147483646 w 176"/>
              <a:gd name="T1" fmla="*/ 2147483646 h 57"/>
              <a:gd name="T2" fmla="*/ 2147483646 w 176"/>
              <a:gd name="T3" fmla="*/ 0 h 57"/>
              <a:gd name="T4" fmla="*/ 0 w 176"/>
              <a:gd name="T5" fmla="*/ 2147483646 h 57"/>
              <a:gd name="T6" fmla="*/ 0 60000 65536"/>
              <a:gd name="T7" fmla="*/ 0 60000 65536"/>
              <a:gd name="T8" fmla="*/ 0 60000 65536"/>
              <a:gd name="T9" fmla="*/ 0 w 176"/>
              <a:gd name="T10" fmla="*/ 0 h 57"/>
              <a:gd name="T11" fmla="*/ 176 w 176"/>
              <a:gd name="T12" fmla="*/ 57 h 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57">
                <a:moveTo>
                  <a:pt x="176" y="57"/>
                </a:moveTo>
                <a:lnTo>
                  <a:pt x="90" y="0"/>
                </a:lnTo>
                <a:lnTo>
                  <a:pt x="0" y="57"/>
                </a:lnTo>
              </a:path>
            </a:pathLst>
          </a:custGeom>
          <a:noFill/>
          <a:ln w="126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33840" name="Line 47"/>
          <p:cNvSpPr>
            <a:spLocks noChangeShapeType="1"/>
          </p:cNvSpPr>
          <p:nvPr/>
        </p:nvSpPr>
        <p:spPr bwMode="auto">
          <a:xfrm>
            <a:off x="141080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1" name="Line 48"/>
          <p:cNvSpPr>
            <a:spLocks noChangeShapeType="1"/>
          </p:cNvSpPr>
          <p:nvPr/>
        </p:nvSpPr>
        <p:spPr bwMode="auto">
          <a:xfrm>
            <a:off x="14342970" y="11294669"/>
            <a:ext cx="114300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2" name="Line 49"/>
          <p:cNvSpPr>
            <a:spLocks noChangeShapeType="1"/>
          </p:cNvSpPr>
          <p:nvPr/>
        </p:nvSpPr>
        <p:spPr bwMode="auto">
          <a:xfrm>
            <a:off x="145747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3" name="Line 50"/>
          <p:cNvSpPr>
            <a:spLocks noChangeShapeType="1"/>
          </p:cNvSpPr>
          <p:nvPr/>
        </p:nvSpPr>
        <p:spPr bwMode="auto">
          <a:xfrm>
            <a:off x="1480969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4" name="Line 51"/>
          <p:cNvSpPr>
            <a:spLocks noChangeShapeType="1"/>
          </p:cNvSpPr>
          <p:nvPr/>
        </p:nvSpPr>
        <p:spPr bwMode="auto">
          <a:xfrm>
            <a:off x="150446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5" name="Line 52"/>
          <p:cNvSpPr>
            <a:spLocks noChangeShapeType="1"/>
          </p:cNvSpPr>
          <p:nvPr/>
        </p:nvSpPr>
        <p:spPr bwMode="auto">
          <a:xfrm>
            <a:off x="152764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6" name="Line 53"/>
          <p:cNvSpPr>
            <a:spLocks noChangeShapeType="1"/>
          </p:cNvSpPr>
          <p:nvPr/>
        </p:nvSpPr>
        <p:spPr bwMode="auto">
          <a:xfrm>
            <a:off x="1551137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7" name="Line 54"/>
          <p:cNvSpPr>
            <a:spLocks noChangeShapeType="1"/>
          </p:cNvSpPr>
          <p:nvPr/>
        </p:nvSpPr>
        <p:spPr bwMode="auto">
          <a:xfrm>
            <a:off x="15746321" y="11294669"/>
            <a:ext cx="117474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8" name="Line 55"/>
          <p:cNvSpPr>
            <a:spLocks noChangeShapeType="1"/>
          </p:cNvSpPr>
          <p:nvPr/>
        </p:nvSpPr>
        <p:spPr bwMode="auto">
          <a:xfrm>
            <a:off x="15981270" y="11294669"/>
            <a:ext cx="114300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49" name="Line 56"/>
          <p:cNvSpPr>
            <a:spLocks noChangeShapeType="1"/>
          </p:cNvSpPr>
          <p:nvPr/>
        </p:nvSpPr>
        <p:spPr bwMode="auto">
          <a:xfrm>
            <a:off x="1621304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50" name="Line 57"/>
          <p:cNvSpPr>
            <a:spLocks noChangeShapeType="1"/>
          </p:cNvSpPr>
          <p:nvPr/>
        </p:nvSpPr>
        <p:spPr bwMode="auto">
          <a:xfrm>
            <a:off x="16447994" y="11294669"/>
            <a:ext cx="117476" cy="3176"/>
          </a:xfrm>
          <a:prstGeom prst="line">
            <a:avLst/>
          </a:prstGeom>
          <a:noFill/>
          <a:ln w="2556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pic>
        <p:nvPicPr>
          <p:cNvPr id="33851" name="Picture 5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76094" y="8719745"/>
            <a:ext cx="5638800" cy="2006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3852" name="Line 59"/>
          <p:cNvSpPr>
            <a:spLocks noChangeShapeType="1"/>
          </p:cNvSpPr>
          <p:nvPr/>
        </p:nvSpPr>
        <p:spPr bwMode="auto">
          <a:xfrm>
            <a:off x="18435544" y="11555019"/>
            <a:ext cx="1587500" cy="3176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33853" name="Freeform 60"/>
          <p:cNvSpPr>
            <a:spLocks noChangeArrowheads="1"/>
          </p:cNvSpPr>
          <p:nvPr/>
        </p:nvSpPr>
        <p:spPr bwMode="auto">
          <a:xfrm>
            <a:off x="19997645" y="11450246"/>
            <a:ext cx="311150" cy="209550"/>
          </a:xfrm>
          <a:custGeom>
            <a:avLst/>
            <a:gdLst>
              <a:gd name="T0" fmla="*/ 0 w 98"/>
              <a:gd name="T1" fmla="*/ 0 h 66"/>
              <a:gd name="T2" fmla="*/ 2147483646 w 98"/>
              <a:gd name="T3" fmla="*/ 2147483646 h 66"/>
              <a:gd name="T4" fmla="*/ 0 w 98"/>
              <a:gd name="T5" fmla="*/ 2147483646 h 66"/>
              <a:gd name="T6" fmla="*/ 0 w 98"/>
              <a:gd name="T7" fmla="*/ 0 h 66"/>
              <a:gd name="T8" fmla="*/ 0 60000 65536"/>
              <a:gd name="T9" fmla="*/ 0 60000 65536"/>
              <a:gd name="T10" fmla="*/ 0 60000 65536"/>
              <a:gd name="T11" fmla="*/ 0 60000 65536"/>
              <a:gd name="T12" fmla="*/ 0 w 98"/>
              <a:gd name="T13" fmla="*/ 0 h 66"/>
              <a:gd name="T14" fmla="*/ 98 w 98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" h="66">
                <a:moveTo>
                  <a:pt x="0" y="0"/>
                </a:moveTo>
                <a:lnTo>
                  <a:pt x="98" y="33"/>
                </a:lnTo>
                <a:lnTo>
                  <a:pt x="0" y="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89" name="Rectangle 49"/>
          <p:cNvSpPr>
            <a:spLocks noChangeArrowheads="1"/>
          </p:cNvSpPr>
          <p:nvPr/>
        </p:nvSpPr>
        <p:spPr bwMode="auto">
          <a:xfrm>
            <a:off x="21281310" y="5646343"/>
            <a:ext cx="193482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825626"/>
            <a:r>
              <a:rPr lang="en-US" sz="3600"/>
              <a:t>Databases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90" name="Freeform 58"/>
          <p:cNvSpPr>
            <a:spLocks/>
          </p:cNvSpPr>
          <p:nvPr/>
        </p:nvSpPr>
        <p:spPr bwMode="auto">
          <a:xfrm>
            <a:off x="17194120" y="6128944"/>
            <a:ext cx="2057400" cy="1838326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0000"/>
          </a:p>
        </p:txBody>
      </p:sp>
      <p:sp>
        <p:nvSpPr>
          <p:cNvPr id="91" name="Freeform 59"/>
          <p:cNvSpPr>
            <a:spLocks/>
          </p:cNvSpPr>
          <p:nvPr/>
        </p:nvSpPr>
        <p:spPr bwMode="auto">
          <a:xfrm>
            <a:off x="17016321" y="7935519"/>
            <a:ext cx="282574" cy="457200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92" name="AutoShape 60"/>
          <p:cNvSpPr>
            <a:spLocks noChangeArrowheads="1"/>
          </p:cNvSpPr>
          <p:nvPr/>
        </p:nvSpPr>
        <p:spPr bwMode="auto">
          <a:xfrm>
            <a:off x="19553144" y="5420919"/>
            <a:ext cx="1460500" cy="1152524"/>
          </a:xfrm>
          <a:prstGeom prst="can">
            <a:avLst>
              <a:gd name="adj" fmla="val 25000"/>
            </a:avLst>
          </a:prstGeom>
          <a:solidFill>
            <a:srgbClr val="33CCCC"/>
          </a:solidFill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0000"/>
          </a:p>
        </p:txBody>
      </p:sp>
      <p:sp>
        <p:nvSpPr>
          <p:cNvPr id="93" name="Freeform 61"/>
          <p:cNvSpPr>
            <a:spLocks/>
          </p:cNvSpPr>
          <p:nvPr/>
        </p:nvSpPr>
        <p:spPr bwMode="auto">
          <a:xfrm flipH="1">
            <a:off x="14768421" y="6208319"/>
            <a:ext cx="2089150" cy="2120900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94" name="Freeform 62"/>
          <p:cNvSpPr>
            <a:spLocks/>
          </p:cNvSpPr>
          <p:nvPr/>
        </p:nvSpPr>
        <p:spPr bwMode="auto">
          <a:xfrm rot="5626722">
            <a:off x="16522607" y="7962507"/>
            <a:ext cx="463550" cy="269876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grpSp>
        <p:nvGrpSpPr>
          <p:cNvPr id="95" name="Group 63"/>
          <p:cNvGrpSpPr>
            <a:grpSpLocks/>
          </p:cNvGrpSpPr>
          <p:nvPr/>
        </p:nvGrpSpPr>
        <p:grpSpPr bwMode="auto">
          <a:xfrm>
            <a:off x="13669870" y="5452669"/>
            <a:ext cx="1673224" cy="977900"/>
            <a:chOff x="4032" y="1680"/>
            <a:chExt cx="1248" cy="912"/>
          </a:xfrm>
        </p:grpSpPr>
        <p:sp>
          <p:nvSpPr>
            <p:cNvPr id="96" name="Freeform 64"/>
            <p:cNvSpPr>
              <a:spLocks noChangeArrowheads="1"/>
            </p:cNvSpPr>
            <p:nvPr/>
          </p:nvSpPr>
          <p:spPr bwMode="auto">
            <a:xfrm>
              <a:off x="4032" y="1730"/>
              <a:ext cx="1248" cy="580"/>
            </a:xfrm>
            <a:custGeom>
              <a:avLst/>
              <a:gdLst/>
              <a:ahLst/>
              <a:cxnLst>
                <a:cxn ang="0">
                  <a:pos x="1575" y="219"/>
                </a:cxn>
                <a:cxn ang="0">
                  <a:pos x="0" y="435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  <a:cxn ang="0">
                  <a:pos x="1137" y="0"/>
                </a:cxn>
              </a:cxnLst>
              <a:rect l="0" t="0" r="r" b="b"/>
              <a:pathLst>
                <a:path w="1575" h="732">
                  <a:moveTo>
                    <a:pt x="1137" y="0"/>
                  </a:moveTo>
                  <a:lnTo>
                    <a:pt x="1575" y="219"/>
                  </a:lnTo>
                  <a:lnTo>
                    <a:pt x="458" y="732"/>
                  </a:lnTo>
                  <a:lnTo>
                    <a:pt x="0" y="435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lnTo>
                    <a:pt x="1137" y="0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7" name="Freeform 65"/>
            <p:cNvSpPr>
              <a:spLocks noChangeArrowheads="1"/>
            </p:cNvSpPr>
            <p:nvPr/>
          </p:nvSpPr>
          <p:spPr bwMode="auto">
            <a:xfrm>
              <a:off x="4290" y="1730"/>
              <a:ext cx="960" cy="580"/>
            </a:xfrm>
            <a:custGeom>
              <a:avLst/>
              <a:gdLst/>
              <a:ahLst/>
              <a:cxnLst>
                <a:cxn ang="0">
                  <a:pos x="811" y="291"/>
                </a:cxn>
                <a:cxn ang="0">
                  <a:pos x="0" y="653"/>
                </a:cxn>
                <a:cxn ang="0">
                  <a:pos x="125" y="732"/>
                </a:cxn>
                <a:cxn ang="0">
                  <a:pos x="1211" y="233"/>
                </a:cxn>
                <a:cxn ang="0">
                  <a:pos x="811" y="0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  <a:cxn ang="0">
                  <a:pos x="811" y="291"/>
                </a:cxn>
                <a:cxn ang="0">
                  <a:pos x="811" y="0"/>
                </a:cxn>
              </a:cxnLst>
              <a:rect l="0" t="0" r="r" b="b"/>
              <a:pathLst>
                <a:path w="1211" h="732">
                  <a:moveTo>
                    <a:pt x="811" y="291"/>
                  </a:moveTo>
                  <a:lnTo>
                    <a:pt x="0" y="653"/>
                  </a:lnTo>
                  <a:lnTo>
                    <a:pt x="125" y="732"/>
                  </a:lnTo>
                  <a:lnTo>
                    <a:pt x="1211" y="233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lnTo>
                    <a:pt x="811" y="291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7FA25F"/>
            </a:solidFill>
            <a:ln w="15875">
              <a:solidFill>
                <a:srgbClr val="7FA25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8" name="Freeform 66"/>
            <p:cNvSpPr>
              <a:spLocks noChangeArrowheads="1"/>
            </p:cNvSpPr>
            <p:nvPr/>
          </p:nvSpPr>
          <p:spPr bwMode="auto">
            <a:xfrm>
              <a:off x="4032" y="1730"/>
              <a:ext cx="902" cy="633"/>
            </a:xfrm>
            <a:custGeom>
              <a:avLst/>
              <a:gdLst/>
              <a:ahLst/>
              <a:cxnLst>
                <a:cxn ang="0">
                  <a:pos x="1137" y="291"/>
                </a:cxn>
                <a:cxn ang="0">
                  <a:pos x="1137" y="0"/>
                </a:cxn>
                <a:cxn ang="0">
                  <a:pos x="3" y="432"/>
                </a:cxn>
                <a:cxn ang="0">
                  <a:pos x="0" y="794"/>
                </a:cxn>
                <a:cxn ang="0">
                  <a:pos x="3" y="799"/>
                </a:cxn>
                <a:cxn ang="0">
                  <a:pos x="3" y="799"/>
                </a:cxn>
                <a:cxn ang="0">
                  <a:pos x="1137" y="291"/>
                </a:cxn>
                <a:cxn ang="0">
                  <a:pos x="3" y="799"/>
                </a:cxn>
                <a:cxn ang="0">
                  <a:pos x="1137" y="291"/>
                </a:cxn>
                <a:cxn ang="0">
                  <a:pos x="3" y="799"/>
                </a:cxn>
              </a:cxnLst>
              <a:rect l="0" t="0" r="r" b="b"/>
              <a:pathLst>
                <a:path w="1137" h="799">
                  <a:moveTo>
                    <a:pt x="1137" y="291"/>
                  </a:moveTo>
                  <a:lnTo>
                    <a:pt x="1137" y="0"/>
                  </a:lnTo>
                  <a:lnTo>
                    <a:pt x="3" y="432"/>
                  </a:lnTo>
                  <a:lnTo>
                    <a:pt x="0" y="794"/>
                  </a:lnTo>
                  <a:lnTo>
                    <a:pt x="3" y="799"/>
                  </a:lnTo>
                  <a:lnTo>
                    <a:pt x="3" y="799"/>
                  </a:lnTo>
                  <a:lnTo>
                    <a:pt x="1137" y="291"/>
                  </a:lnTo>
                  <a:lnTo>
                    <a:pt x="3" y="799"/>
                  </a:lnTo>
                  <a:lnTo>
                    <a:pt x="1137" y="291"/>
                  </a:lnTo>
                  <a:lnTo>
                    <a:pt x="3" y="799"/>
                  </a:lnTo>
                  <a:close/>
                </a:path>
              </a:pathLst>
            </a:custGeom>
            <a:solidFill>
              <a:srgbClr val="008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99" name="Freeform 67"/>
            <p:cNvSpPr>
              <a:spLocks noChangeArrowheads="1"/>
            </p:cNvSpPr>
            <p:nvPr/>
          </p:nvSpPr>
          <p:spPr bwMode="auto">
            <a:xfrm>
              <a:off x="4934" y="1728"/>
              <a:ext cx="345" cy="290"/>
            </a:xfrm>
            <a:custGeom>
              <a:avLst/>
              <a:gdLst/>
              <a:ahLst/>
              <a:cxnLst>
                <a:cxn ang="0">
                  <a:pos x="107" y="365"/>
                </a:cxn>
                <a:cxn ang="0">
                  <a:pos x="435" y="221"/>
                </a:cxn>
                <a:cxn ang="0">
                  <a:pos x="0" y="0"/>
                </a:cxn>
                <a:cxn ang="0">
                  <a:pos x="0" y="293"/>
                </a:cxn>
                <a:cxn ang="0">
                  <a:pos x="0" y="293"/>
                </a:cxn>
                <a:cxn ang="0">
                  <a:pos x="107" y="365"/>
                </a:cxn>
                <a:cxn ang="0">
                  <a:pos x="0" y="293"/>
                </a:cxn>
                <a:cxn ang="0">
                  <a:pos x="107" y="365"/>
                </a:cxn>
                <a:cxn ang="0">
                  <a:pos x="0" y="293"/>
                </a:cxn>
              </a:cxnLst>
              <a:rect l="0" t="0" r="r" b="b"/>
              <a:pathLst>
                <a:path w="435" h="365">
                  <a:moveTo>
                    <a:pt x="107" y="365"/>
                  </a:moveTo>
                  <a:lnTo>
                    <a:pt x="435" y="221"/>
                  </a:lnTo>
                  <a:lnTo>
                    <a:pt x="0" y="0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107" y="365"/>
                  </a:lnTo>
                  <a:lnTo>
                    <a:pt x="0" y="293"/>
                  </a:lnTo>
                  <a:lnTo>
                    <a:pt x="107" y="365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008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0" name="Freeform 68"/>
            <p:cNvSpPr>
              <a:spLocks noChangeArrowheads="1"/>
            </p:cNvSpPr>
            <p:nvPr/>
          </p:nvSpPr>
          <p:spPr bwMode="auto">
            <a:xfrm>
              <a:off x="4704" y="1680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0000"/>
            </a:solidFill>
            <a:ln w="158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1" name="Freeform 69"/>
            <p:cNvSpPr>
              <a:spLocks noChangeArrowheads="1"/>
            </p:cNvSpPr>
            <p:nvPr/>
          </p:nvSpPr>
          <p:spPr bwMode="auto">
            <a:xfrm>
              <a:off x="4608" y="1728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99CC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2" name="Freeform 70"/>
            <p:cNvSpPr>
              <a:spLocks noChangeArrowheads="1"/>
            </p:cNvSpPr>
            <p:nvPr/>
          </p:nvSpPr>
          <p:spPr bwMode="auto">
            <a:xfrm>
              <a:off x="4512" y="1783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00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3" name="Freeform 71"/>
            <p:cNvSpPr>
              <a:spLocks noChangeArrowheads="1"/>
            </p:cNvSpPr>
            <p:nvPr/>
          </p:nvSpPr>
          <p:spPr bwMode="auto">
            <a:xfrm>
              <a:off x="4439" y="1824"/>
              <a:ext cx="361" cy="446"/>
            </a:xfrm>
            <a:custGeom>
              <a:avLst/>
              <a:gdLst/>
              <a:ahLst/>
              <a:cxnLst>
                <a:cxn ang="0">
                  <a:pos x="455" y="564"/>
                </a:cxn>
                <a:cxn ang="0">
                  <a:pos x="455" y="274"/>
                </a:cxn>
                <a:cxn ang="0">
                  <a:pos x="0" y="0"/>
                </a:cxn>
                <a:cxn ang="0">
                  <a:pos x="0" y="362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  <a:cxn ang="0">
                  <a:pos x="455" y="564"/>
                </a:cxn>
                <a:cxn ang="0">
                  <a:pos x="0" y="362"/>
                </a:cxn>
              </a:cxnLst>
              <a:rect l="0" t="0" r="r" b="b"/>
              <a:pathLst>
                <a:path w="455" h="564">
                  <a:moveTo>
                    <a:pt x="455" y="564"/>
                  </a:moveTo>
                  <a:lnTo>
                    <a:pt x="455" y="274"/>
                  </a:lnTo>
                  <a:lnTo>
                    <a:pt x="0" y="0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lnTo>
                    <a:pt x="455" y="564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4C4CD2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4" name="Freeform 72"/>
            <p:cNvSpPr>
              <a:spLocks noChangeArrowheads="1"/>
            </p:cNvSpPr>
            <p:nvPr/>
          </p:nvSpPr>
          <p:spPr bwMode="auto">
            <a:xfrm>
              <a:off x="4320" y="1857"/>
              <a:ext cx="361" cy="447"/>
            </a:xfrm>
            <a:custGeom>
              <a:avLst/>
              <a:gdLst/>
              <a:ahLst/>
              <a:cxnLst>
                <a:cxn ang="0">
                  <a:pos x="455" y="565"/>
                </a:cxn>
                <a:cxn ang="0">
                  <a:pos x="455" y="276"/>
                </a:cxn>
                <a:cxn ang="0">
                  <a:pos x="0" y="0"/>
                </a:cxn>
                <a:cxn ang="0">
                  <a:pos x="0" y="364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  <a:cxn ang="0">
                  <a:pos x="455" y="565"/>
                </a:cxn>
                <a:cxn ang="0">
                  <a:pos x="0" y="364"/>
                </a:cxn>
              </a:cxnLst>
              <a:rect l="0" t="0" r="r" b="b"/>
              <a:pathLst>
                <a:path w="455" h="565">
                  <a:moveTo>
                    <a:pt x="455" y="565"/>
                  </a:moveTo>
                  <a:lnTo>
                    <a:pt x="455" y="276"/>
                  </a:lnTo>
                  <a:lnTo>
                    <a:pt x="0" y="0"/>
                  </a:lnTo>
                  <a:lnTo>
                    <a:pt x="0" y="364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lnTo>
                    <a:pt x="455" y="565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969696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5" name="Freeform 73"/>
            <p:cNvSpPr>
              <a:spLocks noChangeArrowheads="1"/>
            </p:cNvSpPr>
            <p:nvPr/>
          </p:nvSpPr>
          <p:spPr bwMode="auto">
            <a:xfrm>
              <a:off x="4246" y="1906"/>
              <a:ext cx="362" cy="448"/>
            </a:xfrm>
            <a:custGeom>
              <a:avLst/>
              <a:gdLst/>
              <a:ahLst/>
              <a:cxnLst>
                <a:cxn ang="0">
                  <a:pos x="456" y="565"/>
                </a:cxn>
                <a:cxn ang="0">
                  <a:pos x="456" y="274"/>
                </a:cxn>
                <a:cxn ang="0">
                  <a:pos x="0" y="0"/>
                </a:cxn>
                <a:cxn ang="0">
                  <a:pos x="0" y="363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  <a:cxn ang="0">
                  <a:pos x="456" y="565"/>
                </a:cxn>
                <a:cxn ang="0">
                  <a:pos x="0" y="363"/>
                </a:cxn>
              </a:cxnLst>
              <a:rect l="0" t="0" r="r" b="b"/>
              <a:pathLst>
                <a:path w="456" h="565">
                  <a:moveTo>
                    <a:pt x="456" y="565"/>
                  </a:moveTo>
                  <a:lnTo>
                    <a:pt x="456" y="274"/>
                  </a:lnTo>
                  <a:lnTo>
                    <a:pt x="0" y="0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lnTo>
                    <a:pt x="456" y="565"/>
                  </a:lnTo>
                  <a:lnTo>
                    <a:pt x="0" y="363"/>
                  </a:lnTo>
                  <a:close/>
                </a:path>
              </a:pathLst>
            </a:custGeom>
            <a:solidFill>
              <a:schemeClr val="tx1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6" name="Freeform 74"/>
            <p:cNvSpPr>
              <a:spLocks noChangeArrowheads="1"/>
            </p:cNvSpPr>
            <p:nvPr/>
          </p:nvSpPr>
          <p:spPr bwMode="auto">
            <a:xfrm>
              <a:off x="4156" y="1942"/>
              <a:ext cx="353" cy="458"/>
            </a:xfrm>
            <a:custGeom>
              <a:avLst/>
              <a:gdLst/>
              <a:ahLst/>
              <a:cxnLst>
                <a:cxn ang="0">
                  <a:pos x="442" y="577"/>
                </a:cxn>
                <a:cxn ang="0">
                  <a:pos x="445" y="272"/>
                </a:cxn>
                <a:cxn ang="0">
                  <a:pos x="3" y="0"/>
                </a:cxn>
                <a:cxn ang="0">
                  <a:pos x="0" y="34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  <a:cxn ang="0">
                  <a:pos x="442" y="577"/>
                </a:cxn>
                <a:cxn ang="0">
                  <a:pos x="0" y="347"/>
                </a:cxn>
              </a:cxnLst>
              <a:rect l="0" t="0" r="r" b="b"/>
              <a:pathLst>
                <a:path w="445" h="577">
                  <a:moveTo>
                    <a:pt x="442" y="577"/>
                  </a:moveTo>
                  <a:lnTo>
                    <a:pt x="445" y="272"/>
                  </a:lnTo>
                  <a:lnTo>
                    <a:pt x="3" y="0"/>
                  </a:lnTo>
                  <a:lnTo>
                    <a:pt x="0" y="34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lnTo>
                    <a:pt x="442" y="577"/>
                  </a:lnTo>
                  <a:lnTo>
                    <a:pt x="0" y="347"/>
                  </a:lnTo>
                  <a:close/>
                </a:path>
              </a:pathLst>
            </a:custGeom>
            <a:solidFill>
              <a:srgbClr val="FFFF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7" name="Freeform 75"/>
            <p:cNvSpPr>
              <a:spLocks noChangeArrowheads="1"/>
            </p:cNvSpPr>
            <p:nvPr/>
          </p:nvSpPr>
          <p:spPr bwMode="auto">
            <a:xfrm>
              <a:off x="4045" y="1995"/>
              <a:ext cx="358" cy="489"/>
            </a:xfrm>
            <a:custGeom>
              <a:avLst/>
              <a:gdLst/>
              <a:ahLst/>
              <a:cxnLst>
                <a:cxn ang="0">
                  <a:pos x="452" y="617"/>
                </a:cxn>
                <a:cxn ang="0">
                  <a:pos x="452" y="284"/>
                </a:cxn>
                <a:cxn ang="0">
                  <a:pos x="0" y="0"/>
                </a:cxn>
                <a:cxn ang="0">
                  <a:pos x="2" y="386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  <a:cxn ang="0">
                  <a:pos x="452" y="617"/>
                </a:cxn>
                <a:cxn ang="0">
                  <a:pos x="2" y="386"/>
                </a:cxn>
              </a:cxnLst>
              <a:rect l="0" t="0" r="r" b="b"/>
              <a:pathLst>
                <a:path w="452" h="617">
                  <a:moveTo>
                    <a:pt x="452" y="617"/>
                  </a:moveTo>
                  <a:lnTo>
                    <a:pt x="452" y="284"/>
                  </a:lnTo>
                  <a:lnTo>
                    <a:pt x="0" y="0"/>
                  </a:lnTo>
                  <a:lnTo>
                    <a:pt x="2" y="386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lnTo>
                    <a:pt x="452" y="617"/>
                  </a:lnTo>
                  <a:lnTo>
                    <a:pt x="2" y="386"/>
                  </a:lnTo>
                  <a:close/>
                </a:path>
              </a:pathLst>
            </a:custGeom>
            <a:solidFill>
              <a:srgbClr val="0000FF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8" name="Freeform 76"/>
            <p:cNvSpPr>
              <a:spLocks noChangeArrowheads="1"/>
            </p:cNvSpPr>
            <p:nvPr/>
          </p:nvSpPr>
          <p:spPr bwMode="auto">
            <a:xfrm>
              <a:off x="4035" y="2082"/>
              <a:ext cx="360" cy="510"/>
            </a:xfrm>
            <a:custGeom>
              <a:avLst/>
              <a:gdLst/>
              <a:ahLst/>
              <a:cxnLst>
                <a:cxn ang="0">
                  <a:pos x="0" y="350"/>
                </a:cxn>
                <a:cxn ang="0">
                  <a:pos x="455" y="644"/>
                </a:cxn>
                <a:cxn ang="0">
                  <a:pos x="455" y="288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350"/>
                </a:cxn>
                <a:cxn ang="0">
                  <a:pos x="0" y="52"/>
                </a:cxn>
                <a:cxn ang="0">
                  <a:pos x="0" y="350"/>
                </a:cxn>
                <a:cxn ang="0">
                  <a:pos x="0" y="52"/>
                </a:cxn>
              </a:cxnLst>
              <a:rect l="0" t="0" r="r" b="b"/>
              <a:pathLst>
                <a:path w="455" h="644">
                  <a:moveTo>
                    <a:pt x="0" y="350"/>
                  </a:moveTo>
                  <a:lnTo>
                    <a:pt x="455" y="644"/>
                  </a:lnTo>
                  <a:lnTo>
                    <a:pt x="455" y="288"/>
                  </a:lnTo>
                  <a:lnTo>
                    <a:pt x="0" y="0"/>
                  </a:lnTo>
                  <a:lnTo>
                    <a:pt x="0" y="8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350"/>
                  </a:lnTo>
                  <a:lnTo>
                    <a:pt x="0" y="52"/>
                  </a:lnTo>
                  <a:lnTo>
                    <a:pt x="0" y="35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CE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  <p:sp>
          <p:nvSpPr>
            <p:cNvPr id="109" name="Freeform 77"/>
            <p:cNvSpPr>
              <a:spLocks noChangeArrowheads="1"/>
            </p:cNvSpPr>
            <p:nvPr/>
          </p:nvSpPr>
          <p:spPr bwMode="auto">
            <a:xfrm>
              <a:off x="4390" y="1903"/>
              <a:ext cx="890" cy="684"/>
            </a:xfrm>
            <a:custGeom>
              <a:avLst/>
              <a:gdLst/>
              <a:ahLst/>
              <a:cxnLst>
                <a:cxn ang="0">
                  <a:pos x="0" y="862"/>
                </a:cxn>
                <a:cxn ang="0">
                  <a:pos x="0" y="515"/>
                </a:cxn>
                <a:cxn ang="0">
                  <a:pos x="1124" y="0"/>
                </a:cxn>
                <a:cxn ang="0">
                  <a:pos x="1124" y="330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  <a:cxn ang="0">
                  <a:pos x="0" y="862"/>
                </a:cxn>
                <a:cxn ang="0">
                  <a:pos x="1124" y="330"/>
                </a:cxn>
              </a:cxnLst>
              <a:rect l="0" t="0" r="r" b="b"/>
              <a:pathLst>
                <a:path w="1124" h="862">
                  <a:moveTo>
                    <a:pt x="0" y="862"/>
                  </a:moveTo>
                  <a:lnTo>
                    <a:pt x="0" y="515"/>
                  </a:lnTo>
                  <a:lnTo>
                    <a:pt x="1124" y="0"/>
                  </a:lnTo>
                  <a:lnTo>
                    <a:pt x="1124" y="330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lnTo>
                    <a:pt x="0" y="862"/>
                  </a:lnTo>
                  <a:lnTo>
                    <a:pt x="1124" y="330"/>
                  </a:lnTo>
                  <a:close/>
                </a:path>
              </a:pathLst>
            </a:custGeom>
            <a:solidFill>
              <a:srgbClr val="00CE00"/>
            </a:solidFill>
            <a:ln w="158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 sz="10000"/>
            </a:p>
          </p:txBody>
        </p:sp>
      </p:grpSp>
      <p:sp>
        <p:nvSpPr>
          <p:cNvPr id="110" name="Rectangle 78"/>
          <p:cNvSpPr>
            <a:spLocks noChangeArrowheads="1"/>
          </p:cNvSpPr>
          <p:nvPr/>
        </p:nvSpPr>
        <p:spPr bwMode="auto">
          <a:xfrm>
            <a:off x="11862646" y="5278043"/>
            <a:ext cx="16430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825626"/>
            <a:r>
              <a:rPr lang="en-US" sz="3600" dirty="0"/>
              <a:t>  Queues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1" name="Freeform 79"/>
          <p:cNvSpPr>
            <a:spLocks/>
          </p:cNvSpPr>
          <p:nvPr/>
        </p:nvSpPr>
        <p:spPr bwMode="auto">
          <a:xfrm>
            <a:off x="18940371" y="5992420"/>
            <a:ext cx="561974" cy="371474"/>
          </a:xfrm>
          <a:custGeom>
            <a:avLst/>
            <a:gdLst/>
            <a:ahLst/>
            <a:cxnLst>
              <a:cxn ang="0">
                <a:pos x="89" y="11"/>
              </a:cxn>
              <a:cxn ang="0">
                <a:pos x="27" y="144"/>
              </a:cxn>
              <a:cxn ang="0">
                <a:pos x="0" y="0"/>
              </a:cxn>
              <a:cxn ang="0">
                <a:pos x="89" y="11"/>
              </a:cxn>
            </a:cxnLst>
            <a:rect l="0" t="0" r="r" b="b"/>
            <a:pathLst>
              <a:path w="89" h="144">
                <a:moveTo>
                  <a:pt x="89" y="11"/>
                </a:moveTo>
                <a:lnTo>
                  <a:pt x="27" y="144"/>
                </a:lnTo>
                <a:lnTo>
                  <a:pt x="0" y="0"/>
                </a:lnTo>
                <a:lnTo>
                  <a:pt x="8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0000"/>
          </a:p>
        </p:txBody>
      </p:sp>
      <p:sp>
        <p:nvSpPr>
          <p:cNvPr id="112" name="Freeform 80"/>
          <p:cNvSpPr>
            <a:spLocks/>
          </p:cNvSpPr>
          <p:nvPr/>
        </p:nvSpPr>
        <p:spPr bwMode="auto">
          <a:xfrm>
            <a:off x="17702121" y="7294170"/>
            <a:ext cx="1870074" cy="958850"/>
          </a:xfrm>
          <a:custGeom>
            <a:avLst/>
            <a:gdLst/>
            <a:ahLst/>
            <a:cxnLst>
              <a:cxn ang="0">
                <a:pos x="0" y="597"/>
              </a:cxn>
              <a:cxn ang="0">
                <a:pos x="33" y="498"/>
              </a:cxn>
              <a:cxn ang="0">
                <a:pos x="83" y="400"/>
              </a:cxn>
              <a:cxn ang="0">
                <a:pos x="156" y="313"/>
              </a:cxn>
              <a:cxn ang="0">
                <a:pos x="239" y="232"/>
              </a:cxn>
              <a:cxn ang="0">
                <a:pos x="339" y="156"/>
              </a:cxn>
              <a:cxn ang="0">
                <a:pos x="455" y="98"/>
              </a:cxn>
              <a:cxn ang="0">
                <a:pos x="577" y="52"/>
              </a:cxn>
              <a:cxn ang="0">
                <a:pos x="711" y="17"/>
              </a:cxn>
              <a:cxn ang="0">
                <a:pos x="844" y="0"/>
              </a:cxn>
            </a:cxnLst>
            <a:rect l="0" t="0" r="r" b="b"/>
            <a:pathLst>
              <a:path w="844" h="597">
                <a:moveTo>
                  <a:pt x="0" y="597"/>
                </a:moveTo>
                <a:lnTo>
                  <a:pt x="33" y="498"/>
                </a:lnTo>
                <a:lnTo>
                  <a:pt x="83" y="400"/>
                </a:lnTo>
                <a:lnTo>
                  <a:pt x="156" y="313"/>
                </a:lnTo>
                <a:lnTo>
                  <a:pt x="239" y="232"/>
                </a:lnTo>
                <a:lnTo>
                  <a:pt x="339" y="156"/>
                </a:lnTo>
                <a:lnTo>
                  <a:pt x="455" y="98"/>
                </a:lnTo>
                <a:lnTo>
                  <a:pt x="577" y="52"/>
                </a:lnTo>
                <a:lnTo>
                  <a:pt x="711" y="17"/>
                </a:lnTo>
                <a:lnTo>
                  <a:pt x="844" y="0"/>
                </a:lnTo>
              </a:path>
            </a:pathLst>
          </a:custGeom>
          <a:noFill/>
          <a:ln w="34925">
            <a:solidFill>
              <a:srgbClr val="000000"/>
            </a:solidFill>
            <a:prstDash val="solid"/>
            <a:round/>
            <a:headEnd type="triangle" w="lg" len="lg"/>
            <a:tailEnd type="triangle" w="lg" len="lg"/>
          </a:ln>
        </p:spPr>
        <p:txBody>
          <a:bodyPr/>
          <a:lstStyle/>
          <a:p>
            <a:endParaRPr lang="en-US" sz="10000"/>
          </a:p>
        </p:txBody>
      </p:sp>
      <p:sp>
        <p:nvSpPr>
          <p:cNvPr id="113" name="Rectangle 82"/>
          <p:cNvSpPr>
            <a:spLocks noChangeArrowheads="1"/>
          </p:cNvSpPr>
          <p:nvPr/>
        </p:nvSpPr>
        <p:spPr bwMode="auto">
          <a:xfrm>
            <a:off x="19572195" y="6862370"/>
            <a:ext cx="1441450" cy="129857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828800"/>
            <a:endParaRPr lang="pt-BR" sz="2800"/>
          </a:p>
        </p:txBody>
      </p:sp>
      <p:sp>
        <p:nvSpPr>
          <p:cNvPr id="114" name="Text Box 83"/>
          <p:cNvSpPr txBox="1">
            <a:spLocks noChangeArrowheads="1"/>
          </p:cNvSpPr>
          <p:nvPr/>
        </p:nvSpPr>
        <p:spPr bwMode="auto">
          <a:xfrm>
            <a:off x="21031574" y="6862370"/>
            <a:ext cx="3600450" cy="2062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SAP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People Soft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CICS</a:t>
            </a:r>
          </a:p>
          <a:p>
            <a:pPr algn="l" defTabSz="1828800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 HTTP/REST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796814" y="9343205"/>
            <a:ext cx="273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MQ / HTTP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FILE /  TCP/IP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6427695" y="8414945"/>
            <a:ext cx="2025650" cy="1104900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91440" rIns="182880" bIns="91440" numCol="1" rtlCol="0" anchor="ctr" anchorCtr="0" compatLnSpc="1">
            <a:prstTxWarp prst="textNoShape">
              <a:avLst/>
            </a:prstTxWarp>
          </a:bodyPr>
          <a:lstStyle/>
          <a:p>
            <a:pPr defTabSz="1857376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r>
              <a:rPr lang="en-US" sz="3000" b="1" dirty="0">
                <a:solidFill>
                  <a:schemeClr val="tx1"/>
                </a:solidFill>
                <a:latin typeface="Arial" charset="0"/>
                <a:cs typeface="Arial" charset="0"/>
              </a:rPr>
              <a:t>App Client</a:t>
            </a:r>
          </a:p>
        </p:txBody>
      </p:sp>
      <p:cxnSp>
        <p:nvCxnSpPr>
          <p:cNvPr id="117" name="Straight Arrow Connector 116"/>
          <p:cNvCxnSpPr/>
          <p:nvPr/>
        </p:nvCxnSpPr>
        <p:spPr bwMode="auto">
          <a:xfrm rot="16200000" flipH="1">
            <a:off x="8453345" y="9519844"/>
            <a:ext cx="1657350" cy="1657350"/>
          </a:xfrm>
          <a:prstGeom prst="straightConnector1">
            <a:avLst/>
          </a:prstGeom>
          <a:solidFill>
            <a:srgbClr val="EAEAEA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Uma sequência de passos de processamento para transformar / rotear mensagens assim que elas entram no ACE</a:t>
            </a:r>
          </a:p>
          <a:p>
            <a:r>
              <a:rPr lang="pt-BR" altLang="pt-BR" sz="3600" dirty="0"/>
              <a:t>Criadas usando funções predefinidas (“nodes”) em um palette que podem ser conectadas para formar um “fluxo de mensagens”</a:t>
            </a:r>
          </a:p>
          <a:p>
            <a:r>
              <a:rPr lang="pt-BR" altLang="pt-BR" sz="3600" dirty="0"/>
              <a:t>Fluxos podem ser transacionais ou não</a:t>
            </a:r>
          </a:p>
          <a:p>
            <a:r>
              <a:rPr lang="pt-BR" altLang="pt-BR" sz="3600" dirty="0"/>
              <a:t>Fluxos podem ser reutilizáveis  </a:t>
            </a:r>
            <a:br>
              <a:rPr lang="pt-BR" altLang="pt-BR" sz="3600" dirty="0"/>
            </a:br>
            <a:r>
              <a:rPr lang="pt-BR" altLang="pt-BR" sz="3600" dirty="0"/>
              <a:t>(também como subfluxos)</a:t>
            </a:r>
          </a:p>
          <a:p>
            <a:r>
              <a:rPr lang="pt-BR" altLang="pt-BR" sz="3600" dirty="0"/>
              <a:t>Fluxos são construídos em uma interface </a:t>
            </a:r>
            <a:br>
              <a:rPr lang="pt-BR" altLang="pt-BR" sz="3600" dirty="0"/>
            </a:br>
            <a:r>
              <a:rPr lang="pt-BR" altLang="pt-BR" sz="3600" dirty="0"/>
              <a:t>amigável e fácil de usar</a:t>
            </a:r>
          </a:p>
          <a:p>
            <a:endParaRPr lang="pt-BR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FEA49C39-61A3-4C9A-8152-EF5FAEE82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9640" y="3243303"/>
            <a:ext cx="19616862" cy="3165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153770D8-AC7C-4839-93DA-E091FBB49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5099" y="5898963"/>
            <a:ext cx="11068277" cy="288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9E15A104-2868-4DAB-BECE-54C9A24EC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35099" y="8694047"/>
            <a:ext cx="19175411" cy="245961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1D8DB7BF-475E-1DA4-F828-F47F6916FEF8}"/>
              </a:ext>
            </a:extLst>
          </p:cNvPr>
          <p:cNvSpPr txBox="1">
            <a:spLocks/>
          </p:cNvSpPr>
          <p:nvPr/>
        </p:nvSpPr>
        <p:spPr>
          <a:xfrm>
            <a:off x="788894" y="479238"/>
            <a:ext cx="21156706" cy="226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Fluxo de mensagens e código fonte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F26F0-E705-D6FC-4D35-E0A8DB2933B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4F32A2-6A63-9965-2C45-E70F70287336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CD3061-DC00-0254-8CD0-3F7C87324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DF140-EDB1-F16F-5851-7932D8717BCD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C369C1-1E06-C896-8FDC-7A81F71E5E28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E6413A-5C52-F3DA-0BAD-85EEF2FD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C016C2-0FC7-0898-D635-850FFA003623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7E6C2E-18F1-1B4D-1C95-B3386B0A25D7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63931-88F3-1F36-B026-A564845A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60825D-2A02-198F-CB90-14B91E7778DF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E2906-0E24-4836-2E67-B4C7CE7017A9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64E31D-79B4-912F-CD57-AFB2B782252F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77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B837-99CC-45AC-927B-946721E2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54F7-4FB1-4676-B46A-84CF37A4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264901"/>
            <a:ext cx="22788282" cy="1008902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importante conceito no ACE é a </a:t>
            </a:r>
            <a:r>
              <a:rPr lang="pt-BR" b="1" dirty="0"/>
              <a:t>Árvore de Mensagem</a:t>
            </a:r>
            <a:r>
              <a:rPr lang="pt-BR" dirty="0"/>
              <a:t>. </a:t>
            </a:r>
          </a:p>
          <a:p>
            <a:r>
              <a:rPr lang="pt-BR" dirty="0"/>
              <a:t>Ávore de mensagem é a representação lógica da estrtutura física (bitstream) da mensagem. </a:t>
            </a:r>
          </a:p>
          <a:p>
            <a:r>
              <a:rPr lang="pt-BR" dirty="0"/>
              <a:t>A árvore de mensagem possui as principais estruturas:</a:t>
            </a:r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A representação da árvore de mensagens contém um nó raiz chamado </a:t>
            </a:r>
            <a:r>
              <a:rPr lang="pt-BR" b="1" dirty="0">
                <a:solidFill>
                  <a:srgbClr val="0070C0"/>
                </a:solidFill>
              </a:rPr>
              <a:t>Root</a:t>
            </a:r>
            <a:r>
              <a:rPr lang="pt-BR" dirty="0"/>
              <a:t>, que é o primeiro nó da mensagem. </a:t>
            </a:r>
          </a:p>
          <a:p>
            <a:pPr lvl="1"/>
            <a:r>
              <a:rPr lang="pt-BR" dirty="0"/>
              <a:t>Informações do fluxo sobre chamado </a:t>
            </a:r>
            <a:r>
              <a:rPr lang="pt-BR" b="1" dirty="0" err="1">
                <a:solidFill>
                  <a:srgbClr val="0070C0"/>
                </a:solidFill>
              </a:rPr>
              <a:t>Environment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dirty="0"/>
              <a:t>que um fluxo pode gravar/acessar</a:t>
            </a:r>
          </a:p>
          <a:p>
            <a:pPr lvl="1"/>
            <a:r>
              <a:rPr lang="pt-BR" dirty="0"/>
              <a:t>Informações passadas entre nós no fluxo chamado </a:t>
            </a:r>
            <a:r>
              <a:rPr lang="pt-BR" b="1" dirty="0" err="1">
                <a:solidFill>
                  <a:srgbClr val="0070C0"/>
                </a:solidFill>
              </a:rPr>
              <a:t>LocalEnvironment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dirty="0"/>
              <a:t>que um fluxo pode gravar/acessar</a:t>
            </a:r>
          </a:p>
          <a:p>
            <a:pPr lvl="1"/>
            <a:r>
              <a:rPr lang="pt-BR" dirty="0"/>
              <a:t>Informações caso ocorra algum erro no processamento da mensagem, chamada </a:t>
            </a:r>
            <a:r>
              <a:rPr lang="pt-BR" b="1" dirty="0" err="1">
                <a:solidFill>
                  <a:srgbClr val="0070C0"/>
                </a:solidFill>
              </a:rPr>
              <a:t>ExceptionList</a:t>
            </a:r>
            <a:r>
              <a:rPr lang="pt-BR" dirty="0"/>
              <a:t>. </a:t>
            </a:r>
          </a:p>
          <a:p>
            <a:pPr lvl="1"/>
            <a:endParaRPr lang="pt-B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58CBD1-AB80-E656-6DCB-7C7375A76BD2}"/>
              </a:ext>
            </a:extLst>
          </p:cNvPr>
          <p:cNvGrpSpPr/>
          <p:nvPr/>
        </p:nvGrpSpPr>
        <p:grpSpPr>
          <a:xfrm>
            <a:off x="1237129" y="5434106"/>
            <a:ext cx="22196612" cy="1657982"/>
            <a:chOff x="1075765" y="2312893"/>
            <a:chExt cx="11761693" cy="8785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6FD5B9-F97D-8CBC-D99B-0A9B05E593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7346" r="59178" b="82143"/>
            <a:stretch/>
          </p:blipFill>
          <p:spPr>
            <a:xfrm>
              <a:off x="1075765" y="2420470"/>
              <a:ext cx="2725270" cy="770965"/>
            </a:xfrm>
            <a:prstGeom prst="rect">
              <a:avLst/>
            </a:prstGeom>
            <a:effectLst/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F407FE-9FAD-EC66-F964-F72AFDEEBB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32284" r="59178" b="57205"/>
            <a:stretch/>
          </p:blipFill>
          <p:spPr>
            <a:xfrm>
              <a:off x="4087906" y="2420470"/>
              <a:ext cx="2725270" cy="770966"/>
            </a:xfrm>
            <a:prstGeom prst="rect">
              <a:avLst/>
            </a:prstGeom>
            <a:effectLst/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88572F-AD05-61E3-5628-619A43384E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55261" r="59178" b="34228"/>
            <a:stretch/>
          </p:blipFill>
          <p:spPr>
            <a:xfrm>
              <a:off x="7100047" y="2420470"/>
              <a:ext cx="2725270" cy="770966"/>
            </a:xfrm>
            <a:prstGeom prst="rect">
              <a:avLst/>
            </a:prstGeom>
            <a:effectLst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65411A-FD61-9065-5209-312D532125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272" t="77751" r="59178" b="10515"/>
            <a:stretch/>
          </p:blipFill>
          <p:spPr>
            <a:xfrm>
              <a:off x="10112188" y="2312893"/>
              <a:ext cx="2725270" cy="860612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5154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2F9E-54DD-4038-992A-2C7BAB24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Acessando a árvore de mensagens.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F1B7-4BA0-44F1-900B-17FC3EDC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Qualquer parte da estrutura da árvore de mensagens é acessível pelos nodes de processamento do message flow, o que permite ao desenvolvedor implementar decisões baseadas no contexto do ambiente de execução e outros fatores.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Como a mensagem é estruturada no formato de árvore, é conveniente usar expressões </a:t>
            </a:r>
            <a:r>
              <a:rPr lang="pt-BR" b="1" dirty="0">
                <a:solidFill>
                  <a:srgbClr val="0070C0"/>
                </a:solidFill>
              </a:rPr>
              <a:t>XPath</a:t>
            </a:r>
            <a:r>
              <a:rPr lang="pt-BR" dirty="0"/>
              <a:t> para navegar ou modificar a mensagem.</a:t>
            </a:r>
          </a:p>
          <a:p>
            <a:pPr lvl="1"/>
            <a:r>
              <a:rPr lang="pt-BR" dirty="0"/>
              <a:t>NOTA: Não são todos os nodes de processamento que suportam expressões XPath. Os principais nodes usados em expressões XPath são: Java Compute node, Route node e Map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6966D-E885-4427-81D5-19A14E429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202" y="5377556"/>
            <a:ext cx="11191596" cy="32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7C40-8110-478A-A182-82EE5E94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Parsing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0D3A-CBA2-453A-B1FD-DE4EF748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1694588" cy="9359714"/>
          </a:xfrm>
        </p:spPr>
        <p:txBody>
          <a:bodyPr>
            <a:normAutofit/>
          </a:bodyPr>
          <a:lstStyle/>
          <a:p>
            <a:r>
              <a:rPr lang="pt-BR" sz="4800" dirty="0"/>
              <a:t>É comum o cenário onde o fluxo recebe mensagens em um determinado formato, transforma esse formato, faz chamadas a um backend (exemplo: sistema legado), passando o formato esperado pelo backend. </a:t>
            </a:r>
          </a:p>
          <a:p>
            <a:r>
              <a:rPr lang="pt-BR" sz="4800" dirty="0"/>
              <a:t>Como mencionado antes, os message flows recebem mensagens em formato físico de bitstream. Quando a mensagem passa pelo </a:t>
            </a:r>
            <a:r>
              <a:rPr lang="pt-BR" sz="4800" b="1" dirty="0">
                <a:solidFill>
                  <a:srgbClr val="0070C0"/>
                </a:solidFill>
              </a:rPr>
              <a:t>input node </a:t>
            </a:r>
            <a:r>
              <a:rPr lang="pt-BR" sz="4800" dirty="0"/>
              <a:t>do messagem flow, o </a:t>
            </a:r>
            <a:r>
              <a:rPr lang="pt-BR" sz="4800" b="1" dirty="0">
                <a:solidFill>
                  <a:srgbClr val="0070C0"/>
                </a:solidFill>
              </a:rPr>
              <a:t>input node lê e converte a mensagem em um formato lógico de árvore de mensagens</a:t>
            </a:r>
            <a:r>
              <a:rPr lang="pt-BR" sz="4800" dirty="0"/>
              <a:t>.</a:t>
            </a:r>
          </a:p>
          <a:p>
            <a:r>
              <a:rPr lang="pt-BR" sz="4800" dirty="0"/>
              <a:t>Essa operação (transformar bitstream em formato lógico) é chamado </a:t>
            </a:r>
            <a:r>
              <a:rPr lang="pt-BR" sz="4800" b="1" dirty="0">
                <a:solidFill>
                  <a:srgbClr val="0070C0"/>
                </a:solidFill>
              </a:rPr>
              <a:t>parsing</a:t>
            </a:r>
            <a:r>
              <a:rPr lang="pt-BR" sz="4800" dirty="0"/>
              <a:t>. </a:t>
            </a:r>
          </a:p>
          <a:p>
            <a:endParaRPr lang="pt-BR" sz="4800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5DEE7DC-32F2-348A-8241-F9EA477321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" t="11522" r="50884" b="57407"/>
          <a:stretch/>
        </p:blipFill>
        <p:spPr>
          <a:xfrm>
            <a:off x="5040854" y="9116583"/>
            <a:ext cx="12245788" cy="43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3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7C40-8110-478A-A182-82EE5E94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0D3A-CBA2-453A-B1FD-DE4EF748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10685930" cy="9359714"/>
          </a:xfrm>
        </p:spPr>
        <p:txBody>
          <a:bodyPr>
            <a:normAutofit/>
          </a:bodyPr>
          <a:lstStyle/>
          <a:p>
            <a:r>
              <a:rPr lang="pt-BR" dirty="0"/>
              <a:t>Por exemplo, uma mensagem exposta como fila MQ, ao ser chamada recebe um bitstream, então o </a:t>
            </a:r>
            <a:r>
              <a:rPr lang="pt-BR" b="1" dirty="0">
                <a:solidFill>
                  <a:srgbClr val="0070C0"/>
                </a:solidFill>
              </a:rPr>
              <a:t>MQInput</a:t>
            </a:r>
            <a:r>
              <a:rPr lang="pt-BR" dirty="0"/>
              <a:t> node pode transformar esse bitstream para um formato lógico, como um XML.</a:t>
            </a:r>
          </a:p>
          <a:p>
            <a:r>
              <a:rPr lang="pt-BR" dirty="0"/>
              <a:t>Após realizar o parsing, o node monta a árvore de mensagens através de serialização.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51717-2023-4C6E-8F38-7FFCC9DF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627" y="2980318"/>
            <a:ext cx="11924730" cy="77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52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Parser x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EA7419-76A0-4338-21DB-7BEBFBF4053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848194-67D0-AF40-43A4-921F85EF2C1E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BCC9EA-F7C2-9192-9A85-E5AD49E90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065239-FADF-7BFA-F5FB-51C3755C8C2B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F62E10-A6F8-9CC8-A7DE-AA7C8D549A94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731DA1-1BB4-0C79-EEAC-E10A13C5F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D297A1-44C1-495B-579A-CDA99030324B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BDA85D-2B69-83A5-F9C1-02F66731A964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9E977C-CD25-475B-6B36-98D7D4A6C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A48451-1E9B-48BC-772C-29F4C78752D3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84A100-D64E-2F93-696D-63F1775E8266}"/>
              </a:ext>
            </a:extLst>
          </p:cNvPr>
          <p:cNvGrpSpPr/>
          <p:nvPr/>
        </p:nvGrpSpPr>
        <p:grpSpPr>
          <a:xfrm>
            <a:off x="1097305" y="11205974"/>
            <a:ext cx="22651933" cy="2433826"/>
            <a:chOff x="1097305" y="11205974"/>
            <a:chExt cx="22651933" cy="24338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4E260-3FA3-F004-5E07-57B09B09F14C}"/>
                </a:ext>
              </a:extLst>
            </p:cNvPr>
            <p:cNvSpPr/>
            <p:nvPr/>
          </p:nvSpPr>
          <p:spPr>
            <a:xfrm>
              <a:off x="1097305" y="11205974"/>
              <a:ext cx="22651933" cy="24338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C0C0C0"/>
                  </a:highlight>
                </a:rPr>
                <a:t>Modelo Lógico</a:t>
              </a:r>
              <a:endPara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FC320D9-3E76-7610-6C8F-753D196FD068}"/>
                </a:ext>
              </a:extLst>
            </p:cNvPr>
            <p:cNvGrpSpPr/>
            <p:nvPr/>
          </p:nvGrpSpPr>
          <p:grpSpPr>
            <a:xfrm>
              <a:off x="1283832" y="11322693"/>
              <a:ext cx="21767001" cy="1815882"/>
              <a:chOff x="1283832" y="11322693"/>
              <a:chExt cx="21767001" cy="181588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DE5273-0112-484D-C603-C3BA1D6A0A23}"/>
                  </a:ext>
                </a:extLst>
              </p:cNvPr>
              <p:cNvSpPr txBox="1"/>
              <p:nvPr/>
            </p:nvSpPr>
            <p:spPr>
              <a:xfrm>
                <a:off x="1283832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BA0846-AC21-E63D-1FA1-3EFD05DF2BBB}"/>
                  </a:ext>
                </a:extLst>
              </p:cNvPr>
              <p:cNvSpPr txBox="1"/>
              <p:nvPr/>
            </p:nvSpPr>
            <p:spPr>
              <a:xfrm>
                <a:off x="8592309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66FB1-E668-E353-D328-5453B2AF43B5}"/>
                  </a:ext>
                </a:extLst>
              </p:cNvPr>
              <p:cNvSpPr txBox="1"/>
              <p:nvPr/>
            </p:nvSpPr>
            <p:spPr>
              <a:xfrm>
                <a:off x="16000862" y="11322693"/>
                <a:ext cx="7049971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{Parser}.ACE_Workshop.Grupo1.Campo1=</a:t>
                </a:r>
                <a:r>
                  <a:rPr lang="en-US" sz="2800" dirty="0">
                    <a:highlight>
                      <a:srgbClr val="FFFF00"/>
                    </a:highlight>
                  </a:rPr>
                  <a:t>AAA</a:t>
                </a:r>
                <a:r>
                  <a:rPr lang="en-US" sz="2800" dirty="0"/>
                  <a:t>        </a:t>
                </a:r>
              </a:p>
              <a:p>
                <a:pPr algn="just"/>
                <a:r>
                  <a:rPr lang="en-US" sz="2800" dirty="0"/>
                  <a:t>{Parser}.ACE_Workshop.Grupo1.Campo2</a:t>
                </a:r>
                <a:r>
                  <a:rPr lang="en-US" sz="2800" dirty="0">
                    <a:highlight>
                      <a:srgbClr val="00FF00"/>
                    </a:highlight>
                  </a:rPr>
                  <a:t>111</a:t>
                </a:r>
              </a:p>
              <a:p>
                <a:pPr algn="just"/>
                <a:r>
                  <a:rPr lang="en-US" sz="2800" dirty="0"/>
                  <a:t>{Parser}.ACE_Workshop.Campo3=</a:t>
                </a:r>
                <a:r>
                  <a:rPr lang="en-US" sz="2800" dirty="0">
                    <a:highlight>
                      <a:srgbClr val="00FFFF"/>
                    </a:highlight>
                  </a:rPr>
                  <a:t>BBB</a:t>
                </a:r>
                <a:endParaRPr lang="en-US" sz="2800" dirty="0"/>
              </a:p>
              <a:p>
                <a:pPr algn="just"/>
                <a:r>
                  <a:rPr lang="en-US" sz="2800" dirty="0"/>
                  <a:t>{Parser}.ACE_Workshop.Campo4=</a:t>
                </a:r>
                <a:r>
                  <a:rPr lang="en-US" sz="2800" dirty="0">
                    <a:highlight>
                      <a:srgbClr val="FF00FF"/>
                    </a:highlight>
                  </a:rPr>
                  <a:t>222</a:t>
                </a:r>
                <a:endParaRPr lang="en-US" sz="2800" dirty="0"/>
              </a:p>
            </p:txBody>
          </p:sp>
        </p:grp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2B0D5E-BEAA-AE23-DABB-60BCEC28100A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73A899-D534-D619-FC6C-3A516B82D192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529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B217-5D68-4CCE-B81C-63A8EE1A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 de mensagens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E4386-AB49-4C28-8113-944DECCE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modelo lógico de mensagens é um modo consistente e conveniente para representar diversos formatos de mensagem. </a:t>
            </a:r>
          </a:p>
          <a:p>
            <a:r>
              <a:rPr lang="pt-BR" dirty="0"/>
              <a:t>Como visto anteriormente, uma mensagem é processada pelo IBM Integration Bus em formato binário, o que torna quase impossivel para o desenvolvedor compreender o conteúdo da mensagem trafegada no message flow. </a:t>
            </a:r>
          </a:p>
          <a:p>
            <a:r>
              <a:rPr lang="pt-BR" dirty="0"/>
              <a:t>O ACE tem um recurso de parsing de mensagens, em que detalhes da mensagem física são representados em formato lógico (por exemplo, uma mensagem que internamente o ACE trata como bitstream, pode ser visualizada pelo desenvolvedor em formato XML ou JSon). </a:t>
            </a:r>
          </a:p>
          <a:p>
            <a:r>
              <a:rPr lang="pt-BR" dirty="0"/>
              <a:t>O resultado do processo de parsing é armazenado numa árvore de mensagens, estruturada em nível hierárquico (raiz fica no topo e níveis mais granulares mais abaixo. Dessa forma a mensagem é representada com os dados e seus relacionamentos.</a:t>
            </a:r>
          </a:p>
        </p:txBody>
      </p:sp>
    </p:spTree>
    <p:extLst>
      <p:ext uri="{BB962C8B-B14F-4D97-AF65-F5344CB8AC3E}">
        <p14:creationId xmlns:p14="http://schemas.microsoft.com/office/powerpoint/2010/main" val="367726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8" y="1258532"/>
            <a:ext cx="7010990" cy="3244642"/>
          </a:xfrm>
        </p:spPr>
        <p:txBody>
          <a:bodyPr>
            <a:normAutofit/>
          </a:bodyPr>
          <a:lstStyle/>
          <a:p>
            <a:r>
              <a:rPr lang="pt-BR" dirty="0"/>
              <a:t>Recebendo uma mensagem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4E8E-AA8D-42E7-8805-CBB6C2952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862" y="4876800"/>
            <a:ext cx="7010988" cy="7570838"/>
          </a:xfrm>
        </p:spPr>
        <p:txBody>
          <a:bodyPr>
            <a:normAutofit/>
          </a:bodyPr>
          <a:lstStyle/>
          <a:p>
            <a:r>
              <a:rPr lang="pt-BR" sz="4800" dirty="0"/>
              <a:t>Quando um node recebe uma mensagem, é criada uma estrutura com quatro níveis principais: </a:t>
            </a:r>
            <a:r>
              <a:rPr lang="pt-BR" sz="4800" b="1" dirty="0"/>
              <a:t>Root</a:t>
            </a:r>
            <a:r>
              <a:rPr lang="pt-BR" sz="4800" dirty="0"/>
              <a:t>, </a:t>
            </a:r>
            <a:r>
              <a:rPr lang="pt-BR" sz="4800" b="1" dirty="0"/>
              <a:t>Environment</a:t>
            </a:r>
            <a:r>
              <a:rPr lang="pt-BR" sz="4800" dirty="0"/>
              <a:t>, </a:t>
            </a:r>
            <a:r>
              <a:rPr lang="pt-BR" sz="4800" b="1" dirty="0"/>
              <a:t>LocalEnvironment </a:t>
            </a:r>
            <a:r>
              <a:rPr lang="pt-BR" sz="4800" dirty="0"/>
              <a:t>e </a:t>
            </a:r>
            <a:r>
              <a:rPr lang="pt-BR" sz="4800" b="1" dirty="0"/>
              <a:t>ExceptionList</a:t>
            </a:r>
            <a:r>
              <a:rPr lang="pt-BR" sz="4800" dirty="0"/>
              <a:t>. </a:t>
            </a:r>
          </a:p>
          <a:p>
            <a:pPr marL="0" indent="0">
              <a:buNone/>
            </a:pPr>
            <a:endParaRPr lang="pt-BR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29532-E222-40E8-912A-D18069872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33" y="3274625"/>
            <a:ext cx="12646445" cy="73349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2108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4E8E-AA8D-42E7-8805-CBB6C295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Ao realizar o processo de parsing e serialização (montagem da árvore), a estrutura </a:t>
            </a:r>
            <a:r>
              <a:rPr lang="pt-BR" b="1" dirty="0"/>
              <a:t>Root </a:t>
            </a:r>
            <a:r>
              <a:rPr lang="pt-BR" dirty="0"/>
              <a:t>é preenchida, e as demais estruturas inicialmente são criadas vazias. Em alguns casos essas estruturas vazias são preenchidas:</a:t>
            </a:r>
          </a:p>
          <a:p>
            <a:pPr lvl="1"/>
            <a:r>
              <a:rPr lang="pt-BR" dirty="0"/>
              <a:t>Por nodes alguns nodes que usam o </a:t>
            </a:r>
            <a:r>
              <a:rPr lang="pt-BR" b="1" dirty="0"/>
              <a:t>LocalEnvironment </a:t>
            </a:r>
            <a:r>
              <a:rPr lang="pt-BR" dirty="0"/>
              <a:t>(SoapRequest, HTTPRequest etc.) </a:t>
            </a:r>
          </a:p>
          <a:p>
            <a:pPr lvl="1"/>
            <a:r>
              <a:rPr lang="pt-BR" dirty="0"/>
              <a:t>Pelo integration node quando ocorre alguma exceção (</a:t>
            </a:r>
            <a:r>
              <a:rPr lang="pt-BR" b="1" dirty="0"/>
              <a:t>ExceptionList</a:t>
            </a:r>
            <a:r>
              <a:rPr lang="pt-BR" dirty="0"/>
              <a:t>) </a:t>
            </a:r>
          </a:p>
          <a:p>
            <a:pPr lvl="1"/>
            <a:r>
              <a:rPr lang="pt-BR" dirty="0"/>
              <a:t>Por instruções ESQL ou Java, em nodes Compute, JavaCompute, Filter ou Database (esses nodes podem acessar/alterar qualquer ponto da árvore de mensagens) </a:t>
            </a:r>
          </a:p>
          <a:p>
            <a:pPr lvl="1"/>
            <a:r>
              <a:rPr lang="pt-BR" dirty="0"/>
              <a:t>A estrutura </a:t>
            </a:r>
            <a:r>
              <a:rPr lang="pt-BR" b="1" dirty="0"/>
              <a:t>Root </a:t>
            </a:r>
            <a:r>
              <a:rPr lang="pt-BR" dirty="0"/>
              <a:t>e alguns pontos da estrutura </a:t>
            </a:r>
            <a:r>
              <a:rPr lang="pt-BR" b="1" dirty="0"/>
              <a:t>LocalEnvironment </a:t>
            </a:r>
            <a:r>
              <a:rPr lang="pt-BR" dirty="0"/>
              <a:t>podem ser alterados pelo node </a:t>
            </a:r>
            <a:r>
              <a:rPr lang="pt-BR" b="1" dirty="0"/>
              <a:t>Mapping</a:t>
            </a:r>
            <a:r>
              <a:rPr lang="pt-BR" dirty="0"/>
              <a:t>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148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82596-3640-F9BC-57D1-BE3F4481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711699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BLOB (Binária)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CD4E-1CEF-D500-28A8-34031162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697705-00A2-7174-A06D-35814D70775F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3BE268-E74C-9D68-84BE-FBF2E963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648705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JSON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3CD4E-1CEF-D500-28A8-34031162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5CC12A-231F-7FA1-79B7-ACA5095C6BC2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22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0F6075E-1A70-BCFA-527C-DD5BAC8C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13835"/>
            <a:ext cx="21669664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XML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8A6086-F302-097A-5B8F-EC05C644F984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4576CB-C1DA-C765-82E4-4AC3A2CC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4549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79B791-AAB4-FC21-A221-A1DFD490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7" y="1913835"/>
            <a:ext cx="21627789" cy="11658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Recebendo uma mensagem DFDL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5CC12A-231F-7FA1-79B7-ACA5095C6BC2}"/>
              </a:ext>
            </a:extLst>
          </p:cNvPr>
          <p:cNvSpPr/>
          <p:nvPr/>
        </p:nvSpPr>
        <p:spPr>
          <a:xfrm>
            <a:off x="16566775" y="3245464"/>
            <a:ext cx="6239435" cy="396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4C61C-AABA-42D3-9E1D-D380390CC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860034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10DAF0-220D-6512-2E55-151C6ED47404}"/>
              </a:ext>
            </a:extLst>
          </p:cNvPr>
          <p:cNvGrpSpPr/>
          <p:nvPr/>
        </p:nvGrpSpPr>
        <p:grpSpPr>
          <a:xfrm>
            <a:off x="654402" y="1913835"/>
            <a:ext cx="22818920" cy="5885459"/>
            <a:chOff x="-298976" y="1913835"/>
            <a:chExt cx="24417756" cy="629783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F6075E-1A70-BCFA-527C-DD5BAC8C71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2569" b="54594"/>
            <a:stretch/>
          </p:blipFill>
          <p:spPr>
            <a:xfrm>
              <a:off x="12117512" y="2128983"/>
              <a:ext cx="5944294" cy="529378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DB716A-A2A0-97B5-5230-54D673F995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516" b="47827"/>
            <a:stretch/>
          </p:blipFill>
          <p:spPr>
            <a:xfrm>
              <a:off x="18174486" y="2128983"/>
              <a:ext cx="5944294" cy="608268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EB092-9EF4-BC1C-5879-CCD7948756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542" b="51979"/>
            <a:stretch/>
          </p:blipFill>
          <p:spPr>
            <a:xfrm>
              <a:off x="6060538" y="1913835"/>
              <a:ext cx="5944294" cy="55985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578A1D-824F-BEE7-8870-0025E7009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1988" b="52749"/>
            <a:stretch/>
          </p:blipFill>
          <p:spPr>
            <a:xfrm>
              <a:off x="-298976" y="2128984"/>
              <a:ext cx="6081912" cy="55089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Lógico de Mensagem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528A6-8000-91DA-58FA-AD41396D684F}"/>
              </a:ext>
            </a:extLst>
          </p:cNvPr>
          <p:cNvSpPr/>
          <p:nvPr/>
        </p:nvSpPr>
        <p:spPr>
          <a:xfrm>
            <a:off x="6597504" y="4141698"/>
            <a:ext cx="16747809" cy="123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880C0-8B69-C8A7-5623-06DB49B2EC6E}"/>
              </a:ext>
            </a:extLst>
          </p:cNvPr>
          <p:cNvSpPr/>
          <p:nvPr/>
        </p:nvSpPr>
        <p:spPr>
          <a:xfrm>
            <a:off x="7845933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JSON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8EE0E-07F3-447A-78E1-633724732964}"/>
              </a:ext>
            </a:extLst>
          </p:cNvPr>
          <p:cNvSpPr/>
          <p:nvPr/>
        </p:nvSpPr>
        <p:spPr>
          <a:xfrm>
            <a:off x="13814171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XML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0C97E-F5E4-B2DB-81EC-1D1F2C702354}"/>
              </a:ext>
            </a:extLst>
          </p:cNvPr>
          <p:cNvSpPr/>
          <p:nvPr/>
        </p:nvSpPr>
        <p:spPr>
          <a:xfrm>
            <a:off x="19285489" y="6091520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Cobol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7FFB23-01CF-CE04-58F9-CEEFE13DB843}"/>
              </a:ext>
            </a:extLst>
          </p:cNvPr>
          <p:cNvSpPr/>
          <p:nvPr/>
        </p:nvSpPr>
        <p:spPr>
          <a:xfrm>
            <a:off x="2290862" y="6044563"/>
            <a:ext cx="2259106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Binário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5CFB0D-94B2-462C-94DA-6352C5D93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3269" y="8193739"/>
            <a:ext cx="8122045" cy="4710785"/>
          </a:xfrm>
          <a:prstGeom prst="rect">
            <a:avLst/>
          </a:prstGeom>
          <a:ln>
            <a:solidFill>
              <a:srgbClr val="FF00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637483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1150EBA-C08D-1585-F3ED-01548C54ABD2}"/>
              </a:ext>
            </a:extLst>
          </p:cNvPr>
          <p:cNvSpPr/>
          <p:nvPr/>
        </p:nvSpPr>
        <p:spPr>
          <a:xfrm>
            <a:off x="60760" y="98695"/>
            <a:ext cx="10732746" cy="13716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B19F3-D1A9-413D-BF2E-3B4ADF63B701}"/>
              </a:ext>
            </a:extLst>
          </p:cNvPr>
          <p:cNvSpPr/>
          <p:nvPr/>
        </p:nvSpPr>
        <p:spPr>
          <a:xfrm>
            <a:off x="298146" y="367154"/>
            <a:ext cx="10208490" cy="1313369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2E31C0-9548-A42B-0EE1-11F431BB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3892" y="420235"/>
            <a:ext cx="9605358" cy="1448809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ym typeface="Helvetica Light"/>
              </a:rPr>
              <a:t>Nós (Nodes) do ACE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547712-F58C-D0B6-01C3-CAE59802C7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17680" y="1788651"/>
          <a:ext cx="12845696" cy="914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9F1FE841-7B87-A6C5-24C1-1BE58A7927D4}"/>
              </a:ext>
            </a:extLst>
          </p:cNvPr>
          <p:cNvGrpSpPr/>
          <p:nvPr/>
        </p:nvGrpSpPr>
        <p:grpSpPr>
          <a:xfrm>
            <a:off x="581014" y="592459"/>
            <a:ext cx="9607195" cy="12531081"/>
            <a:chOff x="1350393" y="1258533"/>
            <a:chExt cx="8692998" cy="113386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6BC45F-3DED-E6C5-A5B9-13765920DD00}"/>
                </a:ext>
              </a:extLst>
            </p:cNvPr>
            <p:cNvGrpSpPr/>
            <p:nvPr/>
          </p:nvGrpSpPr>
          <p:grpSpPr>
            <a:xfrm>
              <a:off x="1350393" y="1258533"/>
              <a:ext cx="4207940" cy="11338654"/>
              <a:chOff x="1368321" y="1258532"/>
              <a:chExt cx="5770215" cy="1554833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B744332-C3DC-D92C-D592-078BC58087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29980"/>
              <a:stretch/>
            </p:blipFill>
            <p:spPr>
              <a:xfrm>
                <a:off x="1368321" y="1258532"/>
                <a:ext cx="5770215" cy="853092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8637D23-4FDD-16EC-5949-FEAAC61EBD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41063" r="2677"/>
              <a:stretch/>
            </p:blipFill>
            <p:spPr>
              <a:xfrm>
                <a:off x="1368321" y="9725958"/>
                <a:ext cx="5770215" cy="7080913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24CBFB-23A6-AE57-440C-E56AE7D9C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382" r="3356"/>
            <a:stretch/>
          </p:blipFill>
          <p:spPr>
            <a:xfrm>
              <a:off x="6072102" y="2545943"/>
              <a:ext cx="3961910" cy="118836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011C3E0-57C5-02B8-0B95-7461073F1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3206"/>
            <a:stretch/>
          </p:blipFill>
          <p:spPr>
            <a:xfrm>
              <a:off x="6062562" y="3993948"/>
              <a:ext cx="3971449" cy="175127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360AC3E-DF74-9C79-6B32-26880E92F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945" r="4539"/>
            <a:stretch/>
          </p:blipFill>
          <p:spPr>
            <a:xfrm>
              <a:off x="6056674" y="5958882"/>
              <a:ext cx="3977337" cy="163869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BDB1833-D80D-5A8C-8988-7BA5AEDA88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1352" r="6321"/>
            <a:stretch/>
          </p:blipFill>
          <p:spPr>
            <a:xfrm>
              <a:off x="6047293" y="7854693"/>
              <a:ext cx="3996098" cy="2251636"/>
            </a:xfrm>
            <a:prstGeom prst="rect">
              <a:avLst/>
            </a:prstGeom>
          </p:spPr>
        </p:pic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445A9EF0-394C-E101-F8E2-1510393EE168}"/>
                </a:ext>
              </a:extLst>
            </p:cNvPr>
            <p:cNvSpPr/>
            <p:nvPr/>
          </p:nvSpPr>
          <p:spPr>
            <a:xfrm>
              <a:off x="5835451" y="2506009"/>
              <a:ext cx="354590" cy="1274276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5584DFA0-5BBF-6683-C793-9A3D51F804E8}"/>
                </a:ext>
              </a:extLst>
            </p:cNvPr>
            <p:cNvSpPr/>
            <p:nvPr/>
          </p:nvSpPr>
          <p:spPr>
            <a:xfrm>
              <a:off x="5835451" y="3973544"/>
              <a:ext cx="354590" cy="1816657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4E058842-EC15-5F4B-D732-E7B936B75800}"/>
                </a:ext>
              </a:extLst>
            </p:cNvPr>
            <p:cNvSpPr/>
            <p:nvPr/>
          </p:nvSpPr>
          <p:spPr>
            <a:xfrm>
              <a:off x="5835451" y="5900520"/>
              <a:ext cx="354590" cy="1765094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9739BFD9-8F44-CAA0-58FD-C2CC4F95B864}"/>
                </a:ext>
              </a:extLst>
            </p:cNvPr>
            <p:cNvSpPr/>
            <p:nvPr/>
          </p:nvSpPr>
          <p:spPr>
            <a:xfrm>
              <a:off x="5835451" y="7808769"/>
              <a:ext cx="354590" cy="2349185"/>
            </a:xfrm>
            <a:prstGeom prst="leftBrac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A12661C-F82C-CBC9-AF63-8AD9A9685064}"/>
                </a:ext>
              </a:extLst>
            </p:cNvPr>
            <p:cNvCxnSpPr>
              <a:endCxn id="13" idx="1"/>
            </p:cNvCxnSpPr>
            <p:nvPr/>
          </p:nvCxnSpPr>
          <p:spPr>
            <a:xfrm>
              <a:off x="2689412" y="2886635"/>
              <a:ext cx="3146039" cy="256512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F054849-A6AB-4FA4-E844-43725518C238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689410" y="4378109"/>
              <a:ext cx="3146041" cy="503764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370A301-4078-77D8-ABF9-81C242DF6ABA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1927414" y="6262723"/>
              <a:ext cx="3908037" cy="520344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1C59D26-473B-0948-5641-0A9293344D31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2241176" y="7253247"/>
              <a:ext cx="3594275" cy="1730115"/>
            </a:xfrm>
            <a:prstGeom prst="straightConnector1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9862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306E-1479-46E3-BB22-6F614812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 do node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29CCD-A213-4551-82E4-F42B72582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24" y="3140763"/>
            <a:ext cx="14156551" cy="74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24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306E-1479-46E3-BB22-6F614812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</a:t>
            </a:r>
          </a:p>
        </p:txBody>
      </p:sp>
      <p:pic>
        <p:nvPicPr>
          <p:cNvPr id="3" name="Picture 2" descr="Java Compute Node | TransformaTech">
            <a:extLst>
              <a:ext uri="{FF2B5EF4-FFF2-40B4-BE49-F238E27FC236}">
                <a16:creationId xmlns:a16="http://schemas.microsoft.com/office/drawing/2014/main" id="{9BD4F8B0-1197-C1AB-1FBF-3BD91BC6B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895" y="2228320"/>
            <a:ext cx="15186210" cy="1050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938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DB4546-86D9-84E3-3FCB-CA7EBE75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51940"/>
            <a:ext cx="21661749" cy="11620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B97EE1-D02E-7850-9D45-F91389D7942E}"/>
              </a:ext>
            </a:extLst>
          </p:cNvPr>
          <p:cNvSpPr/>
          <p:nvPr/>
        </p:nvSpPr>
        <p:spPr>
          <a:xfrm>
            <a:off x="6992470" y="8050305"/>
            <a:ext cx="6239435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7BFEE-1BB6-EEED-89B9-5F48AF049C35}"/>
              </a:ext>
            </a:extLst>
          </p:cNvPr>
          <p:cNvSpPr/>
          <p:nvPr/>
        </p:nvSpPr>
        <p:spPr>
          <a:xfrm>
            <a:off x="14029764" y="8095128"/>
            <a:ext cx="6239435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5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2867EF-49C6-550E-7BED-A28BD730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51940"/>
            <a:ext cx="21523419" cy="11620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22FE8-0740-BD6B-531B-7F52ACE42EE4}"/>
              </a:ext>
            </a:extLst>
          </p:cNvPr>
          <p:cNvSpPr/>
          <p:nvPr/>
        </p:nvSpPr>
        <p:spPr>
          <a:xfrm>
            <a:off x="13196047" y="3334870"/>
            <a:ext cx="376518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74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D2E29A-1360-059A-3BA3-FD1F81B86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5" y="1951939"/>
            <a:ext cx="21523418" cy="11568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6418729" y="6544235"/>
            <a:ext cx="10183906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74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462D3F-0776-4419-D05E-41184CF76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51939"/>
            <a:ext cx="21594411" cy="11568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7243482" y="4836088"/>
            <a:ext cx="10183906" cy="627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14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CA2CDC-99F9-3486-331A-2D58C7F75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42414"/>
            <a:ext cx="21594411" cy="11595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BD084-D2A5-1168-1EC8-905E90017B59}"/>
              </a:ext>
            </a:extLst>
          </p:cNvPr>
          <p:cNvSpPr/>
          <p:nvPr/>
        </p:nvSpPr>
        <p:spPr>
          <a:xfrm>
            <a:off x="6598023" y="3688605"/>
            <a:ext cx="14038730" cy="2263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9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C5DC10-B961-AB94-A859-D98629610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4" y="1942414"/>
            <a:ext cx="21594411" cy="11562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8EA7A-173E-E9F1-EAA8-D8050F44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Mapping Node (JSON)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4EBE7-2E9B-29FE-AEF7-75A49F84B8A2}"/>
              </a:ext>
            </a:extLst>
          </p:cNvPr>
          <p:cNvSpPr/>
          <p:nvPr/>
        </p:nvSpPr>
        <p:spPr>
          <a:xfrm>
            <a:off x="6544234" y="3634817"/>
            <a:ext cx="14038730" cy="96019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54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43409C-3109-1BC5-FDE8-4A684425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7944"/>
            <a:ext cx="18322738" cy="1274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449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9"/>
            <a:ext cx="21156706" cy="1151604"/>
          </a:xfrm>
        </p:spPr>
        <p:txBody>
          <a:bodyPr>
            <a:normAutofit/>
          </a:bodyPr>
          <a:lstStyle/>
          <a:p>
            <a:r>
              <a:rPr lang="pt-BR" sz="6000" dirty="0"/>
              <a:t>Conectores inteligentes nativos do IBM App Connect e Comunidade</a:t>
            </a: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8D1864C-2535-4272-E9F5-EEB17C53EA9F}"/>
              </a:ext>
            </a:extLst>
          </p:cNvPr>
          <p:cNvSpPr/>
          <p:nvPr/>
        </p:nvSpPr>
        <p:spPr>
          <a:xfrm>
            <a:off x="5109113" y="1618006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19" y="0"/>
                </a:moveTo>
                <a:lnTo>
                  <a:pt x="0" y="0"/>
                </a:lnTo>
                <a:lnTo>
                  <a:pt x="0" y="2133460"/>
                </a:lnTo>
                <a:lnTo>
                  <a:pt x="2146719" y="213346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857D9EFB-03D3-3E71-84E8-432D261E58B0}"/>
              </a:ext>
            </a:extLst>
          </p:cNvPr>
          <p:cNvSpPr/>
          <p:nvPr/>
        </p:nvSpPr>
        <p:spPr>
          <a:xfrm>
            <a:off x="5109113" y="5998827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06" y="0"/>
                </a:moveTo>
                <a:lnTo>
                  <a:pt x="0" y="0"/>
                </a:lnTo>
                <a:lnTo>
                  <a:pt x="0" y="2133460"/>
                </a:lnTo>
                <a:lnTo>
                  <a:pt x="2146706" y="2133460"/>
                </a:lnTo>
                <a:lnTo>
                  <a:pt x="2146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624B0AF2-4E4A-AC3B-EF97-2E6FE73E4519}"/>
              </a:ext>
            </a:extLst>
          </p:cNvPr>
          <p:cNvSpPr/>
          <p:nvPr/>
        </p:nvSpPr>
        <p:spPr>
          <a:xfrm>
            <a:off x="19645612" y="1610241"/>
            <a:ext cx="4289899" cy="3427097"/>
          </a:xfrm>
          <a:custGeom>
            <a:avLst/>
            <a:gdLst/>
            <a:ahLst/>
            <a:cxnLst/>
            <a:rect l="l" t="t" r="r" b="b"/>
            <a:pathLst>
              <a:path w="2146934" h="1715135">
                <a:moveTo>
                  <a:pt x="2146719" y="0"/>
                </a:moveTo>
                <a:lnTo>
                  <a:pt x="0" y="0"/>
                </a:lnTo>
                <a:lnTo>
                  <a:pt x="0" y="1714728"/>
                </a:lnTo>
                <a:lnTo>
                  <a:pt x="2146719" y="1714728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2224205D-3D32-3EB4-3C07-1568ED0FE0BD}"/>
              </a:ext>
            </a:extLst>
          </p:cNvPr>
          <p:cNvSpPr/>
          <p:nvPr/>
        </p:nvSpPr>
        <p:spPr>
          <a:xfrm>
            <a:off x="10047280" y="1608819"/>
            <a:ext cx="4289899" cy="6262921"/>
          </a:xfrm>
          <a:custGeom>
            <a:avLst/>
            <a:gdLst/>
            <a:ahLst/>
            <a:cxnLst/>
            <a:rect l="l" t="t" r="r" b="b"/>
            <a:pathLst>
              <a:path w="2146934" h="3134360">
                <a:moveTo>
                  <a:pt x="2146719" y="0"/>
                </a:moveTo>
                <a:lnTo>
                  <a:pt x="0" y="0"/>
                </a:lnTo>
                <a:lnTo>
                  <a:pt x="0" y="3133940"/>
                </a:lnTo>
                <a:lnTo>
                  <a:pt x="2146719" y="313394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0" name="object 22">
            <a:extLst>
              <a:ext uri="{FF2B5EF4-FFF2-40B4-BE49-F238E27FC236}">
                <a16:creationId xmlns:a16="http://schemas.microsoft.com/office/drawing/2014/main" id="{AC9BD65C-001D-3826-4219-B664B877CC82}"/>
              </a:ext>
            </a:extLst>
          </p:cNvPr>
          <p:cNvSpPr/>
          <p:nvPr/>
        </p:nvSpPr>
        <p:spPr>
          <a:xfrm>
            <a:off x="13008057" y="8428941"/>
            <a:ext cx="1347592" cy="1324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1" name="object 26">
            <a:extLst>
              <a:ext uri="{FF2B5EF4-FFF2-40B4-BE49-F238E27FC236}">
                <a16:creationId xmlns:a16="http://schemas.microsoft.com/office/drawing/2014/main" id="{8BF88C17-AEE2-1466-682A-BBCFE5D12D9C}"/>
              </a:ext>
            </a:extLst>
          </p:cNvPr>
          <p:cNvSpPr/>
          <p:nvPr/>
        </p:nvSpPr>
        <p:spPr>
          <a:xfrm>
            <a:off x="13478599" y="11516599"/>
            <a:ext cx="901372" cy="8952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2" name="object 27">
            <a:extLst>
              <a:ext uri="{FF2B5EF4-FFF2-40B4-BE49-F238E27FC236}">
                <a16:creationId xmlns:a16="http://schemas.microsoft.com/office/drawing/2014/main" id="{9CEF5243-5AA2-D206-C2BB-3D82F206FFBD}"/>
              </a:ext>
            </a:extLst>
          </p:cNvPr>
          <p:cNvSpPr/>
          <p:nvPr/>
        </p:nvSpPr>
        <p:spPr>
          <a:xfrm>
            <a:off x="19633788" y="2821639"/>
            <a:ext cx="4452308" cy="5051194"/>
          </a:xfrm>
          <a:custGeom>
            <a:avLst/>
            <a:gdLst/>
            <a:ahLst/>
            <a:cxnLst/>
            <a:rect l="l" t="t" r="r" b="b"/>
            <a:pathLst>
              <a:path w="2228215" h="2527935">
                <a:moveTo>
                  <a:pt x="2227719" y="0"/>
                </a:moveTo>
                <a:lnTo>
                  <a:pt x="0" y="0"/>
                </a:lnTo>
                <a:lnTo>
                  <a:pt x="0" y="2527604"/>
                </a:lnTo>
                <a:lnTo>
                  <a:pt x="2227719" y="2527604"/>
                </a:lnTo>
                <a:lnTo>
                  <a:pt x="2227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3" name="object 30">
            <a:extLst>
              <a:ext uri="{FF2B5EF4-FFF2-40B4-BE49-F238E27FC236}">
                <a16:creationId xmlns:a16="http://schemas.microsoft.com/office/drawing/2014/main" id="{102B5F9D-1523-553A-321D-578BE5A2871E}"/>
              </a:ext>
            </a:extLst>
          </p:cNvPr>
          <p:cNvSpPr/>
          <p:nvPr/>
        </p:nvSpPr>
        <p:spPr>
          <a:xfrm>
            <a:off x="23008482" y="5061343"/>
            <a:ext cx="1157169" cy="1157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4" name="object 31">
            <a:extLst>
              <a:ext uri="{FF2B5EF4-FFF2-40B4-BE49-F238E27FC236}">
                <a16:creationId xmlns:a16="http://schemas.microsoft.com/office/drawing/2014/main" id="{3A67B0DB-5CFA-2471-4DD5-40082D2D86BD}"/>
              </a:ext>
            </a:extLst>
          </p:cNvPr>
          <p:cNvSpPr/>
          <p:nvPr/>
        </p:nvSpPr>
        <p:spPr>
          <a:xfrm>
            <a:off x="22578806" y="3018662"/>
            <a:ext cx="1462498" cy="5687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5" name="object 37">
            <a:extLst>
              <a:ext uri="{FF2B5EF4-FFF2-40B4-BE49-F238E27FC236}">
                <a16:creationId xmlns:a16="http://schemas.microsoft.com/office/drawing/2014/main" id="{FA81682F-EE81-2B57-CD65-0E292821C355}"/>
              </a:ext>
            </a:extLst>
          </p:cNvPr>
          <p:cNvSpPr/>
          <p:nvPr/>
        </p:nvSpPr>
        <p:spPr>
          <a:xfrm>
            <a:off x="22911034" y="9038348"/>
            <a:ext cx="1151078" cy="1151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6" name="object 39">
            <a:extLst>
              <a:ext uri="{FF2B5EF4-FFF2-40B4-BE49-F238E27FC236}">
                <a16:creationId xmlns:a16="http://schemas.microsoft.com/office/drawing/2014/main" id="{B23172F4-5021-CEA3-B9E8-E9AF3E63AA34}"/>
              </a:ext>
            </a:extLst>
          </p:cNvPr>
          <p:cNvSpPr/>
          <p:nvPr/>
        </p:nvSpPr>
        <p:spPr>
          <a:xfrm>
            <a:off x="23025993" y="1637077"/>
            <a:ext cx="1050510" cy="7940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BAE1824A-CDA1-A13B-68D6-F66DE74F02CF}"/>
              </a:ext>
            </a:extLst>
          </p:cNvPr>
          <p:cNvSpPr/>
          <p:nvPr/>
        </p:nvSpPr>
        <p:spPr>
          <a:xfrm>
            <a:off x="13591742" y="6972905"/>
            <a:ext cx="763544" cy="427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8" name="object 43">
            <a:extLst>
              <a:ext uri="{FF2B5EF4-FFF2-40B4-BE49-F238E27FC236}">
                <a16:creationId xmlns:a16="http://schemas.microsoft.com/office/drawing/2014/main" id="{BDD59518-0946-0055-6FB5-4622E9AF529B}"/>
              </a:ext>
            </a:extLst>
          </p:cNvPr>
          <p:cNvSpPr/>
          <p:nvPr/>
        </p:nvSpPr>
        <p:spPr>
          <a:xfrm>
            <a:off x="18075291" y="4190421"/>
            <a:ext cx="1120625" cy="1114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19" name="object 44">
            <a:extLst>
              <a:ext uri="{FF2B5EF4-FFF2-40B4-BE49-F238E27FC236}">
                <a16:creationId xmlns:a16="http://schemas.microsoft.com/office/drawing/2014/main" id="{85293B2D-A35A-1E6C-A0F6-08050C64EC74}"/>
              </a:ext>
            </a:extLst>
          </p:cNvPr>
          <p:cNvSpPr/>
          <p:nvPr/>
        </p:nvSpPr>
        <p:spPr>
          <a:xfrm>
            <a:off x="12825396" y="3812822"/>
            <a:ext cx="1437325" cy="14373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0" name="object 46">
            <a:extLst>
              <a:ext uri="{FF2B5EF4-FFF2-40B4-BE49-F238E27FC236}">
                <a16:creationId xmlns:a16="http://schemas.microsoft.com/office/drawing/2014/main" id="{BFE603E5-097E-2732-29EA-D6BD593647A9}"/>
              </a:ext>
            </a:extLst>
          </p:cNvPr>
          <p:cNvSpPr/>
          <p:nvPr/>
        </p:nvSpPr>
        <p:spPr>
          <a:xfrm>
            <a:off x="18525974" y="7089434"/>
            <a:ext cx="615126" cy="6151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1" name="object 47">
            <a:extLst>
              <a:ext uri="{FF2B5EF4-FFF2-40B4-BE49-F238E27FC236}">
                <a16:creationId xmlns:a16="http://schemas.microsoft.com/office/drawing/2014/main" id="{1C228B69-264F-2CE7-2FE1-E5DB19218154}"/>
              </a:ext>
            </a:extLst>
          </p:cNvPr>
          <p:cNvSpPr/>
          <p:nvPr/>
        </p:nvSpPr>
        <p:spPr>
          <a:xfrm>
            <a:off x="13733496" y="1812695"/>
            <a:ext cx="667274" cy="6672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2" name="object 49">
            <a:extLst>
              <a:ext uri="{FF2B5EF4-FFF2-40B4-BE49-F238E27FC236}">
                <a16:creationId xmlns:a16="http://schemas.microsoft.com/office/drawing/2014/main" id="{F499665E-87E0-69EE-9AC0-5E3C69BC7764}"/>
              </a:ext>
            </a:extLst>
          </p:cNvPr>
          <p:cNvSpPr/>
          <p:nvPr/>
        </p:nvSpPr>
        <p:spPr>
          <a:xfrm>
            <a:off x="18398076" y="2091657"/>
            <a:ext cx="870922" cy="86483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3" name="object 50">
            <a:extLst>
              <a:ext uri="{FF2B5EF4-FFF2-40B4-BE49-F238E27FC236}">
                <a16:creationId xmlns:a16="http://schemas.microsoft.com/office/drawing/2014/main" id="{D74566A5-AF9B-5298-9324-B57D28ABF7D2}"/>
              </a:ext>
            </a:extLst>
          </p:cNvPr>
          <p:cNvSpPr/>
          <p:nvPr/>
        </p:nvSpPr>
        <p:spPr>
          <a:xfrm>
            <a:off x="22387212" y="8216737"/>
            <a:ext cx="1678446" cy="839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4" name="object 51">
            <a:extLst>
              <a:ext uri="{FF2B5EF4-FFF2-40B4-BE49-F238E27FC236}">
                <a16:creationId xmlns:a16="http://schemas.microsoft.com/office/drawing/2014/main" id="{7D76C230-B8C0-6EE6-DB9C-F03F8C3AD6D0}"/>
              </a:ext>
            </a:extLst>
          </p:cNvPr>
          <p:cNvSpPr/>
          <p:nvPr/>
        </p:nvSpPr>
        <p:spPr>
          <a:xfrm>
            <a:off x="13721426" y="11074107"/>
            <a:ext cx="659745" cy="5328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5" name="object 52">
            <a:extLst>
              <a:ext uri="{FF2B5EF4-FFF2-40B4-BE49-F238E27FC236}">
                <a16:creationId xmlns:a16="http://schemas.microsoft.com/office/drawing/2014/main" id="{D6F1E928-476B-45F4-034D-B634D385C268}"/>
              </a:ext>
            </a:extLst>
          </p:cNvPr>
          <p:cNvSpPr/>
          <p:nvPr/>
        </p:nvSpPr>
        <p:spPr>
          <a:xfrm>
            <a:off x="18268504" y="7745328"/>
            <a:ext cx="949028" cy="56793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6" name="object 54">
            <a:extLst>
              <a:ext uri="{FF2B5EF4-FFF2-40B4-BE49-F238E27FC236}">
                <a16:creationId xmlns:a16="http://schemas.microsoft.com/office/drawing/2014/main" id="{2607E653-369B-C3AF-F6BC-3B9AED78A876}"/>
              </a:ext>
            </a:extLst>
          </p:cNvPr>
          <p:cNvSpPr/>
          <p:nvPr/>
        </p:nvSpPr>
        <p:spPr>
          <a:xfrm>
            <a:off x="8690041" y="1943079"/>
            <a:ext cx="919644" cy="91964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7" name="object 55">
            <a:extLst>
              <a:ext uri="{FF2B5EF4-FFF2-40B4-BE49-F238E27FC236}">
                <a16:creationId xmlns:a16="http://schemas.microsoft.com/office/drawing/2014/main" id="{EF9B18AF-6638-EC8A-17A2-66FBAE320794}"/>
              </a:ext>
            </a:extLst>
          </p:cNvPr>
          <p:cNvSpPr/>
          <p:nvPr/>
        </p:nvSpPr>
        <p:spPr>
          <a:xfrm>
            <a:off x="3580228" y="3222054"/>
            <a:ext cx="956187" cy="95618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8" name="object 61">
            <a:extLst>
              <a:ext uri="{FF2B5EF4-FFF2-40B4-BE49-F238E27FC236}">
                <a16:creationId xmlns:a16="http://schemas.microsoft.com/office/drawing/2014/main" id="{F1A32132-622C-3413-9AA4-F1D33403AC05}"/>
              </a:ext>
            </a:extLst>
          </p:cNvPr>
          <p:cNvSpPr/>
          <p:nvPr/>
        </p:nvSpPr>
        <p:spPr>
          <a:xfrm>
            <a:off x="8665680" y="3496120"/>
            <a:ext cx="919644" cy="9196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29" name="object 64">
            <a:extLst>
              <a:ext uri="{FF2B5EF4-FFF2-40B4-BE49-F238E27FC236}">
                <a16:creationId xmlns:a16="http://schemas.microsoft.com/office/drawing/2014/main" id="{36DF09B5-3D67-9BE2-F109-AD94B889903F}"/>
              </a:ext>
            </a:extLst>
          </p:cNvPr>
          <p:cNvSpPr/>
          <p:nvPr/>
        </p:nvSpPr>
        <p:spPr>
          <a:xfrm>
            <a:off x="8702225" y="7735014"/>
            <a:ext cx="870920" cy="86483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0" name="object 68">
            <a:extLst>
              <a:ext uri="{FF2B5EF4-FFF2-40B4-BE49-F238E27FC236}">
                <a16:creationId xmlns:a16="http://schemas.microsoft.com/office/drawing/2014/main" id="{E061A2AD-8332-F182-7DAB-C2CA66915025}"/>
              </a:ext>
            </a:extLst>
          </p:cNvPr>
          <p:cNvSpPr/>
          <p:nvPr/>
        </p:nvSpPr>
        <p:spPr>
          <a:xfrm>
            <a:off x="3747796" y="2075391"/>
            <a:ext cx="786203" cy="74784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1" name="object 69">
            <a:extLst>
              <a:ext uri="{FF2B5EF4-FFF2-40B4-BE49-F238E27FC236}">
                <a16:creationId xmlns:a16="http://schemas.microsoft.com/office/drawing/2014/main" id="{467CB393-CBCD-90E6-DEBB-5C001C79A8D8}"/>
              </a:ext>
            </a:extLst>
          </p:cNvPr>
          <p:cNvSpPr/>
          <p:nvPr/>
        </p:nvSpPr>
        <p:spPr>
          <a:xfrm>
            <a:off x="8560267" y="6434601"/>
            <a:ext cx="1016203" cy="45164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C03FEC-B525-9B68-9A46-F0141E9E47C9}"/>
              </a:ext>
            </a:extLst>
          </p:cNvPr>
          <p:cNvSpPr/>
          <p:nvPr/>
        </p:nvSpPr>
        <p:spPr>
          <a:xfrm>
            <a:off x="415364" y="1590914"/>
            <a:ext cx="4543164" cy="55614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Plataforma de Serviços de Conteúdo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Box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IBM FileNet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SharePoint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CMIS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One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Drive  IBM MDM AE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Confluence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Dropbox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Google Drive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Google Sheets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Salesforce Files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Salesforce Libraries  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WordPress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B196E2-1B04-A2E3-471F-7EB9FE8A619E}"/>
              </a:ext>
            </a:extLst>
          </p:cNvPr>
          <p:cNvSpPr/>
          <p:nvPr/>
        </p:nvSpPr>
        <p:spPr>
          <a:xfrm>
            <a:off x="5182267" y="1590915"/>
            <a:ext cx="4543164" cy="39242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Cognitive &amp; AI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Weather Data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</a:t>
            </a:r>
          </a:p>
          <a:p>
            <a:r>
              <a:rPr lang="en-US" sz="2398">
                <a:latin typeface="IBM Plex Sans" panose="020B0503050203000203" pitchFamily="34" charset="0"/>
              </a:rPr>
              <a:t>Language  Translator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Discovery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Natural  </a:t>
            </a:r>
          </a:p>
          <a:p>
            <a:r>
              <a:rPr lang="en-US" sz="2398">
                <a:latin typeface="IBM Plex Sans" panose="020B0503050203000203" pitchFamily="34" charset="0"/>
              </a:rPr>
              <a:t>Language Classifier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Tone Analyzer  </a:t>
            </a:r>
          </a:p>
          <a:p>
            <a:r>
              <a:rPr lang="en-US" sz="2398">
                <a:latin typeface="IBM Plex Sans" panose="020B0503050203000203" pitchFamily="34" charset="0"/>
              </a:rPr>
              <a:t>IBM Watson Visual  Recognition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E56517-E7F0-FB21-0F76-68832BBB1FBD}"/>
              </a:ext>
            </a:extLst>
          </p:cNvPr>
          <p:cNvSpPr/>
          <p:nvPr/>
        </p:nvSpPr>
        <p:spPr>
          <a:xfrm>
            <a:off x="5182267" y="5708394"/>
            <a:ext cx="4543164" cy="58082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>
                <a:latin typeface="IBM Plex Sans" panose="020B0503050203000203" pitchFamily="34" charset="0"/>
              </a:rPr>
              <a:t>Banco de Dados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IBM Db2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Oracle DB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MS SQL Server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My SQL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IBM </a:t>
            </a:r>
            <a:r>
              <a:rPr lang="en-US" sz="2398" dirty="0" err="1">
                <a:latin typeface="IBM Plex Sans" panose="020B0503050203000203" pitchFamily="34" charset="0"/>
              </a:rPr>
              <a:t>Cloudant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Redis (Azure, AWS, IBM)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Google Big Query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Couch DB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Couchbase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EISQL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HBase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HDFS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MongoDB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PostgreSQL</a:t>
            </a:r>
          </a:p>
          <a:p>
            <a:endParaRPr lang="en-US" sz="2398" dirty="0">
              <a:latin typeface="IBM Plex Sans" panose="020B050305020300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3DAD7C-2470-DE62-1A6B-42B0016A479C}"/>
              </a:ext>
            </a:extLst>
          </p:cNvPr>
          <p:cNvSpPr/>
          <p:nvPr/>
        </p:nvSpPr>
        <p:spPr>
          <a:xfrm>
            <a:off x="19657282" y="7317705"/>
            <a:ext cx="4543164" cy="49101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Collaboration &amp; Communication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Exchange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Office 365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MS Teams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Domino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Cisco WebEx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Slack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Gmail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Twilio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Twitter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Email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62ED2D-E8BF-0311-9811-8E209ADED4F3}"/>
              </a:ext>
            </a:extLst>
          </p:cNvPr>
          <p:cNvSpPr/>
          <p:nvPr/>
        </p:nvSpPr>
        <p:spPr>
          <a:xfrm>
            <a:off x="9984054" y="1644087"/>
            <a:ext cx="4543164" cy="47451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CRM</a:t>
            </a:r>
          </a:p>
          <a:p>
            <a:r>
              <a:rPr lang="en-US" sz="2398">
                <a:latin typeface="IBM Plex Sans" panose="020B0503050203000203" pitchFamily="34" charset="0"/>
              </a:rPr>
              <a:t>Salesforce</a:t>
            </a:r>
          </a:p>
          <a:p>
            <a:r>
              <a:rPr lang="en-US" sz="2398">
                <a:latin typeface="IBM Plex Sans" panose="020B0503050203000203" pitchFamily="34" charset="0"/>
              </a:rPr>
              <a:t>MS Dynamics 365 for Sales</a:t>
            </a:r>
          </a:p>
          <a:p>
            <a:r>
              <a:rPr lang="en-US" sz="2398">
                <a:latin typeface="IBM Plex Sans" panose="020B0503050203000203" pitchFamily="34" charset="0"/>
              </a:rPr>
              <a:t>Sugar CRM  </a:t>
            </a:r>
          </a:p>
          <a:p>
            <a:r>
              <a:rPr lang="en-US" sz="2398">
                <a:latin typeface="IBM Plex Sans" panose="020B0503050203000203" pitchFamily="34" charset="0"/>
              </a:rPr>
              <a:t>NetSuite CRM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Sales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Zoho CRM</a:t>
            </a:r>
          </a:p>
          <a:p>
            <a:r>
              <a:rPr lang="en-US" sz="2398">
                <a:latin typeface="IBM Plex Sans" panose="020B0503050203000203" pitchFamily="34" charset="0"/>
              </a:rPr>
              <a:t>Insightly  </a:t>
            </a:r>
          </a:p>
          <a:p>
            <a:r>
              <a:rPr lang="en-US" sz="2398">
                <a:latin typeface="IBM Plex Sans" panose="020B0503050203000203" pitchFamily="34" charset="0"/>
              </a:rPr>
              <a:t>Intactt</a:t>
            </a:r>
          </a:p>
          <a:p>
            <a:r>
              <a:rPr lang="en-US" sz="2398">
                <a:latin typeface="IBM Plex Sans" panose="020B0503050203000203" pitchFamily="34" charset="0"/>
              </a:rPr>
              <a:t>HubSpot  </a:t>
            </a:r>
          </a:p>
          <a:p>
            <a:r>
              <a:rPr lang="en-US" sz="2398">
                <a:latin typeface="IBM Plex Sans" panose="020B0503050203000203" pitchFamily="34" charset="0"/>
              </a:rPr>
              <a:t>Infusionsoft</a:t>
            </a:r>
          </a:p>
          <a:p>
            <a:r>
              <a:rPr lang="en-US" sz="2398">
                <a:latin typeface="IBM Plex Sans" panose="020B0503050203000203" pitchFamily="34" charset="0"/>
              </a:rPr>
              <a:t>Apttus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12EA53-D8FC-2070-A452-9DBBC5D5FBE3}"/>
              </a:ext>
            </a:extLst>
          </p:cNvPr>
          <p:cNvSpPr/>
          <p:nvPr/>
        </p:nvSpPr>
        <p:spPr>
          <a:xfrm>
            <a:off x="9970550" y="6516035"/>
            <a:ext cx="4543164" cy="38621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ITSM</a:t>
            </a:r>
          </a:p>
          <a:p>
            <a:r>
              <a:rPr lang="en-US" sz="2398">
                <a:latin typeface="IBM Plex Sans" panose="020B0503050203000203" pitchFamily="34" charset="0"/>
              </a:rPr>
              <a:t>Service Now</a:t>
            </a:r>
          </a:p>
          <a:p>
            <a:r>
              <a:rPr lang="en-US" sz="2398">
                <a:latin typeface="IBM Plex Sans" panose="020B0503050203000203" pitchFamily="34" charset="0"/>
              </a:rPr>
              <a:t>Salesforce Service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Jira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Service Cloud  </a:t>
            </a:r>
          </a:p>
          <a:p>
            <a:r>
              <a:rPr lang="en-US" sz="2398">
                <a:latin typeface="IBM Plex Sans" panose="020B0503050203000203" pitchFamily="34" charset="0"/>
              </a:rPr>
              <a:t>Zendesk</a:t>
            </a:r>
          </a:p>
          <a:p>
            <a:r>
              <a:rPr lang="en-US" sz="2398">
                <a:latin typeface="IBM Plex Sans" panose="020B0503050203000203" pitchFamily="34" charset="0"/>
              </a:rPr>
              <a:t>Fresh desk</a:t>
            </a:r>
          </a:p>
          <a:p>
            <a:r>
              <a:rPr lang="en-US" sz="2398">
                <a:latin typeface="IBM Plex Sans" panose="020B0503050203000203" pitchFamily="34" charset="0"/>
              </a:rPr>
              <a:t>Act-on  </a:t>
            </a:r>
          </a:p>
          <a:p>
            <a:r>
              <a:rPr lang="en-US" sz="2398">
                <a:latin typeface="IBM Plex Sans" panose="020B0503050203000203" pitchFamily="34" charset="0"/>
              </a:rPr>
              <a:t>Asana  </a:t>
            </a:r>
          </a:p>
          <a:p>
            <a:r>
              <a:rPr lang="en-US" sz="2398">
                <a:latin typeface="IBM Plex Sans" panose="020B0503050203000203" pitchFamily="34" charset="0"/>
              </a:rPr>
              <a:t>Trello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B95975-A86B-4C7E-7545-06E0E8BF9F2E}"/>
              </a:ext>
            </a:extLst>
          </p:cNvPr>
          <p:cNvSpPr/>
          <p:nvPr/>
        </p:nvSpPr>
        <p:spPr>
          <a:xfrm>
            <a:off x="19619228" y="1637078"/>
            <a:ext cx="4543164" cy="7400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IBM </a:t>
            </a:r>
            <a:r>
              <a:rPr lang="en-US" sz="2398" spc="40">
                <a:latin typeface="IBM Plex Sans" panose="020B0503050203000203" pitchFamily="34" charset="0"/>
                <a:cs typeface="Trebuchet MS"/>
              </a:rPr>
              <a:t>Food</a:t>
            </a:r>
            <a:r>
              <a:rPr lang="en-US" sz="2398" spc="-550">
                <a:latin typeface="IBM Plex Sans" panose="020B0503050203000203" pitchFamily="34" charset="0"/>
                <a:cs typeface="Trebuchet MS"/>
              </a:rPr>
              <a:t> </a:t>
            </a:r>
            <a:r>
              <a:rPr lang="en-US" sz="2398" spc="-20">
                <a:latin typeface="IBM Plex Sans" panose="020B0503050203000203" pitchFamily="34" charset="0"/>
                <a:cs typeface="Trebuchet MS"/>
              </a:rPr>
              <a:t>Trust</a:t>
            </a:r>
            <a:endParaRPr lang="en-US" sz="2398">
              <a:latin typeface="IBM Plex Sans" panose="020B0503050203000203" pitchFamily="34" charset="0"/>
              <a:cs typeface="Trebuchet M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7C289-A546-C99F-C033-B1346BE5E8F0}"/>
              </a:ext>
            </a:extLst>
          </p:cNvPr>
          <p:cNvSpPr/>
          <p:nvPr/>
        </p:nvSpPr>
        <p:spPr>
          <a:xfrm>
            <a:off x="14795416" y="1650401"/>
            <a:ext cx="4543164" cy="419263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Banking &amp; Finance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MS Dynamics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F&amp;O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NetSuite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Finance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Yapily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QuickBooks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Online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SAP Concur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Stripe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F97B93-3263-8482-CAF4-81182C3BE987}"/>
              </a:ext>
            </a:extLst>
          </p:cNvPr>
          <p:cNvSpPr/>
          <p:nvPr/>
        </p:nvSpPr>
        <p:spPr>
          <a:xfrm>
            <a:off x="14795416" y="5998952"/>
            <a:ext cx="4543164" cy="66394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Enterprise Messaging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IBM MQ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IBM Event Streams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Kafka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Amazon SQS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Amazon SNS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Pub Sub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ActiveMQ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AMQP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Guava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EventBus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IronMQ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JMS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RabbitMQ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Simple JMS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Spark</a:t>
            </a:r>
          </a:p>
          <a:p>
            <a:pPr marL="411099">
              <a:spcBef>
                <a:spcPts val="200"/>
              </a:spcBef>
            </a:pPr>
            <a:endParaRPr lang="en-US" sz="2398" spc="210" dirty="0">
              <a:latin typeface="IBM Plex Sans" panose="020B0503050203000203" pitchFamily="34" charset="0"/>
              <a:cs typeface="Trebuchet M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D04943-30DD-6A4C-1530-8F32DB590985}"/>
              </a:ext>
            </a:extLst>
          </p:cNvPr>
          <p:cNvSpPr/>
          <p:nvPr/>
        </p:nvSpPr>
        <p:spPr>
          <a:xfrm>
            <a:off x="9981408" y="10626177"/>
            <a:ext cx="4543164" cy="28218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E-Commerce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Shopify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Magento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Big Commerce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SAP Commerce Cloud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Commerce Cloud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4C89A9-BB93-DC3F-7DFB-42AD00351B90}"/>
              </a:ext>
            </a:extLst>
          </p:cNvPr>
          <p:cNvSpPr/>
          <p:nvPr/>
        </p:nvSpPr>
        <p:spPr>
          <a:xfrm>
            <a:off x="19651368" y="2551773"/>
            <a:ext cx="4543164" cy="45861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Marketing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Marketo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Google Analytics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Marketing Cloud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Salesforce Pardot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Eventbrite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Infusionsoft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Mailchimp  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Wufoo</a:t>
            </a:r>
          </a:p>
          <a:p>
            <a:pPr marL="411099">
              <a:spcBef>
                <a:spcPts val="200"/>
              </a:spcBef>
            </a:pPr>
            <a:r>
              <a:rPr lang="en-US" sz="2398" spc="210">
                <a:latin typeface="IBM Plex Sans" panose="020B0503050203000203" pitchFamily="34" charset="0"/>
                <a:cs typeface="Trebuchet MS"/>
              </a:rPr>
              <a:t>Acoustic Campaign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87D9B-FAB7-BFB9-F275-759722CF1F46}"/>
              </a:ext>
            </a:extLst>
          </p:cNvPr>
          <p:cNvSpPr/>
          <p:nvPr/>
        </p:nvSpPr>
        <p:spPr>
          <a:xfrm>
            <a:off x="423224" y="7317706"/>
            <a:ext cx="4543164" cy="53207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>
              <a:spcBef>
                <a:spcPts val="1099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Monitorações</a:t>
            </a:r>
            <a:r>
              <a:rPr lang="en-US" sz="2398" dirty="0">
                <a:latin typeface="IBM Plex Sans" panose="020B0503050203000203" pitchFamily="34" charset="0"/>
              </a:rPr>
              <a:t> &amp; </a:t>
            </a:r>
            <a:r>
              <a:rPr lang="en-US" sz="2398" dirty="0" err="1">
                <a:latin typeface="IBM Plex Sans" panose="020B0503050203000203" pitchFamily="34" charset="0"/>
              </a:rPr>
              <a:t>Notificações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CM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SMS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Gateway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Facebook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IMAP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POP3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SMTP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SNMP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Splunk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Splunk HEC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Telegram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Twilio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Twitter</a:t>
            </a:r>
          </a:p>
        </p:txBody>
      </p:sp>
    </p:spTree>
    <p:extLst>
      <p:ext uri="{BB962C8B-B14F-4D97-AF65-F5344CB8AC3E}">
        <p14:creationId xmlns:p14="http://schemas.microsoft.com/office/powerpoint/2010/main" val="3078172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6CE2-6029-4312-AC66-4211BAF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9"/>
            <a:ext cx="21156706" cy="1151604"/>
          </a:xfrm>
        </p:spPr>
        <p:txBody>
          <a:bodyPr>
            <a:normAutofit/>
          </a:bodyPr>
          <a:lstStyle/>
          <a:p>
            <a:r>
              <a:rPr lang="pt-BR" sz="6000" dirty="0"/>
              <a:t>Conectores inteligentes nativos do IBM App Connect e Comunidade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AA571-F61D-AADE-D793-E991E7733E88}"/>
              </a:ext>
            </a:extLst>
          </p:cNvPr>
          <p:cNvSpPr/>
          <p:nvPr/>
        </p:nvSpPr>
        <p:spPr>
          <a:xfrm>
            <a:off x="318342" y="1488165"/>
            <a:ext cx="24074818" cy="1217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0904C923-74FC-A92F-14D6-4E904C029FF5}"/>
              </a:ext>
            </a:extLst>
          </p:cNvPr>
          <p:cNvSpPr/>
          <p:nvPr/>
        </p:nvSpPr>
        <p:spPr>
          <a:xfrm>
            <a:off x="5109113" y="1618006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5" h="2133600">
                <a:moveTo>
                  <a:pt x="2146719" y="0"/>
                </a:moveTo>
                <a:lnTo>
                  <a:pt x="0" y="0"/>
                </a:lnTo>
                <a:lnTo>
                  <a:pt x="0" y="2133460"/>
                </a:lnTo>
                <a:lnTo>
                  <a:pt x="2146719" y="213346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B8BEFD54-BD1A-47A4-92F7-E262B9FE6210}"/>
              </a:ext>
            </a:extLst>
          </p:cNvPr>
          <p:cNvSpPr/>
          <p:nvPr/>
        </p:nvSpPr>
        <p:spPr>
          <a:xfrm>
            <a:off x="15025186" y="5959112"/>
            <a:ext cx="4289899" cy="4263253"/>
          </a:xfrm>
          <a:custGeom>
            <a:avLst/>
            <a:gdLst/>
            <a:ahLst/>
            <a:cxnLst/>
            <a:rect l="l" t="t" r="r" b="b"/>
            <a:pathLst>
              <a:path w="2146934" h="2133600">
                <a:moveTo>
                  <a:pt x="2146706" y="0"/>
                </a:moveTo>
                <a:lnTo>
                  <a:pt x="0" y="0"/>
                </a:lnTo>
                <a:lnTo>
                  <a:pt x="0" y="2133460"/>
                </a:lnTo>
                <a:lnTo>
                  <a:pt x="2146706" y="2133460"/>
                </a:lnTo>
                <a:lnTo>
                  <a:pt x="2146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4" name="object 18">
            <a:extLst>
              <a:ext uri="{FF2B5EF4-FFF2-40B4-BE49-F238E27FC236}">
                <a16:creationId xmlns:a16="http://schemas.microsoft.com/office/drawing/2014/main" id="{F20A9AC6-3071-1A80-77EF-87A7527446BD}"/>
              </a:ext>
            </a:extLst>
          </p:cNvPr>
          <p:cNvSpPr/>
          <p:nvPr/>
        </p:nvSpPr>
        <p:spPr>
          <a:xfrm>
            <a:off x="10047280" y="1608819"/>
            <a:ext cx="4289899" cy="6262921"/>
          </a:xfrm>
          <a:custGeom>
            <a:avLst/>
            <a:gdLst/>
            <a:ahLst/>
            <a:cxnLst/>
            <a:rect l="l" t="t" r="r" b="b"/>
            <a:pathLst>
              <a:path w="2146934" h="3134360">
                <a:moveTo>
                  <a:pt x="2146719" y="0"/>
                </a:moveTo>
                <a:lnTo>
                  <a:pt x="0" y="0"/>
                </a:lnTo>
                <a:lnTo>
                  <a:pt x="0" y="3133940"/>
                </a:lnTo>
                <a:lnTo>
                  <a:pt x="2146719" y="3133940"/>
                </a:lnTo>
                <a:lnTo>
                  <a:pt x="2146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5" name="object 27">
            <a:extLst>
              <a:ext uri="{FF2B5EF4-FFF2-40B4-BE49-F238E27FC236}">
                <a16:creationId xmlns:a16="http://schemas.microsoft.com/office/drawing/2014/main" id="{5BD588A4-955B-318F-17E9-90AABF5C7E88}"/>
              </a:ext>
            </a:extLst>
          </p:cNvPr>
          <p:cNvSpPr/>
          <p:nvPr/>
        </p:nvSpPr>
        <p:spPr>
          <a:xfrm>
            <a:off x="19633788" y="2821639"/>
            <a:ext cx="4452308" cy="5051194"/>
          </a:xfrm>
          <a:custGeom>
            <a:avLst/>
            <a:gdLst/>
            <a:ahLst/>
            <a:cxnLst/>
            <a:rect l="l" t="t" r="r" b="b"/>
            <a:pathLst>
              <a:path w="2228215" h="2527935">
                <a:moveTo>
                  <a:pt x="2227719" y="0"/>
                </a:moveTo>
                <a:lnTo>
                  <a:pt x="0" y="0"/>
                </a:lnTo>
                <a:lnTo>
                  <a:pt x="0" y="2527604"/>
                </a:lnTo>
                <a:lnTo>
                  <a:pt x="2227719" y="2527604"/>
                </a:lnTo>
                <a:lnTo>
                  <a:pt x="22277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FC2278-8860-42AE-2AEB-F540D5762FCD}"/>
              </a:ext>
            </a:extLst>
          </p:cNvPr>
          <p:cNvSpPr/>
          <p:nvPr/>
        </p:nvSpPr>
        <p:spPr>
          <a:xfrm>
            <a:off x="415364" y="1590914"/>
            <a:ext cx="4543164" cy="68380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Serviços Kubernetes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</a:t>
            </a:r>
            <a:r>
              <a:rPr lang="en-US" sz="2398" dirty="0" err="1">
                <a:latin typeface="IBM Plex Sans" panose="020B0503050203000203" pitchFamily="34" charset="0"/>
              </a:rPr>
              <a:t>ConfigMap</a:t>
            </a:r>
            <a:r>
              <a:rPr lang="en-US" sz="2398" dirty="0">
                <a:latin typeface="IBM Plex Sans" panose="020B0503050203000203" pitchFamily="34" charset="0"/>
              </a:rPr>
              <a:t>  Kubernetes Custom  Resources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Deployments  Kubernetes HPA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Job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Namespaces  Kubernetes Nodes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Persistent  Volume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Persistent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Volume Claim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Pods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Replication  Controller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Resources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Quota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Secrets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Kubernetes Service  Account</a:t>
            </a:r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24D033-D9ED-D6E1-5EF0-A592C8F18DE8}"/>
              </a:ext>
            </a:extLst>
          </p:cNvPr>
          <p:cNvSpPr/>
          <p:nvPr/>
        </p:nvSpPr>
        <p:spPr>
          <a:xfrm>
            <a:off x="409283" y="8757294"/>
            <a:ext cx="4543164" cy="27593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 err="1">
                <a:latin typeface="IBM Plex Sans" panose="020B0503050203000203" pitchFamily="34" charset="0"/>
              </a:rPr>
              <a:t>Serviços</a:t>
            </a:r>
            <a:r>
              <a:rPr lang="en-US" sz="2398" dirty="0">
                <a:latin typeface="IBM Plex Sans" panose="020B0503050203000203" pitchFamily="34" charset="0"/>
              </a:rPr>
              <a:t> OpenStack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Cinder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Glance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Keystone  OpenStack Neutron  OpenStack Nova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OpenStack Swift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DA178A-19D1-5B0E-5C7D-26184E8AB2B4}"/>
              </a:ext>
            </a:extLst>
          </p:cNvPr>
          <p:cNvSpPr/>
          <p:nvPr/>
        </p:nvSpPr>
        <p:spPr>
          <a:xfrm>
            <a:off x="5182267" y="1590915"/>
            <a:ext cx="4543164" cy="62808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303250">
              <a:spcBef>
                <a:spcPts val="1250"/>
              </a:spcBef>
            </a:pPr>
            <a:r>
              <a:rPr lang="en-US" sz="2198" spc="-140" dirty="0" err="1">
                <a:latin typeface="Verdana"/>
                <a:cs typeface="Verdana"/>
              </a:rPr>
              <a:t>Serviços</a:t>
            </a:r>
            <a:r>
              <a:rPr lang="en-US" sz="2198" spc="-140" dirty="0">
                <a:latin typeface="Verdana"/>
                <a:cs typeface="Verdana"/>
              </a:rPr>
              <a:t> de Cloud </a:t>
            </a:r>
            <a:r>
              <a:rPr lang="en-US" sz="2198" spc="-140" dirty="0" err="1">
                <a:latin typeface="Verdana"/>
                <a:cs typeface="Verdana"/>
              </a:rPr>
              <a:t>Pública</a:t>
            </a:r>
            <a:r>
              <a:rPr lang="en-US" sz="2198" spc="-140" dirty="0">
                <a:latin typeface="Verdana"/>
                <a:cs typeface="Verdana"/>
              </a:rPr>
              <a:t> AWS</a:t>
            </a:r>
            <a:endParaRPr lang="en-US" sz="2198" dirty="0">
              <a:latin typeface="Verdana"/>
              <a:cs typeface="Verdana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Athena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CloudWatch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DynamoDB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EC2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ECS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EKS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Event Bridge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Identity Access Management  Key Management Service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Kinesis  Lambda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S3 Storage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Security Token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Email Service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Notification Service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Simple Queue Service  Translate</a:t>
            </a: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F9614D0B-B71F-EC93-523C-5C85241D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506" y="3121068"/>
            <a:ext cx="919644" cy="89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object 52">
            <a:extLst>
              <a:ext uri="{FF2B5EF4-FFF2-40B4-BE49-F238E27FC236}">
                <a16:creationId xmlns:a16="http://schemas.microsoft.com/office/drawing/2014/main" id="{3F914029-84E2-50B1-EF45-5FB07F94FC58}"/>
              </a:ext>
            </a:extLst>
          </p:cNvPr>
          <p:cNvSpPr/>
          <p:nvPr/>
        </p:nvSpPr>
        <p:spPr>
          <a:xfrm>
            <a:off x="8554600" y="2314279"/>
            <a:ext cx="949028" cy="567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1" name="object 38">
            <a:extLst>
              <a:ext uri="{FF2B5EF4-FFF2-40B4-BE49-F238E27FC236}">
                <a16:creationId xmlns:a16="http://schemas.microsoft.com/office/drawing/2014/main" id="{87959722-4734-8EA4-B238-2B39769C1568}"/>
              </a:ext>
            </a:extLst>
          </p:cNvPr>
          <p:cNvSpPr/>
          <p:nvPr/>
        </p:nvSpPr>
        <p:spPr>
          <a:xfrm>
            <a:off x="3495953" y="9272235"/>
            <a:ext cx="1456494" cy="761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398"/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A62F2F9A-ECB7-81D3-85E8-50125534837E}"/>
              </a:ext>
            </a:extLst>
          </p:cNvPr>
          <p:cNvSpPr/>
          <p:nvPr/>
        </p:nvSpPr>
        <p:spPr>
          <a:xfrm>
            <a:off x="8434093" y="9230082"/>
            <a:ext cx="1297247" cy="13033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3" name="object 48">
            <a:extLst>
              <a:ext uri="{FF2B5EF4-FFF2-40B4-BE49-F238E27FC236}">
                <a16:creationId xmlns:a16="http://schemas.microsoft.com/office/drawing/2014/main" id="{D2F2802D-345A-1441-C851-407938AB76F8}"/>
              </a:ext>
            </a:extLst>
          </p:cNvPr>
          <p:cNvSpPr/>
          <p:nvPr/>
        </p:nvSpPr>
        <p:spPr>
          <a:xfrm>
            <a:off x="8820148" y="8815709"/>
            <a:ext cx="777804" cy="4054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063A6C-5795-C4AB-09BE-7CDF411B3101}"/>
              </a:ext>
            </a:extLst>
          </p:cNvPr>
          <p:cNvSpPr/>
          <p:nvPr/>
        </p:nvSpPr>
        <p:spPr>
          <a:xfrm>
            <a:off x="5209170" y="8006446"/>
            <a:ext cx="4543164" cy="30676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Enterprise Resource Planning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SAP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Workday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NetSuite ERP  </a:t>
            </a:r>
          </a:p>
          <a:p>
            <a:pPr>
              <a:spcBef>
                <a:spcPts val="200"/>
              </a:spcBef>
            </a:pPr>
            <a:r>
              <a:rPr lang="en-US" sz="2398" dirty="0" err="1">
                <a:latin typeface="IBM Plex Sans" panose="020B0503050203000203" pitchFamily="34" charset="0"/>
              </a:rPr>
              <a:t>Coupa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Zuora</a:t>
            </a:r>
          </a:p>
        </p:txBody>
      </p:sp>
      <p:sp>
        <p:nvSpPr>
          <p:cNvPr id="55" name="object 60">
            <a:extLst>
              <a:ext uri="{FF2B5EF4-FFF2-40B4-BE49-F238E27FC236}">
                <a16:creationId xmlns:a16="http://schemas.microsoft.com/office/drawing/2014/main" id="{2AE54CA2-A371-F7A9-4CA3-D4BA0947D6AB}"/>
              </a:ext>
            </a:extLst>
          </p:cNvPr>
          <p:cNvSpPr/>
          <p:nvPr/>
        </p:nvSpPr>
        <p:spPr>
          <a:xfrm>
            <a:off x="3961087" y="11834070"/>
            <a:ext cx="919644" cy="9196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BB248BA-1E44-6A50-F64A-852DA8B8EB25}"/>
              </a:ext>
            </a:extLst>
          </p:cNvPr>
          <p:cNvSpPr/>
          <p:nvPr/>
        </p:nvSpPr>
        <p:spPr>
          <a:xfrm>
            <a:off x="409283" y="11661648"/>
            <a:ext cx="4543164" cy="11925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Cloud Storage</a:t>
            </a:r>
          </a:p>
          <a:p>
            <a:r>
              <a:rPr lang="en-US" sz="2398">
                <a:latin typeface="IBM Plex Sans" panose="020B0503050203000203" pitchFamily="34" charset="0"/>
              </a:rPr>
              <a:t>Amazon S3</a:t>
            </a:r>
          </a:p>
          <a:p>
            <a:r>
              <a:rPr lang="en-US" sz="2398">
                <a:latin typeface="IBM Plex Sans" panose="020B0503050203000203" pitchFamily="34" charset="0"/>
              </a:rPr>
              <a:t>IBM Cloud Object Store</a:t>
            </a:r>
          </a:p>
        </p:txBody>
      </p:sp>
      <p:sp>
        <p:nvSpPr>
          <p:cNvPr id="57" name="object 62">
            <a:extLst>
              <a:ext uri="{FF2B5EF4-FFF2-40B4-BE49-F238E27FC236}">
                <a16:creationId xmlns:a16="http://schemas.microsoft.com/office/drawing/2014/main" id="{7F5AA56A-9950-297C-B209-32DEAD40419F}"/>
              </a:ext>
            </a:extLst>
          </p:cNvPr>
          <p:cNvSpPr/>
          <p:nvPr/>
        </p:nvSpPr>
        <p:spPr>
          <a:xfrm>
            <a:off x="18358606" y="2211435"/>
            <a:ext cx="615126" cy="6151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8" name="object 63">
            <a:extLst>
              <a:ext uri="{FF2B5EF4-FFF2-40B4-BE49-F238E27FC236}">
                <a16:creationId xmlns:a16="http://schemas.microsoft.com/office/drawing/2014/main" id="{7AF63828-8362-CB48-E81D-2612CA16872F}"/>
              </a:ext>
            </a:extLst>
          </p:cNvPr>
          <p:cNvSpPr/>
          <p:nvPr/>
        </p:nvSpPr>
        <p:spPr>
          <a:xfrm>
            <a:off x="18154303" y="4749091"/>
            <a:ext cx="935301" cy="7700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FC24A9-F648-F3D0-0AF6-1CDE171CB93C}"/>
              </a:ext>
            </a:extLst>
          </p:cNvPr>
          <p:cNvSpPr/>
          <p:nvPr/>
        </p:nvSpPr>
        <p:spPr>
          <a:xfrm>
            <a:off x="14852691" y="1638041"/>
            <a:ext cx="4543164" cy="118099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Endpoints Tecnologias e Protocolos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HTTP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SOAP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MS Active Directory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Website Crawler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SFTP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Open API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IBM Maximo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Siemens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Teamcenter</a:t>
            </a:r>
          </a:p>
          <a:p>
            <a:r>
              <a:rPr lang="en-BR" sz="2398" dirty="0">
                <a:latin typeface="IBM Plex Sans" panose="020B0503050203000203" pitchFamily="34" charset="0"/>
              </a:rPr>
              <a:t>Generic JDBC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Atmos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Beanstalk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CMIS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CoaP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Docker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DNS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Elasticsearch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Etcd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Geocoder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Github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GraphQL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JT400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LDAP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Micrometer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Microprofile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Nagios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Netty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Paho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Pubnub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REST</a:t>
            </a:r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2E972B-9B6D-B97B-D55D-231F8A5C2EF8}"/>
              </a:ext>
            </a:extLst>
          </p:cNvPr>
          <p:cNvSpPr/>
          <p:nvPr/>
        </p:nvSpPr>
        <p:spPr>
          <a:xfrm>
            <a:off x="19713785" y="1618006"/>
            <a:ext cx="4543164" cy="55686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BR" sz="2398" dirty="0">
                <a:latin typeface="IBM Plex Sans" panose="020B0503050203000203" pitchFamily="34" charset="0"/>
              </a:rPr>
              <a:t>Endpoints Tecnologias e Protocolos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Swagger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SSH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Solr</a:t>
            </a:r>
            <a:endParaRPr lang="en-US" sz="2398" dirty="0">
              <a:latin typeface="IBM Plex Sans" panose="020B0503050203000203" pitchFamily="34" charset="0"/>
            </a:endParaRPr>
          </a:p>
          <a:p>
            <a:r>
              <a:rPr lang="en-US" sz="2398" dirty="0">
                <a:latin typeface="IBM Plex Sans" panose="020B0503050203000203" pitchFamily="34" charset="0"/>
              </a:rPr>
              <a:t>Stomp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Vert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Zookeeper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AS2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FHIR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MLLP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OPCUA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Spring  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Weather</a:t>
            </a:r>
          </a:p>
          <a:p>
            <a:r>
              <a:rPr lang="en-US" sz="2398" dirty="0">
                <a:latin typeface="IBM Plex Sans" panose="020B0503050203000203" pitchFamily="34" charset="0"/>
              </a:rPr>
              <a:t>XMPP</a:t>
            </a:r>
          </a:p>
          <a:p>
            <a:endParaRPr lang="en-US" sz="2398" dirty="0">
              <a:latin typeface="IBM Plex Sans" panose="020B0503050203000203" pitchFamily="34" charset="0"/>
            </a:endParaRPr>
          </a:p>
          <a:p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1" name="object 66">
            <a:extLst>
              <a:ext uri="{FF2B5EF4-FFF2-40B4-BE49-F238E27FC236}">
                <a16:creationId xmlns:a16="http://schemas.microsoft.com/office/drawing/2014/main" id="{3C7CAE93-EBAD-ABD2-24D9-8189792A12E0}"/>
              </a:ext>
            </a:extLst>
          </p:cNvPr>
          <p:cNvSpPr/>
          <p:nvPr/>
        </p:nvSpPr>
        <p:spPr>
          <a:xfrm>
            <a:off x="13030609" y="3414202"/>
            <a:ext cx="1297247" cy="12911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2" name="object 67">
            <a:extLst>
              <a:ext uri="{FF2B5EF4-FFF2-40B4-BE49-F238E27FC236}">
                <a16:creationId xmlns:a16="http://schemas.microsoft.com/office/drawing/2014/main" id="{472B7756-173B-6594-CD62-6103E0F679D9}"/>
              </a:ext>
            </a:extLst>
          </p:cNvPr>
          <p:cNvSpPr/>
          <p:nvPr/>
        </p:nvSpPr>
        <p:spPr>
          <a:xfrm>
            <a:off x="13129602" y="2458761"/>
            <a:ext cx="1246646" cy="4836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43E64C-4CAF-8D35-7D8F-B5E41038F8AB}"/>
              </a:ext>
            </a:extLst>
          </p:cNvPr>
          <p:cNvSpPr/>
          <p:nvPr/>
        </p:nvSpPr>
        <p:spPr>
          <a:xfrm>
            <a:off x="9970550" y="1602897"/>
            <a:ext cx="4543164" cy="33942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>
                <a:latin typeface="IBM Plex Sans" panose="020B0503050203000203" pitchFamily="34" charset="0"/>
              </a:rPr>
              <a:t>Gerenciamento de Capital Humano</a:t>
            </a:r>
          </a:p>
          <a:p>
            <a:r>
              <a:rPr lang="en-US" sz="2398">
                <a:latin typeface="IBM Plex Sans" panose="020B0503050203000203" pitchFamily="34" charset="0"/>
              </a:rPr>
              <a:t>Workday  </a:t>
            </a:r>
          </a:p>
          <a:p>
            <a:r>
              <a:rPr lang="en-US" sz="2398">
                <a:latin typeface="IBM Plex Sans" panose="020B0503050203000203" pitchFamily="34" charset="0"/>
              </a:rPr>
              <a:t>Kronos</a:t>
            </a:r>
          </a:p>
          <a:p>
            <a:r>
              <a:rPr lang="en-US" sz="2398">
                <a:latin typeface="IBM Plex Sans" panose="020B0503050203000203" pitchFamily="34" charset="0"/>
              </a:rPr>
              <a:t>NetSuite Suitepeople </a:t>
            </a:r>
          </a:p>
          <a:p>
            <a:r>
              <a:rPr lang="en-US" sz="2398">
                <a:latin typeface="IBM Plex Sans" panose="020B0503050203000203" pitchFamily="34" charset="0"/>
              </a:rPr>
              <a:t>HCM  Peoplesoft</a:t>
            </a:r>
          </a:p>
          <a:p>
            <a:r>
              <a:rPr lang="en-US" sz="2398">
                <a:latin typeface="IBM Plex Sans" panose="020B0503050203000203" pitchFamily="34" charset="0"/>
              </a:rPr>
              <a:t>IBM </a:t>
            </a:r>
          </a:p>
          <a:p>
            <a:r>
              <a:rPr lang="en-US" sz="2398">
                <a:latin typeface="IBM Plex Sans" panose="020B0503050203000203" pitchFamily="34" charset="0"/>
              </a:rPr>
              <a:t>Cloudant  </a:t>
            </a:r>
          </a:p>
          <a:p>
            <a:r>
              <a:rPr lang="en-US" sz="2398">
                <a:latin typeface="IBM Plex Sans" panose="020B0503050203000203" pitchFamily="34" charset="0"/>
              </a:rPr>
              <a:t>Oracle Taleo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48483F6-8BC5-6C81-FD97-5DF6D1566919}"/>
              </a:ext>
            </a:extLst>
          </p:cNvPr>
          <p:cNvSpPr/>
          <p:nvPr/>
        </p:nvSpPr>
        <p:spPr>
          <a:xfrm>
            <a:off x="9976072" y="5177109"/>
            <a:ext cx="4543164" cy="432174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algn="ctr"/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Atomic Number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List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Map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Multimap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Queue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Replicated Map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</a:t>
            </a:r>
            <a:r>
              <a:rPr lang="en-US" sz="2398" dirty="0" err="1">
                <a:latin typeface="IBM Plex Sans" panose="020B0503050203000203" pitchFamily="34" charset="0"/>
              </a:rPr>
              <a:t>Ringbuffer</a:t>
            </a:r>
            <a:r>
              <a:rPr lang="en-US" sz="2398" dirty="0">
                <a:latin typeface="IBM Plex Sans" panose="020B0503050203000203" pitchFamily="34" charset="0"/>
              </a:rPr>
              <a:t>  </a:t>
            </a:r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SEDA  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Set</a:t>
            </a:r>
          </a:p>
          <a:p>
            <a:r>
              <a:rPr lang="en-US" sz="2398" dirty="0" err="1">
                <a:latin typeface="IBM Plex Sans" panose="020B0503050203000203" pitchFamily="34" charset="0"/>
              </a:rPr>
              <a:t>Hazelcast</a:t>
            </a:r>
            <a:r>
              <a:rPr lang="en-US" sz="2398" dirty="0">
                <a:latin typeface="IBM Plex Sans" panose="020B0503050203000203" pitchFamily="34" charset="0"/>
              </a:rPr>
              <a:t> Topic</a:t>
            </a:r>
          </a:p>
          <a:p>
            <a:endParaRPr lang="en-BR" sz="2398" dirty="0">
              <a:latin typeface="IBM Plex Sans" panose="020B0503050203000203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416F61-65B4-65F6-6B39-2D14FDAEBCA0}"/>
              </a:ext>
            </a:extLst>
          </p:cNvPr>
          <p:cNvSpPr/>
          <p:nvPr/>
        </p:nvSpPr>
        <p:spPr>
          <a:xfrm>
            <a:off x="9965304" y="9689102"/>
            <a:ext cx="4543164" cy="339427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Serviços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Cloud Google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BigQuery</a:t>
            </a:r>
            <a:endParaRPr lang="en-US" sz="2398" dirty="0">
              <a:latin typeface="IBM Plex Sans" panose="020B0503050203000203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BigQuery</a:t>
            </a:r>
            <a:r>
              <a:rPr lang="en-US" sz="2398" dirty="0">
                <a:latin typeface="IBM Plex Sans" panose="020B0503050203000203" pitchFamily="34" charset="0"/>
              </a:rPr>
              <a:t> Standard  SQL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Calendar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Drive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Mail  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Google </a:t>
            </a:r>
            <a:r>
              <a:rPr lang="en-US" sz="2398" dirty="0" err="1">
                <a:latin typeface="IBM Plex Sans" panose="020B0503050203000203" pitchFamily="34" charset="0"/>
              </a:rPr>
              <a:t>Pubsub</a:t>
            </a:r>
            <a:r>
              <a:rPr lang="en-US" sz="2398" dirty="0">
                <a:latin typeface="IBM Plex Sans" panose="020B0503050203000203" pitchFamily="34" charset="0"/>
              </a:rPr>
              <a:t>  Google Sheets</a:t>
            </a:r>
          </a:p>
        </p:txBody>
      </p:sp>
      <p:sp>
        <p:nvSpPr>
          <p:cNvPr id="66" name="object 31">
            <a:extLst>
              <a:ext uri="{FF2B5EF4-FFF2-40B4-BE49-F238E27FC236}">
                <a16:creationId xmlns:a16="http://schemas.microsoft.com/office/drawing/2014/main" id="{BA58485B-DAF9-CF4A-C490-3B827F422301}"/>
              </a:ext>
            </a:extLst>
          </p:cNvPr>
          <p:cNvSpPr/>
          <p:nvPr/>
        </p:nvSpPr>
        <p:spPr>
          <a:xfrm>
            <a:off x="12865358" y="11377280"/>
            <a:ext cx="1462498" cy="5687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3D9F9E-ED78-C532-949A-8F05A9BE9936}"/>
              </a:ext>
            </a:extLst>
          </p:cNvPr>
          <p:cNvSpPr/>
          <p:nvPr/>
        </p:nvSpPr>
        <p:spPr>
          <a:xfrm>
            <a:off x="19713785" y="7465759"/>
            <a:ext cx="4543164" cy="22233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t">
            <a:noAutofit/>
          </a:bodyPr>
          <a:lstStyle/>
          <a:p>
            <a:pPr marL="411099">
              <a:spcBef>
                <a:spcPts val="200"/>
              </a:spcBef>
            </a:pP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Serviços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Cloud </a:t>
            </a:r>
            <a:r>
              <a:rPr lang="en-US" sz="2398" spc="210" dirty="0" err="1">
                <a:latin typeface="IBM Plex Sans" panose="020B0503050203000203" pitchFamily="34" charset="0"/>
                <a:cs typeface="Trebuchet MS"/>
              </a:rPr>
              <a:t>Pública</a:t>
            </a:r>
            <a:r>
              <a:rPr lang="en-US" sz="2398" spc="210" dirty="0">
                <a:latin typeface="IBM Plex Sans" panose="020B0503050203000203" pitchFamily="34" charset="0"/>
                <a:cs typeface="Trebuchet MS"/>
              </a:rPr>
              <a:t> Azure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Event Hubs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Storage Blob Service</a:t>
            </a:r>
          </a:p>
          <a:p>
            <a:pPr>
              <a:spcBef>
                <a:spcPts val="200"/>
              </a:spcBef>
            </a:pPr>
            <a:r>
              <a:rPr lang="en-US" sz="2398" dirty="0">
                <a:latin typeface="IBM Plex Sans" panose="020B0503050203000203" pitchFamily="34" charset="0"/>
              </a:rPr>
              <a:t>Azure Storage Queue Service</a:t>
            </a:r>
          </a:p>
        </p:txBody>
      </p:sp>
      <p:sp>
        <p:nvSpPr>
          <p:cNvPr id="68" name="object 50">
            <a:extLst>
              <a:ext uri="{FF2B5EF4-FFF2-40B4-BE49-F238E27FC236}">
                <a16:creationId xmlns:a16="http://schemas.microsoft.com/office/drawing/2014/main" id="{3B459D5E-471A-1548-947F-509D3DD11ABA}"/>
              </a:ext>
            </a:extLst>
          </p:cNvPr>
          <p:cNvSpPr/>
          <p:nvPr/>
        </p:nvSpPr>
        <p:spPr>
          <a:xfrm>
            <a:off x="22407649" y="8006446"/>
            <a:ext cx="1678446" cy="839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8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1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19FE19B-F778-E752-21BA-CF9C594A6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03" y="1811431"/>
            <a:ext cx="18703328" cy="1224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0D86769-B5B9-F368-4A64-6E52FD89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8180" y="4572000"/>
            <a:ext cx="10535903" cy="883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434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F68F-2140-9DDB-2AB0-F2B78F48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Designer </a:t>
            </a:r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C6EE1CD-31B5-5BD0-4C13-4AA71A799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99" y="1811431"/>
            <a:ext cx="18478777" cy="1263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555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  <a:t>Integração de aplicações</a:t>
            </a:r>
            <a:b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6600" dirty="0">
                <a:latin typeface="Arial" panose="020B0604020202020204" pitchFamily="34" charset="0"/>
                <a:cs typeface="Arial" panose="020B0604020202020204" pitchFamily="34" charset="0"/>
              </a:rPr>
              <a:t>Integre aplicativos, crie APIs e atue em eventos</a:t>
            </a:r>
            <a:endParaRPr lang="en-US" sz="6600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CEC0B87-0EE5-5D7C-FC49-822A62F86468}"/>
              </a:ext>
            </a:extLst>
          </p:cNvPr>
          <p:cNvSpPr txBox="1">
            <a:spLocks/>
          </p:cNvSpPr>
          <p:nvPr/>
        </p:nvSpPr>
        <p:spPr>
          <a:xfrm>
            <a:off x="631022" y="3249014"/>
            <a:ext cx="9929824" cy="9194697"/>
          </a:xfrm>
          <a:prstGeom prst="rect">
            <a:avLst/>
          </a:prstGeom>
        </p:spPr>
        <p:txBody>
          <a:bodyPr/>
          <a:lstStyle>
            <a:lvl1pPr marL="439571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1pPr>
            <a:lvl2pPr marL="915773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2pPr>
            <a:lvl3pPr marL="1391975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3pPr>
            <a:lvl4pPr marL="1868178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4pPr>
            <a:lvl5pPr marL="2344380" marR="0" indent="-439571" algn="l" defTabSz="619063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.AppleSystemUIFont" charset="-120"/>
              <a:buChar char="-"/>
              <a:tabLst/>
              <a:defRPr sz="21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IBM Plex Sans" charset="0"/>
                <a:cs typeface="IBM Plex Sans" charset="0"/>
                <a:sym typeface="HelvNeue Roman for IBM"/>
              </a:defRPr>
            </a:lvl5pPr>
            <a:lvl6pPr marL="2820583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6pPr>
            <a:lvl7pPr marL="3296785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7pPr>
            <a:lvl8pPr marL="3772988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8pPr>
            <a:lvl9pPr marL="4249190" marR="0" indent="-439571" algn="l" defTabSz="619063" latinLnBrk="0">
              <a:lnSpc>
                <a:spcPct val="100000"/>
              </a:lnSpc>
              <a:spcBef>
                <a:spcPts val="3899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1">
                    <a:hueOff val="-42353"/>
                    <a:satOff val="-12282"/>
                    <a:lumOff val="-14509"/>
                  </a:schemeClr>
                </a:solidFill>
                <a:uFillTx/>
                <a:latin typeface="+mn-lt"/>
                <a:ea typeface="+mn-ea"/>
                <a:cs typeface="+mn-cs"/>
                <a:sym typeface="HelvNeue Roman for IBM"/>
              </a:defRPr>
            </a:lvl9pPr>
          </a:lstStyle>
          <a:p>
            <a:r>
              <a:rPr lang="pt-BR" sz="3197" dirty="0">
                <a:latin typeface="IBM Plex Sans" panose="020B0503050203000203" pitchFamily="34" charset="0"/>
              </a:rPr>
              <a:t>O IBM </a:t>
            </a:r>
            <a:r>
              <a:rPr lang="pt-BR" sz="3197" dirty="0" err="1">
                <a:latin typeface="IBM Plex Sans" panose="020B0503050203000203" pitchFamily="34" charset="0"/>
              </a:rPr>
              <a:t>App</a:t>
            </a:r>
            <a:r>
              <a:rPr lang="pt-BR" sz="3197" dirty="0">
                <a:latin typeface="IBM Plex Sans" panose="020B0503050203000203" pitchFamily="34" charset="0"/>
              </a:rPr>
              <a:t> Connect conecta seus aplicativos, eventos, dados e </a:t>
            </a:r>
            <a:r>
              <a:rPr lang="pt-BR" sz="3197" dirty="0" err="1">
                <a:latin typeface="IBM Plex Sans" panose="020B0503050203000203" pitchFamily="34" charset="0"/>
              </a:rPr>
              <a:t>APIs</a:t>
            </a:r>
            <a:r>
              <a:rPr lang="pt-BR" sz="3197" dirty="0">
                <a:latin typeface="IBM Plex Sans" panose="020B0503050203000203" pitchFamily="34" charset="0"/>
              </a:rPr>
              <a:t> para automatizar rapidamente seu cenário de negócios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Conectar</a:t>
            </a:r>
            <a:r>
              <a:rPr lang="pt-BR" sz="3197" dirty="0">
                <a:latin typeface="IBM Plex Sans" panose="020B0503050203000203" pitchFamily="34" charset="0"/>
              </a:rPr>
              <a:t> - conecte-se com segurança a centenas de aplicativos com conectores inteligentes prontos para usar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Transformar</a:t>
            </a:r>
            <a:r>
              <a:rPr lang="pt-BR" sz="3197" dirty="0">
                <a:latin typeface="IBM Plex Sans" panose="020B0503050203000203" pitchFamily="34" charset="0"/>
              </a:rPr>
              <a:t> - aproveite a IA para ajudar a mapear campos e estruturar de maneira inteligente o formato de suas informações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Testar</a:t>
            </a:r>
            <a:r>
              <a:rPr lang="pt-BR" sz="3197" dirty="0">
                <a:latin typeface="IBM Plex Sans" panose="020B0503050203000203" pitchFamily="34" charset="0"/>
              </a:rPr>
              <a:t> - valide fluxos e garanta a qualidade com depuração visual e casos de teste gerados como parte de pipelines automatizados</a:t>
            </a:r>
          </a:p>
          <a:p>
            <a:pPr marL="456322" indent="-456322">
              <a:buFont typeface="Arial" panose="020B0604020202020204" pitchFamily="34" charset="0"/>
              <a:buChar char="•"/>
            </a:pPr>
            <a:r>
              <a:rPr lang="pt-BR" sz="3197" b="1" dirty="0">
                <a:latin typeface="IBM Plex Sans" panose="020B0503050203000203" pitchFamily="34" charset="0"/>
              </a:rPr>
              <a:t>Operar</a:t>
            </a:r>
            <a:r>
              <a:rPr lang="pt-BR" sz="3197" dirty="0">
                <a:latin typeface="IBM Plex Sans" panose="020B0503050203000203" pitchFamily="34" charset="0"/>
              </a:rPr>
              <a:t> - visibilidade de ponta a ponta das operações de fluxo de integração de qualquer implantação - gerenciado em nuvem, nuvem privada, ESB ou microsserviço</a:t>
            </a:r>
          </a:p>
        </p:txBody>
      </p:sp>
      <p:pic>
        <p:nvPicPr>
          <p:cNvPr id="7" name="Content Placeholder 12">
            <a:extLst>
              <a:ext uri="{FF2B5EF4-FFF2-40B4-BE49-F238E27FC236}">
                <a16:creationId xmlns:a16="http://schemas.microsoft.com/office/drawing/2014/main" id="{577491AD-2172-2E15-075D-7BB523401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831" y="4019048"/>
            <a:ext cx="13349365" cy="7993471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1677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Assistente de Mapeamento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DD061-ACB2-16D5-009A-F12ED6D4C2F3}"/>
              </a:ext>
            </a:extLst>
          </p:cNvPr>
          <p:cNvSpPr/>
          <p:nvPr/>
        </p:nvSpPr>
        <p:spPr>
          <a:xfrm>
            <a:off x="608683" y="2860605"/>
            <a:ext cx="10860705" cy="8948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Pronto para usar 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– o algoritmo AI / ML é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pré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-treinado para começar a trabalhar assim que você fizer e continua a melhorar as sugestões ao longo do tempo, à medida que adquire conhecimento comportamental de você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Abrangente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– o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Mapping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Assist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considera todos os aplicativos em um fluxo ao oferecer sugestões de mapeamento, e não apenas o nó anterior em um fluxo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AI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– o algoritmo do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Mapping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</a:t>
            </a:r>
            <a:r>
              <a:rPr lang="pt-BR" sz="3197" dirty="0" err="1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Assist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 pode fornecer sugestões não apenas para estruturas planas, mas também para objetos complexos aninhados, matrizes e objetos personalizados</a:t>
            </a:r>
          </a:p>
          <a:p>
            <a:pPr>
              <a:defRPr/>
            </a:pPr>
            <a:endParaRPr lang="pt-BR" sz="3197" dirty="0">
              <a:solidFill>
                <a:schemeClr val="bg1">
                  <a:lumMod val="25000"/>
                </a:schemeClr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pt-BR" sz="3197" b="1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Privado e seguro </a:t>
            </a:r>
            <a:r>
              <a:rPr lang="pt-BR" sz="3197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– O modelo de IA é implementado onde suas integrações são executadas, a IBM nunca visualizará ou solicitará o compartilhamento de nenhum de seus dados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B2F9C-5A6F-C999-C730-627324FB6956}"/>
              </a:ext>
            </a:extLst>
          </p:cNvPr>
          <p:cNvSpPr/>
          <p:nvPr/>
        </p:nvSpPr>
        <p:spPr>
          <a:xfrm>
            <a:off x="670617" y="1779794"/>
            <a:ext cx="23104701" cy="66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730" dirty="0">
                <a:solidFill>
                  <a:schemeClr val="bg1">
                    <a:lumMod val="25000"/>
                  </a:schemeClr>
                </a:solidFill>
                <a:latin typeface="IBM Plex Sans" panose="020B0503050203000203" pitchFamily="34" charset="0"/>
              </a:rPr>
              <a:t>Aumente muito a produtividade de sua equipe com IA que simplifica o processo de integração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8FB244-1C7B-9703-955E-DFB1B130BA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83408" y="3570583"/>
            <a:ext cx="10927120" cy="5767397"/>
          </a:xfrm>
          <a:prstGeom prst="rect">
            <a:avLst/>
          </a:prstGeom>
          <a:effectLst>
            <a:outerShdw blurRad="7747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428D685B-3856-F55D-2429-06A1CCAD465A}"/>
              </a:ext>
            </a:extLst>
          </p:cNvPr>
          <p:cNvSpPr/>
          <p:nvPr/>
        </p:nvSpPr>
        <p:spPr bwMode="auto">
          <a:xfrm>
            <a:off x="13271195" y="6604029"/>
            <a:ext cx="3234175" cy="2995052"/>
          </a:xfrm>
          <a:prstGeom prst="wedgeRectCallout">
            <a:avLst>
              <a:gd name="adj1" fmla="val -21248"/>
              <a:gd name="adj2" fmla="val -109442"/>
            </a:avLst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711" tIns="182711" rIns="182711" bIns="182711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3197" dirty="0">
                <a:latin typeface="IBM Plex Sans Light" panose="020B0403050203000203" pitchFamily="34" charset="0"/>
              </a:rPr>
              <a:t>Dado que sabemos que o usuário está obtendo dados do MS Dynamics ...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5750A00E-C34D-5971-9659-B0992E7E8EF0}"/>
              </a:ext>
            </a:extLst>
          </p:cNvPr>
          <p:cNvSpPr/>
          <p:nvPr/>
        </p:nvSpPr>
        <p:spPr bwMode="auto">
          <a:xfrm>
            <a:off x="18955139" y="9078824"/>
            <a:ext cx="4022378" cy="2995053"/>
          </a:xfrm>
          <a:prstGeom prst="wedgeRectCallout">
            <a:avLst>
              <a:gd name="adj1" fmla="val -21248"/>
              <a:gd name="adj2" fmla="val -109442"/>
            </a:avLst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711" tIns="182711" rIns="182711" bIns="182711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3197">
                <a:latin typeface="IBM Plex Sans Light" panose="020B0403050203000203" pitchFamily="34" charset="0"/>
              </a:rPr>
              <a:t>… Oferecemos sugestões de outros objetos no sistema de origem que ainda não estão na tela</a:t>
            </a:r>
          </a:p>
        </p:txBody>
      </p:sp>
    </p:spTree>
    <p:extLst>
      <p:ext uri="{BB962C8B-B14F-4D97-AF65-F5344CB8AC3E}">
        <p14:creationId xmlns:p14="http://schemas.microsoft.com/office/powerpoint/2010/main" val="3935900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Acessar e mover dados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FABE30-2EE8-2623-59EF-129E0EC86EEB}"/>
              </a:ext>
            </a:extLst>
          </p:cNvPr>
          <p:cNvSpPr/>
          <p:nvPr/>
        </p:nvSpPr>
        <p:spPr>
          <a:xfrm>
            <a:off x="11568753" y="2279597"/>
            <a:ext cx="11617387" cy="3816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sz="5398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23D4AC-EA27-67BA-6694-05EB3C9EB5AC}"/>
              </a:ext>
            </a:extLst>
          </p:cNvPr>
          <p:cNvSpPr/>
          <p:nvPr/>
        </p:nvSpPr>
        <p:spPr>
          <a:xfrm>
            <a:off x="11570530" y="6858007"/>
            <a:ext cx="11617387" cy="48920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sz="5398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2FF36B-2D32-156E-28D3-89CF343F6C84}"/>
              </a:ext>
            </a:extLst>
          </p:cNvPr>
          <p:cNvSpPr/>
          <p:nvPr/>
        </p:nvSpPr>
        <p:spPr>
          <a:xfrm>
            <a:off x="1196083" y="2303951"/>
            <a:ext cx="10372670" cy="9850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usuários podem implementar cópia de dados, sincronização de dados, migração de dados, enriquecimento de dados, padrões de integração de data </a:t>
            </a:r>
            <a:r>
              <a:rPr lang="pt-BR" sz="3730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lakes</a:t>
            </a:r>
            <a:endParaRPr lang="pt-BR" sz="3730" dirty="0">
              <a:latin typeface="IBM Plex Sans" panose="020B050305020300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conectores inteligentes são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otimizados para oferecer suporte a APIs em massa e em batch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dependendo de qual </a:t>
            </a:r>
            <a:r>
              <a:rPr lang="pt-BR" sz="3730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endpoint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oferece suporte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Oferece arquitetura nativa em nuvem,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 paralelo e alto volume 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escalonamento automático para oferecer suporte a desempenho de pico garantido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Suporta 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alta disponibilidade integrada, </a:t>
            </a:r>
            <a:r>
              <a:rPr lang="pt-BR" sz="3730" b="1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failover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cursores inteligentes</a:t>
            </a: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garantir a eficiência ideal da plataforma</a:t>
            </a:r>
          </a:p>
          <a:p>
            <a:pPr marL="456777" indent="-456777">
              <a:buFont typeface="Arial" panose="020B0604020202020204" pitchFamily="34" charset="0"/>
              <a:buChar char="•"/>
              <a:tabLst>
                <a:tab pos="609036" algn="l"/>
              </a:tabLst>
            </a:pPr>
            <a:r>
              <a:rPr lang="pt-BR" sz="3730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Comportamento de conector aprimorado para requisitos de </a:t>
            </a:r>
            <a:r>
              <a:rPr lang="pt-BR" sz="3730" b="1" dirty="0" err="1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crawling</a:t>
            </a:r>
            <a:r>
              <a:rPr lang="pt-BR" sz="3730" b="1" dirty="0">
                <a:latin typeface="IBM Plex Sans" panose="020B050305020300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522806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99FE-AD52-BBBE-7E25-C219459C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6600" dirty="0"/>
              <a:t>IBM ACE (App Connect Enterprise) </a:t>
            </a:r>
            <a:r>
              <a:rPr lang="pt-BR" sz="6600" dirty="0">
                <a:sym typeface="Wingdings" panose="05000000000000000000" pitchFamily="2" charset="2"/>
              </a:rPr>
              <a:t> IBM APIC (Api Connect)</a:t>
            </a:r>
            <a:endParaRPr lang="pt-BR" sz="6600" dirty="0"/>
          </a:p>
        </p:txBody>
      </p:sp>
      <p:pic>
        <p:nvPicPr>
          <p:cNvPr id="13314" name="Picture 2" descr="Explore the new features in App Connect Enterprise version 11.0.0.5 -  Integration">
            <a:extLst>
              <a:ext uri="{FF2B5EF4-FFF2-40B4-BE49-F238E27FC236}">
                <a16:creationId xmlns:a16="http://schemas.microsoft.com/office/drawing/2014/main" id="{F8A6E80D-85F1-AC91-EFC7-4C7221B1A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047" y="2014067"/>
            <a:ext cx="18879671" cy="1134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078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3317877" y="260835"/>
            <a:ext cx="13706474" cy="6943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hangingPunct="1">
              <a:lnSpc>
                <a:spcPct val="94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  <a:tab pos="12801600" algn="l"/>
                <a:tab pos="13716000" algn="l"/>
                <a:tab pos="14630400" algn="l"/>
                <a:tab pos="15544800" algn="l"/>
                <a:tab pos="16459200" algn="l"/>
                <a:tab pos="17373600" algn="l"/>
                <a:tab pos="18288000" algn="l"/>
              </a:tabLst>
            </a:pPr>
            <a:r>
              <a:rPr lang="en-GB" altLang="pt-BR" sz="4800">
                <a:solidFill>
                  <a:srgbClr val="006699"/>
                </a:solidFill>
                <a:ea typeface="MS PGothic" pitchFamily="34" charset="-128"/>
              </a:rPr>
              <a:t>Dúvidas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86800" y="3657600"/>
            <a:ext cx="5715000" cy="5715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C39A22-2CA9-10AC-2A7D-B169173C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68" y="11634494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CD65A4-E88A-2C96-824C-3BC7A01C3898}"/>
              </a:ext>
            </a:extLst>
          </p:cNvPr>
          <p:cNvSpPr txBox="1"/>
          <p:nvPr/>
        </p:nvSpPr>
        <p:spPr>
          <a:xfrm>
            <a:off x="2571711" y="11634494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tx1"/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5378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E7C1-1FA7-4E9C-92D3-5875882C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6" y="1743077"/>
            <a:ext cx="22153032" cy="996950"/>
          </a:xfrm>
        </p:spPr>
        <p:txBody>
          <a:bodyPr>
            <a:normAutofit fontScale="90000"/>
          </a:bodyPr>
          <a:lstStyle/>
          <a:p>
            <a:r>
              <a:rPr lang="pt-BR" dirty="0"/>
              <a:t>Referências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68E42-AF8F-4079-99E8-5CE8672B01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10637" y="3552827"/>
            <a:ext cx="22969316" cy="971493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11 e ACE 12</a:t>
            </a:r>
            <a:br>
              <a:rPr lang="pt-BR" sz="3600" dirty="0"/>
            </a:br>
            <a:r>
              <a:rPr lang="pt-BR" sz="3600" dirty="0">
                <a:hlinkClick r:id="rId2"/>
              </a:rPr>
              <a:t>https://www.ibm.com/support/knowledgecenter/en/SSTTDS_12.0.0/com.ibm.ace.home.doc/help_home.htm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3"/>
              </a:rPr>
              <a:t>https://www.ibm.com/docs/en/app-connect/12.0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Comandos</a:t>
            </a:r>
            <a:br>
              <a:rPr lang="pt-BR" sz="3600" dirty="0"/>
            </a:br>
            <a:r>
              <a:rPr lang="pt-BR" sz="3600" dirty="0">
                <a:hlinkClick r:id="rId4"/>
              </a:rPr>
              <a:t>https://www.ibm.com/support/knowledgecenter/en/SSTTDS_11.0.0/com.ibm.etools.mft.doc/an07060_.html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5"/>
              </a:rPr>
              <a:t>https://www.ibm.com/docs/en/app-connect/12.0?topic=administration-app-connect-enterprise-commands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Policies overview</a:t>
            </a:r>
            <a:br>
              <a:rPr lang="pt-BR" sz="3600" dirty="0"/>
            </a:br>
            <a:r>
              <a:rPr lang="pt-BR" sz="3600" dirty="0">
                <a:hlinkClick r:id="rId6"/>
              </a:rPr>
              <a:t>https://www.ibm.com/support/knowledgecenter/SSTTDS_11.0.0/com.ibm.etools.mft.doc/py00106_.html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dirty="0">
                <a:hlinkClick r:id="rId7"/>
              </a:rPr>
              <a:t>https://www.ibm.com/docs/en/app-connect/12.0?topic=policies-overview</a:t>
            </a:r>
            <a:r>
              <a:rPr lang="pt-BR" sz="36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FAQ, Tutorials, Performance Reports, etc</a:t>
            </a:r>
            <a:r>
              <a:rPr lang="pt-BR" sz="3600" dirty="0"/>
              <a:t>.</a:t>
            </a:r>
            <a:br>
              <a:rPr lang="pt-BR" sz="3600" dirty="0"/>
            </a:br>
            <a:r>
              <a:rPr lang="pt-BR" sz="3600" dirty="0">
                <a:hlinkClick r:id="rId8"/>
              </a:rPr>
              <a:t>https://developer.ibm.com/integration/docs/app-connect-enterprise/</a:t>
            </a:r>
            <a:endParaRPr lang="pt-BR" sz="36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600" b="1" dirty="0"/>
              <a:t>ACE – REST</a:t>
            </a:r>
            <a:br>
              <a:rPr lang="pt-BR" sz="3600" dirty="0"/>
            </a:br>
            <a:r>
              <a:rPr lang="pt-BR" sz="3600" dirty="0">
                <a:hlinkClick r:id="rId9"/>
              </a:rPr>
              <a:t>https://www.ibm.com/docs/en/app-connect/12.0?topic=mrbuara-updating-https-connector-resource-manager-by-using-administration-rest-api</a:t>
            </a:r>
            <a:r>
              <a:rPr lang="pt-BR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85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image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087" y="4973589"/>
            <a:ext cx="12513826" cy="37688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2863</Words>
  <Application>Microsoft Office PowerPoint</Application>
  <PresentationFormat>Custom</PresentationFormat>
  <Paragraphs>479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MS PGothic</vt:lpstr>
      <vt:lpstr>Arial</vt:lpstr>
      <vt:lpstr>Calibri</vt:lpstr>
      <vt:lpstr>Calibri Light</vt:lpstr>
      <vt:lpstr>Helvetica Light</vt:lpstr>
      <vt:lpstr>Helvetica Neue</vt:lpstr>
      <vt:lpstr>IBM Plex Sans</vt:lpstr>
      <vt:lpstr>IBM Plex Sans Light</vt:lpstr>
      <vt:lpstr>Times New Roman</vt:lpstr>
      <vt:lpstr>Verdana</vt:lpstr>
      <vt:lpstr>Wingdings</vt:lpstr>
      <vt:lpstr>Office Theme</vt:lpstr>
      <vt:lpstr>IBM ACE – App Connect Enterprise Avançado – Revisão</vt:lpstr>
      <vt:lpstr>    Agenda</vt:lpstr>
      <vt:lpstr>Revisão </vt:lpstr>
      <vt:lpstr>O que é o ACE?</vt:lpstr>
      <vt:lpstr>ACE Toolkit</vt:lpstr>
      <vt:lpstr>Principais componentes do ACE</vt:lpstr>
      <vt:lpstr>Principais tipos de Projetos</vt:lpstr>
      <vt:lpstr>Que tipos de recursos posso desenvolver no ACE?</vt:lpstr>
      <vt:lpstr>Fluxo de mensagens</vt:lpstr>
      <vt:lpstr>PowerPoint Presentation</vt:lpstr>
      <vt:lpstr>Modelos de Mensagens</vt:lpstr>
      <vt:lpstr>Árvore de mensagens</vt:lpstr>
      <vt:lpstr>Acessando a árvore de mensagens.</vt:lpstr>
      <vt:lpstr>Parsing de mensagens</vt:lpstr>
      <vt:lpstr>Exemplo de parsing</vt:lpstr>
      <vt:lpstr>Parser x Mensagens</vt:lpstr>
      <vt:lpstr>Modelo lógico de mensagens</vt:lpstr>
      <vt:lpstr>Recebendo uma mensagem</vt:lpstr>
      <vt:lpstr>Recebendo uma mensagem</vt:lpstr>
      <vt:lpstr>Recebendo uma mensagem BLOB (Binária)</vt:lpstr>
      <vt:lpstr>Recebendo uma mensagem JSON</vt:lpstr>
      <vt:lpstr>Recebendo uma mensagem XML</vt:lpstr>
      <vt:lpstr>Recebendo uma mensagem DFDL</vt:lpstr>
      <vt:lpstr>Modelo Lógico de Mensagem</vt:lpstr>
      <vt:lpstr>Nós (Nodes) do ACE</vt:lpstr>
      <vt:lpstr>Terminologia do node</vt:lpstr>
      <vt:lpstr>Transformação</vt:lpstr>
      <vt:lpstr>Mapping Node</vt:lpstr>
      <vt:lpstr>Mapping Node</vt:lpstr>
      <vt:lpstr>Mapping Node</vt:lpstr>
      <vt:lpstr>Mapping Node</vt:lpstr>
      <vt:lpstr>Mapping Node </vt:lpstr>
      <vt:lpstr>Mapping Node (JSON) </vt:lpstr>
      <vt:lpstr>ACE Designer </vt:lpstr>
      <vt:lpstr>Conectores inteligentes nativos do IBM App Connect e Comunidade</vt:lpstr>
      <vt:lpstr>Conectores inteligentes nativos do IBM App Connect e Comunidade</vt:lpstr>
      <vt:lpstr>ACE Designer </vt:lpstr>
      <vt:lpstr>ACE Designer </vt:lpstr>
      <vt:lpstr>Integração de aplicações Integre aplicativos, crie APIs e atue em eventos</vt:lpstr>
      <vt:lpstr>Assistente de Mapeamento</vt:lpstr>
      <vt:lpstr>Acessar e mover dados</vt:lpstr>
      <vt:lpstr>IBM ACE (App Connect Enterprise)  IBM APIC (Api Connect)</vt:lpstr>
      <vt:lpstr>PowerPoint Presentation</vt:lpstr>
      <vt:lpstr>Referências 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233</cp:revision>
  <dcterms:created xsi:type="dcterms:W3CDTF">2021-01-26T02:52:31Z</dcterms:created>
  <dcterms:modified xsi:type="dcterms:W3CDTF">2025-09-30T12:24:13Z</dcterms:modified>
</cp:coreProperties>
</file>